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4d45e804c94627" /><Relationship Type="http://schemas.openxmlformats.org/officeDocument/2006/relationships/extended-properties" Target="/docProps/app.xml" Id="R29c5250c7655470a" /><Relationship Type="http://schemas.openxmlformats.org/officeDocument/2006/relationships/officeDocument" Target="/ppt/presentation.xml" Id="R3b957d8f637e4c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cebbe0cb924177"/>
  </p:sldMasterIdLst>
  <p:notesMasterIdLst>
    <p:notesMasterId xmlns:r="http://schemas.openxmlformats.org/officeDocument/2006/relationships" r:id="R138cb2bf8d3c4db3"/>
  </p:notesMasterIdLst>
  <p:sldIdLst>
    <p:sldId xmlns:r="http://schemas.openxmlformats.org/officeDocument/2006/relationships" id="256" r:id="R955f24412695473c"/>
    <p:sldId xmlns:r="http://schemas.openxmlformats.org/officeDocument/2006/relationships" id="257" r:id="Rd14e7485c4104d4f"/>
    <p:sldId xmlns:r="http://schemas.openxmlformats.org/officeDocument/2006/relationships" id="258" r:id="R432cddd6ede84f0e"/>
    <p:sldId xmlns:r="http://schemas.openxmlformats.org/officeDocument/2006/relationships" id="259" r:id="Rad16ac6c30d14fbc"/>
    <p:sldId xmlns:r="http://schemas.openxmlformats.org/officeDocument/2006/relationships" id="260" r:id="R4e42239ee0594576"/>
    <p:sldId xmlns:r="http://schemas.openxmlformats.org/officeDocument/2006/relationships" id="261" r:id="R83ba81d333774a2b"/>
    <p:sldId xmlns:r="http://schemas.openxmlformats.org/officeDocument/2006/relationships" id="262" r:id="R302a23c3f2d14a89"/>
    <p:sldId xmlns:r="http://schemas.openxmlformats.org/officeDocument/2006/relationships" id="263" r:id="R49b6001f2ed84d73"/>
    <p:sldId xmlns:r="http://schemas.openxmlformats.org/officeDocument/2006/relationships" id="264" r:id="R44bd563dd2654834"/>
    <p:sldId xmlns:r="http://schemas.openxmlformats.org/officeDocument/2006/relationships" id="265" r:id="R9c44482b19984e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1b74c4b8404692" /><Relationship Type="http://schemas.openxmlformats.org/officeDocument/2006/relationships/slideMaster" Target="/ppt/slideMasters/slideMaster1.xml" Id="Rd1cebbe0cb924177" /><Relationship Type="http://schemas.openxmlformats.org/officeDocument/2006/relationships/notesMaster" Target="/ppt/notesMasters/notesMaster1.xml" Id="R138cb2bf8d3c4db3" /><Relationship Type="http://schemas.openxmlformats.org/officeDocument/2006/relationships/presProps" Target="/ppt/presProps.xml" Id="R529e0ecc0f094d2e" /><Relationship Type="http://schemas.openxmlformats.org/officeDocument/2006/relationships/tableStyles" Target="/ppt/tableStyles.xml" Id="R434f2b9bac5d4883" /><Relationship Type="http://schemas.openxmlformats.org/officeDocument/2006/relationships/slide" Target="/ppt/slides/slide1.xml" Id="R955f24412695473c" /><Relationship Type="http://schemas.openxmlformats.org/officeDocument/2006/relationships/slide" Target="/ppt/slides/slide2.xml" Id="Rd14e7485c4104d4f" /><Relationship Type="http://schemas.openxmlformats.org/officeDocument/2006/relationships/slide" Target="/ppt/slides/slide3.xml" Id="R432cddd6ede84f0e" /><Relationship Type="http://schemas.openxmlformats.org/officeDocument/2006/relationships/slide" Target="/ppt/slides/slide4.xml" Id="Rad16ac6c30d14fbc" /><Relationship Type="http://schemas.openxmlformats.org/officeDocument/2006/relationships/slide" Target="/ppt/slides/slide5.xml" Id="R4e42239ee0594576" /><Relationship Type="http://schemas.openxmlformats.org/officeDocument/2006/relationships/slide" Target="/ppt/slides/slide6.xml" Id="R83ba81d333774a2b" /><Relationship Type="http://schemas.openxmlformats.org/officeDocument/2006/relationships/slide" Target="/ppt/slides/slide7.xml" Id="R302a23c3f2d14a89" /><Relationship Type="http://schemas.openxmlformats.org/officeDocument/2006/relationships/slide" Target="/ppt/slides/slide8.xml" Id="R49b6001f2ed84d73" /><Relationship Type="http://schemas.openxmlformats.org/officeDocument/2006/relationships/slide" Target="/ppt/slides/slide9.xml" Id="R44bd563dd2654834" /><Relationship Type="http://schemas.openxmlformats.org/officeDocument/2006/relationships/slide" Target="/ppt/slides/slide10.xml" Id="R9c44482b19984e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2c239a823844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0fbc76596746b0" /><Relationship Type="http://schemas.openxmlformats.org/officeDocument/2006/relationships/notesMaster" Target="/ppt/notesMasters/notesMaster1.xml" Id="Reac4f7f5503b41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30f8741a5843c8" /><Relationship Type="http://schemas.openxmlformats.org/officeDocument/2006/relationships/notesMaster" Target="/ppt/notesMasters/notesMaster1.xml" Id="Re0041d81b6af46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0bed1ca0e8437d" /><Relationship Type="http://schemas.openxmlformats.org/officeDocument/2006/relationships/notesMaster" Target="/ppt/notesMasters/notesMaster1.xml" Id="R780783bc8aca41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bd8ca926cd462e" /><Relationship Type="http://schemas.openxmlformats.org/officeDocument/2006/relationships/notesMaster" Target="/ppt/notesMasters/notesMaster1.xml" Id="R0a7957fa5d6947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4cb3e18b4d416b" /><Relationship Type="http://schemas.openxmlformats.org/officeDocument/2006/relationships/notesMaster" Target="/ppt/notesMasters/notesMaster1.xml" Id="R9d4c72a6655d4a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6e7a4463c44b7c" /><Relationship Type="http://schemas.openxmlformats.org/officeDocument/2006/relationships/notesMaster" Target="/ppt/notesMasters/notesMaster1.xml" Id="Rd5756e1ca89c4c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07c1e8833642f0" /><Relationship Type="http://schemas.openxmlformats.org/officeDocument/2006/relationships/notesMaster" Target="/ppt/notesMasters/notesMaster1.xml" Id="R139c1aca26a7415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653d2d50c64ae6" /><Relationship Type="http://schemas.openxmlformats.org/officeDocument/2006/relationships/notesMaster" Target="/ppt/notesMasters/notesMaster1.xml" Id="R480ccfa7fec943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4237c42f294f8d" /><Relationship Type="http://schemas.openxmlformats.org/officeDocument/2006/relationships/notesMaster" Target="/ppt/notesMasters/notesMaster1.xml" Id="Rc0d4d93b873f476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9b6f1754480450c" /><Relationship Type="http://schemas.openxmlformats.org/officeDocument/2006/relationships/notesMaster" Target="/ppt/notesMasters/notesMaster1.xml" Id="Re5c5f4e6173f49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Custom-model lesson cover.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https://teachablemachine.withgoogle.com/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student-supplied screenshot to point to the Standard image model choice.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screenshot: drone_photos/image.png</a:t>
            </a:r>
          </a:p>
          <a:p xmlns:a="http://schemas.openxmlformats.org/drawingml/2006/main">
            <a:r>
              <a:t>- https://teachablemachine.withgoogle.com/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a negative/other label changes the set of available outputs. It does not make the model omniscient; it gives the model an explicit bucket for training examples that should not trigger mission actions.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https://codelabs.developers.google.com/tensorflowjs-transfer-learning-teachable-machine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diagram shows transfer learning: a pretrained feature extractor is reused and a custom classification head learns the student labels. The output is a probability distribution across known classes.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https://codelabs.developers.google.com/tensorflowjs-transfer-learning-teachable-machine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screenshot to point out the class panels, Train Model control, and Preview output. Hold out validation examples; a high training score alone is not evidence of field reliability.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screenshot: drone_photos/image copy.png</a:t>
            </a:r>
          </a:p>
          <a:p xmlns:a="http://schemas.openxmlformats.org/drawingml/2006/main">
            <a:r>
              <a:t>- https://teachablemachine.withgoogle.com/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Export model.json, weights.bin, and metadata.json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https://github.com/googlecreativelab/teachablemachine-community/tree/master/libraries/image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Load the exported TensorFlow.js files into Hopper Studio.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implementation: local_site/lib/vision.ts and components/HopperStudio.tsx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custom class in blocks or JavaScript.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implementation: local_site/lib/blockly.ts and lib/vision.ts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Treat failures as new training data and retrain.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https://codelabs.developers.google.com/tensorflowjs-transfer-learning-teachable-machine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an acceptance-test mindset. The model should be evaluated on unseen, mission-realistic imagery, including the ‘other’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https://codelabs.developers.google.com/tensorflowjs-transfer-learning-teachable-machine</a:t>
            </a:r>
          </a:p>
          <a:p xmlns:a="http://schemas.openxmlformats.org/drawingml/2006/main">
            <a:r>
              <a:t>- https://teachablemachine.withgoogle.com/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b98390aa08473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ed294f070b41dc" /><Relationship Type="http://schemas.openxmlformats.org/officeDocument/2006/relationships/slideLayout" Target="/ppt/slideLayouts/slideLayout1.xml" Id="R5c569d1e668648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569d1e668648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d33f20ba44995" /><Relationship Type="http://schemas.openxmlformats.org/officeDocument/2006/relationships/image" Target="/ppt/media/image.png" Id="R2f33f8cc64fb4fea" /><Relationship Type="http://schemas.openxmlformats.org/officeDocument/2006/relationships/notesSlide" Target="/ppt/notesSlides/notesSlide1.xml" Id="R460d818c52c149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27ea5110314e59" /><Relationship Type="http://schemas.openxmlformats.org/officeDocument/2006/relationships/image" Target="/ppt/media/image2.png" Id="R04c3f24630384b1f" /><Relationship Type="http://schemas.openxmlformats.org/officeDocument/2006/relationships/image" Target="/ppt/media/image3.png" Id="R07233ee5dc0c4263" /><Relationship Type="http://schemas.openxmlformats.org/officeDocument/2006/relationships/notesSlide" Target="/ppt/notesSlides/notesSlide2.xml" Id="R196c633cd97f4d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bd77e8b87b4988" /><Relationship Type="http://schemas.openxmlformats.org/officeDocument/2006/relationships/image" Target="/ppt/media/image4.png" Id="R14970c6dab854c23" /><Relationship Type="http://schemas.openxmlformats.org/officeDocument/2006/relationships/notesSlide" Target="/ppt/notesSlides/notesSlide3.xml" Id="Rda7e5c9aadf949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0ce5ee39164d69" /><Relationship Type="http://schemas.openxmlformats.org/officeDocument/2006/relationships/image" Target="/ppt/media/image5.png" Id="R1f460dc51c2b42cf" /><Relationship Type="http://schemas.openxmlformats.org/officeDocument/2006/relationships/notesSlide" Target="/ppt/notesSlides/notesSlide4.xml" Id="Rcc1fc02a0dee4f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13686cf6e14cfd" /><Relationship Type="http://schemas.openxmlformats.org/officeDocument/2006/relationships/image" Target="/ppt/media/image6.png" Id="Rbab5604cda694798" /><Relationship Type="http://schemas.openxmlformats.org/officeDocument/2006/relationships/image" Target="/ppt/media/image7.png" Id="Rf591e66e01f64191" /><Relationship Type="http://schemas.openxmlformats.org/officeDocument/2006/relationships/notesSlide" Target="/ppt/notesSlides/notesSlide5.xml" Id="R950f62d27df24a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0dfcf8a8f4450" /><Relationship Type="http://schemas.openxmlformats.org/officeDocument/2006/relationships/image" Target="/ppt/media/image8.png" Id="R39a19c31dd9845e1" /><Relationship Type="http://schemas.openxmlformats.org/officeDocument/2006/relationships/notesSlide" Target="/ppt/notesSlides/notesSlide6.xml" Id="R3ef8e3b8064b44f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6a23714219467f" /><Relationship Type="http://schemas.openxmlformats.org/officeDocument/2006/relationships/image" Target="/ppt/media/image9.png" Id="Re04b3c25d7864d76" /><Relationship Type="http://schemas.openxmlformats.org/officeDocument/2006/relationships/notesSlide" Target="/ppt/notesSlides/notesSlide7.xml" Id="R295cb6cff8b94a9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b6fbd37b0d4276" /><Relationship Type="http://schemas.openxmlformats.org/officeDocument/2006/relationships/image" Target="/ppt/media/image10.png" Id="R33c1ad526c674f37" /><Relationship Type="http://schemas.openxmlformats.org/officeDocument/2006/relationships/notesSlide" Target="/ppt/notesSlides/notesSlide8.xml" Id="R77063f84c1314e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c741d46bf848c7" /><Relationship Type="http://schemas.openxmlformats.org/officeDocument/2006/relationships/image" Target="/ppt/media/image11.png" Id="R5cdd060234514644" /><Relationship Type="http://schemas.openxmlformats.org/officeDocument/2006/relationships/notesSlide" Target="/ppt/notesSlides/notesSlide9.xml" Id="R467a3388086e476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27309f31f42f9" /><Relationship Type="http://schemas.openxmlformats.org/officeDocument/2006/relationships/image" Target="/ppt/media/image12.png" Id="Rcd83877cf6b5419f" /><Relationship Type="http://schemas.openxmlformats.org/officeDocument/2006/relationships/notesSlide" Target="/ppt/notesSlides/notesSlide10.xml" Id="R98c3d401ff60413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33f8cc64fb4fe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5033D4-B02D-4EB0-9CD9-28B28D86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29375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5C6728-DC8B-4D4E-80E9-2D0FB93B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2190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9EB4C0"/>
                </a:solidFill>
              </a:defRPr>
            </a:pPr>
            <a:r>
              <a:rPr sz="675">
                <a:solidFill>
                  <a:srgbClr val="9EB4C0"/>
                </a:solidFill>
              </a:rPr>
              <a:t>DECK 07  |  10 SLIDES</a:t>
            </a:r>
          </a:p>
        </p:txBody>
      </p:sp>
    </p:spTree>
    <p:extLst>
      <p:ext uri="{BB962C8B-B14F-4D97-AF65-F5344CB8AC3E}">
        <p14:creationId xmlns:p14="http://schemas.microsoft.com/office/powerpoint/2010/main" val="16736701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58FCD0-6D39-41D9-BBC4-F2C610EE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A9505A-7898-4E1E-8EA5-EFE05E24F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343F3A-CA96-4E8B-9AF5-BD00A851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TEACHABLE MACHINE /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62B178-38E2-48E3-955D-9B838365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START THE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6EA68-78BE-4BBE-A456-A8F9B0AC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Choose a standard image model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c3f24630384b1f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4B2415-2C8C-4C1D-9983-0F2D4910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128839-11C1-423E-9D28-913D1DBC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30D72F-170C-4E1D-9B7C-14D7CAF6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2 / 10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33ee5dc0c4263"/>
          <a:stretch xmlns:a="http://schemas.openxmlformats.org/drawingml/2006/main"/>
        </p:blipFill>
        <p:spPr>
          <a:xfrm xmlns:a="http://schemas.openxmlformats.org/drawingml/2006/main">
            <a:off x="1219515" y="1428750"/>
            <a:ext cx="6476370" cy="4495800"/>
          </a:xfrm>
          <a:prstGeom xmlns:a="http://schemas.openxmlformats.org/drawingml/2006/main" prst="roundRect">
            <a:avLst>
              <a:gd name="adj" fmla="val 2542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4D32CE-8533-4CCC-8ECA-EE6A12F9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619250"/>
            <a:ext cx="2857500" cy="3048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64F98D-E436-46E7-B000-0F6CC156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61925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E0BA5C-8029-4219-9875-2342F1A4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809750"/>
            <a:ext cx="2438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For Hopper Studio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A2AA80-8921-4C05-BA7D-EECE4B22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00275"/>
            <a:ext cx="24384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Select Image Project.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Choose Standard image model.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Export TensorFlow.js files after training.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Keep model.json, weights.bin, and metadata.json together.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C3EF44-A159-42EA-B13A-B837F714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53000"/>
            <a:ext cx="28575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5EFCF"/>
          </a:solidFill>
          <a:ln xmlns:a="http://schemas.openxmlformats.org/drawingml/2006/main" w="14288">
            <a:solidFill>
              <a:srgbClr val="C9A22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E76285-9866-4380-85AC-68B3EFE8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1435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1B3A"/>
                </a:solidFill>
              </a:defRPr>
            </a:pPr>
            <a:r>
              <a:rPr sz="1200">
                <a:solidFill>
                  <a:srgbClr val="001B3A"/>
                </a:solidFill>
              </a:rPr>
              <a:t>The embedded option targets microcontrollers; Hopper Studio loads the standard browser model.</a:t>
            </a:r>
          </a:p>
        </p:txBody>
      </p:sp>
    </p:spTree>
    <p:extLst>
      <p:ext uri="{BB962C8B-B14F-4D97-AF65-F5344CB8AC3E}">
        <p14:creationId xmlns:p14="http://schemas.microsoft.com/office/powerpoint/2010/main" val="12548989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53839C-8142-4316-9B7E-9EE448EF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2B19E0-EDBA-4029-A513-E031570F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FCD32D-9156-4898-B68E-6CFF6C976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TEACHABLE MACHINE /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D9A477-31ED-44A8-A9C3-411AF787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CLASS DESIGN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72716-A9C0-4877-B00C-E7F77113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Custom labels are the advantage—“other” is the guardrail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970c6dab854c23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13667-8540-498E-B72F-16E57002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F9709C-9FF9-45EC-85A0-B73BAC87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85517B-9BB0-4C8C-B9A5-2C44831C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3 /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3AED44-339B-4E9C-995C-A809CB82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24003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4F5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815CB4-1DA7-4842-890A-44B7D70FA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2019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4F5C"/>
          </a:solidFill>
          <a:ln xmlns:a="http://schemas.openxmlformats.org/drawingml/2006/main" w="14288">
            <a:solidFill>
              <a:srgbClr val="D94F5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RED FLAG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55A142-A074-49F7-B91C-5B078939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28875"/>
            <a:ext cx="1943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Red fabric, multiple angles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7356F3-6166-4D39-84C6-D56F7A5E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695450"/>
            <a:ext cx="24003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62B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7D3A34-8103-4F8B-AB81-A0AA2539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85950"/>
            <a:ext cx="2019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2B4D"/>
          </a:solidFill>
          <a:ln xmlns:a="http://schemas.openxmlformats.org/drawingml/2006/main" w="14288">
            <a:solidFill>
              <a:srgbClr val="062B4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BLUE FLAG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99F6E7-2F9C-43DC-805D-C792DB7E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28875"/>
            <a:ext cx="1943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Blue fabric, multiple distances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A4D4B6-43C8-421D-A2BB-6FD19D94B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95450"/>
            <a:ext cx="24003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0D752A-882B-4DC3-85B7-94CFF51E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2019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SAFE PAD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79C7EB-CB7E-4851-BE2F-0CBD4C378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28875"/>
            <a:ext cx="1943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Target pad under flight lighting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F7B179-9999-495C-8159-96FC638B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95450"/>
            <a:ext cx="24003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5EFCF"/>
          </a:solidFill>
          <a:ln xmlns:a="http://schemas.openxmlformats.org/drawingml/2006/main" w="14288">
            <a:solidFill>
              <a:srgbClr val="C9A22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9CDCDB-60B5-4B2B-B60C-B7F0AD7D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85950"/>
            <a:ext cx="2019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A227"/>
          </a:solidFill>
          <a:ln xmlns:a="http://schemas.openxmlformats.org/drawingml/2006/main" w="14288">
            <a:solidFill>
              <a:srgbClr val="C9A22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1B3A"/>
                </a:solidFill>
              </a:defRPr>
            </a:pPr>
            <a:r>
              <a:rPr sz="1050" b="1">
                <a:solidFill>
                  <a:srgbClr val="001B3A"/>
                </a:solidFill>
              </a:rPr>
              <a:t>OTHER / BACKGROUND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3FC900-D5E1-454D-846B-14C460DE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28875"/>
            <a:ext cx="1943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Floor, walls, people, blur, empty room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AE93B3-EE94-4AEE-AF74-0A2B4271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097280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BE4E7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63CB47-DA56-492D-993F-7AA82FC4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66675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6AE5B3-7122-4543-AC9D-CBCFEF39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1055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Why the “other” class matters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089F56-F2EE-4D1E-AED1-CA5B9C99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29125"/>
            <a:ext cx="10553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A classifier must distribute probability across the labels it knows.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Without negative/background examples, an irrelevant frame can be forced into a mission label.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Make “other” diverse: empty views, different floors, students, walls, shadows, motion blur, and anything you do not want to trigger.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8370BB-EB26-462E-9CDD-F978DEB4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Choose labels that answer one mission question—and collect the world outside those labels.</a:t>
            </a:r>
          </a:p>
        </p:txBody>
      </p:sp>
    </p:spTree>
    <p:extLst>
      <p:ext uri="{BB962C8B-B14F-4D97-AF65-F5344CB8AC3E}">
        <p14:creationId xmlns:p14="http://schemas.microsoft.com/office/powerpoint/2010/main" val="5511739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E5B46C-B32B-42EF-8B47-ECE9A1AA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1B7EE0-D784-4B75-BAF8-27CD3367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898C0-4195-4221-8AE3-393714F3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TEACHABLE MACHINE /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FDD87A-578B-47FD-899A-2FAF92B2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NEURAL NETWORK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9DDD6-DB38-4FEB-90CB-C3DBC2A8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What goes into—and comes out of—the custom model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460dc51c2b42cf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2A3A7A-DF2A-47BC-A9EC-B33F4206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A5F69B-E3D1-412D-9966-A2E46581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A4D891-52FE-4AB6-B0FA-ABBF23135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4 /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FE5A53-5A9B-4498-B025-42CE3037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959524-4746-4F14-9D2C-6B24DEA3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1809750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08DCA2-D44D-420E-9241-99BB4537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1590" y="1809750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7946CE-5686-4395-9528-D0566425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010" y="1809750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5C07B6-107B-4BD4-8C85-CEEE6D05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6430" y="1809750"/>
            <a:ext cx="1988820" cy="161925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cxnSp>
        <p:nvCxnSpPr>
          <p:cNvPr id="68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655570" y="26193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C95"/>
            </a:solidFill>
            <a:prstDash val="solid"/>
            <a:tailEnd type="triangle" w="med" len="med"/>
          </a:ln>
        </p:spPr>
      </p:cxnSp>
      <p:cxnSp>
        <p:nvCxnSpPr>
          <p:cNvPr id="69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872990" y="26193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C95"/>
            </a:solidFill>
            <a:prstDash val="solid"/>
            <a:tailEnd type="triangle" w="med" len="med"/>
          </a:ln>
        </p:spPr>
      </p:cxnSp>
      <p:cxnSp>
        <p:nvCxnSpPr>
          <p:cNvPr id="70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090410" y="26193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C95"/>
            </a:solidFill>
            <a:prstDash val="solid"/>
            <a:tailEnd type="triangle" w="med" len="med"/>
          </a:ln>
        </p:spPr>
      </p:cxnSp>
      <p:cxnSp>
        <p:nvCxnSpPr>
          <p:cNvPr id="7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07830" y="26193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C95"/>
            </a:solidFill>
            <a:prstDash val="solid"/>
            <a:tailEnd type="triangle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9BEBA6-36FF-42FB-9C63-509F2B68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BD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DEA5D8-6BCE-4269-B058-02C33AB1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62150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6ED616-ACC5-4FEC-ADF2-A14D9E54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9825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Camera frame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83CD71-CF66-44FB-9CAA-486CEB24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A7B"/>
                </a:solidFill>
              </a:defRPr>
            </a:pPr>
            <a:r>
              <a:rPr sz="1050">
                <a:solidFill>
                  <a:srgbClr val="536A7B"/>
                </a:solidFill>
              </a:rPr>
              <a:t>One current image from the real or simulated view.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D76068-138F-4B0D-9BED-7E91DBC6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1809750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BD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90C2B1-15BC-4171-94F5-17E5C564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" y="1962150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80604D-D621-435D-AA17-C890A169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" y="2409825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Resize + crop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B81B81-27A2-4F52-B6F6-80DEEE8B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" y="2800350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A7B"/>
                </a:solidFill>
              </a:defRPr>
            </a:pPr>
            <a:r>
              <a:rPr sz="1050">
                <a:solidFill>
                  <a:srgbClr val="536A7B"/>
                </a:solidFill>
              </a:rPr>
              <a:t>Standard image models work from a square image tensor.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EC55F9-95BC-4F99-B7E4-24309A7D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1590" y="1809750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BD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CE9E47-BF39-4843-AACF-4FEA4749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3040" y="1962150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687911-BEC6-4AD6-A3FD-0C56A648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3040" y="2409825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Features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80789F-116A-46AD-B37E-E7CB3CA5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3040" y="2800350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A7B"/>
                </a:solidFill>
              </a:defRPr>
            </a:pPr>
            <a:r>
              <a:rPr sz="1050">
                <a:solidFill>
                  <a:srgbClr val="536A7B"/>
                </a:solidFill>
              </a:rPr>
              <a:t>Pretrained MobileNet-like layers extract visual features.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3CFC2A-570C-4280-AB28-8E80BCA7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010" y="1809750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CBD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4C851E-4FF0-46E9-92E4-43CC3C36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0460" y="1962150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C6F4E3-650C-40CB-9167-C6C42F7F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0460" y="2409825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Custom head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D6E191-5E8F-4F0A-B435-43FD6E39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0460" y="2800350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A7B"/>
                </a:solidFill>
              </a:defRPr>
            </a:pPr>
            <a:r>
              <a:rPr sz="1050">
                <a:solidFill>
                  <a:srgbClr val="536A7B"/>
                </a:solidFill>
              </a:rPr>
              <a:t>Transfer learning maps those features to your class names.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E3B9CE-9DCF-4D19-9FE3-37135F91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6430" y="1809750"/>
            <a:ext cx="198882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001B3A"/>
          </a:solidFill>
          <a:ln xmlns:a="http://schemas.openxmlformats.org/drawingml/2006/main" w="14288">
            <a:solidFill>
              <a:srgbClr val="001B3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0FCB3A-21FC-49BC-A9BB-8032AA2B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1962150"/>
            <a:ext cx="457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A227"/>
          </a:solidFill>
          <a:ln xmlns:a="http://schemas.openxmlformats.org/drawingml/2006/main" w="14288">
            <a:solidFill>
              <a:srgbClr val="C9A22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1B3A"/>
                </a:solidFill>
              </a:defRPr>
            </a:pPr>
            <a:r>
              <a:rPr sz="1050" b="1">
                <a:solidFill>
                  <a:srgbClr val="001B3A"/>
                </a:solidFill>
              </a:rPr>
              <a:t>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A21D38-924F-42BA-9D12-F3CFB810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2409825"/>
            <a:ext cx="164592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Probabilities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9B08A9A-9E53-4BBB-9D40-D8E1AF6C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2800350"/>
            <a:ext cx="16459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D5E6EC"/>
                </a:solidFill>
              </a:defRPr>
            </a:pPr>
            <a:r>
              <a:rPr sz="1050">
                <a:solidFill>
                  <a:srgbClr val="D5E6EC"/>
                </a:solidFill>
              </a:rPr>
              <a:t>One score per label; highest score becomes the current class.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4AB87EC-C19D-474B-BCC0-94065D16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105156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062B4D"/>
          </a:solidFill>
          <a:ln xmlns:a="http://schemas.openxmlformats.org/drawingml/2006/main" w="14288">
            <a:solidFill>
              <a:srgbClr val="062B4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D38506C-E575-4701-A8BC-47163D4F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053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4B8B4"/>
                </a:solidFill>
              </a:defRPr>
            </a:pPr>
            <a:r>
              <a:rPr sz="1125" b="1">
                <a:solidFill>
                  <a:srgbClr val="14B8B4"/>
                </a:solidFill>
              </a:rPr>
              <a:t>EXAMPLE OUTPUT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F50E0FE-2D8F-4949-9C4A-2917E84F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672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red flag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DF324C9-2537-4FAB-9730-E57A529D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686300"/>
            <a:ext cx="601789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5491562-1BB2-43A9-957C-1A384235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6672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81%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6BFDF07-F5B9-42AA-B02F-F96A0880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149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blue flag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F9B93A8-F02A-49D3-B1E0-E651B6A5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933950"/>
            <a:ext cx="3714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84B950D-24F9-4C46-A35C-1852922F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149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83A47A0-6DD5-46A8-8A54-614AB135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625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safe pad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610DCDE-1BD7-4CFB-8F00-95BDAF62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181600"/>
            <a:ext cx="22288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1D7668-56D8-4C93-817F-3128EF73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1625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6AD6777-B3A4-400E-9C64-1F9267A9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102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</a:rPr>
              <a:t>other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AB9E229-4AE4-45A0-A2CB-8F45F164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429250"/>
            <a:ext cx="81724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B2BF"/>
          </a:solidFill>
          <a:ln xmlns:a="http://schemas.openxmlformats.org/drawingml/2006/main" w="0">
            <a:solidFill>
              <a:srgbClr val="9CB2B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DAC35B9-7B8B-4C80-B398-28D7C00E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4102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11%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380BBB-B279-40DC-81C6-24EE0353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953125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94F5C"/>
                </a:solidFill>
              </a:defRPr>
            </a:pPr>
            <a:r>
              <a:rPr sz="1500" b="1">
                <a:solidFill>
                  <a:srgbClr val="D94F5C"/>
                </a:solidFill>
              </a:rPr>
              <a:t>Whole-frame classification: no x/y coordinates and no bounding boxes.</a:t>
            </a:r>
          </a:p>
        </p:txBody>
      </p:sp>
    </p:spTree>
    <p:extLst>
      <p:ext uri="{BB962C8B-B14F-4D97-AF65-F5344CB8AC3E}">
        <p14:creationId xmlns:p14="http://schemas.microsoft.com/office/powerpoint/2010/main" val="19657459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18DA3D-0765-4F90-A46D-37A7BC4F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0ACF8-7CF0-4F9D-B8FA-EE17CD21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985959-5350-45A0-9EBB-EDBB31F7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TEACHABLE MACHINE /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7A0931-B36A-4AD0-B8BC-B473F19F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COLLECT, TRAIN, PREVIEW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9F05E3-0B41-4498-A51E-6E32F7EA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Use the training screen as an experiment dashboard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5604cda694798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3C1A0F-A03A-493D-B5BD-DC389C13F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DE8E07-80EB-4BFD-B2E9-CDDB33B0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90F7CE-B8F0-41BC-91FC-38FCBF2A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5 / 10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91e66e01f64191"/>
          <a:stretch xmlns:a="http://schemas.openxmlformats.org/drawingml/2006/main"/>
        </p:blipFill>
        <p:spPr>
          <a:xfrm xmlns:a="http://schemas.openxmlformats.org/drawingml/2006/main">
            <a:off x="2047395" y="1390650"/>
            <a:ext cx="8097209" cy="4362450"/>
          </a:xfrm>
          <a:prstGeom xmlns:a="http://schemas.openxmlformats.org/drawingml/2006/main" prst="roundRect">
            <a:avLst>
              <a:gd name="adj" fmla="val 2620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972334-D225-4BEC-8AAD-39B5A6C1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3143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 · COLLECT BALANCED CLASSES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EC483-4884-4900-887C-1F044487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829300"/>
            <a:ext cx="1714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A227"/>
          </a:solidFill>
          <a:ln xmlns:a="http://schemas.openxmlformats.org/drawingml/2006/main" w="14288">
            <a:solidFill>
              <a:srgbClr val="C9A22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1B3A"/>
                </a:solidFill>
              </a:defRPr>
            </a:pPr>
            <a:r>
              <a:rPr sz="1050" b="1">
                <a:solidFill>
                  <a:srgbClr val="001B3A"/>
                </a:solidFill>
              </a:rPr>
              <a:t>2 · TRAIN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C60372-6AF1-405C-BB40-ABBA0D89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829300"/>
            <a:ext cx="3714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4F5C"/>
          </a:solidFill>
          <a:ln xmlns:a="http://schemas.openxmlformats.org/drawingml/2006/main" w="14288">
            <a:solidFill>
              <a:srgbClr val="D94F5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 · PREVIEW UNSEEN VIEWS</a:t>
            </a:r>
          </a:p>
        </p:txBody>
      </p:sp>
    </p:spTree>
    <p:extLst>
      <p:ext uri="{BB962C8B-B14F-4D97-AF65-F5344CB8AC3E}">
        <p14:creationId xmlns:p14="http://schemas.microsoft.com/office/powerpoint/2010/main" val="173477667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a19c31dd9845e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E42E3A-61D7-47DB-A486-F005BB8F1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EC8922-A245-4389-AAD0-D2442258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TEACHABLE MACHINE /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7A44F-3BC7-4253-8474-C696F518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DB678-B157-4054-B506-B3BFBA8B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6 / 10</a:t>
            </a:r>
          </a:p>
        </p:txBody>
      </p:sp>
    </p:spTree>
    <p:extLst>
      <p:ext uri="{BB962C8B-B14F-4D97-AF65-F5344CB8AC3E}">
        <p14:creationId xmlns:p14="http://schemas.microsoft.com/office/powerpoint/2010/main" val="39086669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4b3c25d7864d7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EFFCE-A83B-4F73-9759-F96B8DD8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8B37EE-E408-4B27-855A-96F22306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TEACHABLE MACHINE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0544F5-D703-45E0-BA45-A5F793B3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65B86-A8CF-4532-AE71-9286011B8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7 / 10</a:t>
            </a:r>
          </a:p>
        </p:txBody>
      </p:sp>
    </p:spTree>
    <p:extLst>
      <p:ext uri="{BB962C8B-B14F-4D97-AF65-F5344CB8AC3E}">
        <p14:creationId xmlns:p14="http://schemas.microsoft.com/office/powerpoint/2010/main" val="69625669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1ad526c674f3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3EC902-BEDD-482E-82C9-3E811E3C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138E47-3301-4319-8439-FE87EA83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TEACHABLE MACHINE /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F08EB-FB9C-40CE-91E2-473A1444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F39D67-110F-4741-9716-BF1495AB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8 / 10</a:t>
            </a:r>
          </a:p>
        </p:txBody>
      </p:sp>
    </p:spTree>
    <p:extLst>
      <p:ext uri="{BB962C8B-B14F-4D97-AF65-F5344CB8AC3E}">
        <p14:creationId xmlns:p14="http://schemas.microsoft.com/office/powerpoint/2010/main" val="73783556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dd06023451464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AEBABF-2C09-4F76-BA18-0A59DE1B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911B82-879D-4EDE-ACD5-DC43654D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TEACHABLE MACHINE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5C9B64-056A-4D4D-9101-4B3A002E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6C54F-3941-4F2D-8DAB-F7BC1B2D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9 / 10</a:t>
            </a:r>
          </a:p>
        </p:txBody>
      </p:sp>
    </p:spTree>
    <p:extLst>
      <p:ext uri="{BB962C8B-B14F-4D97-AF65-F5344CB8AC3E}">
        <p14:creationId xmlns:p14="http://schemas.microsoft.com/office/powerpoint/2010/main" val="8336172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E3D9E5-9992-49D1-864B-6D8ED4F5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E858D-056E-4C55-B13B-96814E50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4537DF-D42F-4DA8-B3B7-EAC7796D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TEACHABLE MACHINE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303360-DD9D-4A7F-84A6-9E605E40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ACCEPTANCE TEST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222FE-366C-4A16-B663-09CAB3B7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A custom model is only ready after an honest field test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3877cf6b5419f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D959D-47DB-41D3-9710-1EB58A20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35FAE3-3A04-4398-A68B-BD6575C2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BCC835-E04A-42B9-A10E-2B1F6009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10 /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406C8E-13E7-459C-8295-7A190262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219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822264-B415-40FD-A0CC-B74B24DD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49D3B7-EA03-458B-B48A-B5AF9952B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PASS CRITERIA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71608B-1EB4-4D0A-B196-AB595960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0275"/>
            <a:ext cx="48006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Correct label across expected distance, angle, and light.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Low false-trigger rate on the “other” class.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Stable predictions during short motion blur and camera changes.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Works on held-out examples that were never used in training.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516880-AD3F-46ED-842F-3F9F2E3E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52197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CE3849-18BE-4583-B3D0-517F0F8F8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4403B-E3FB-4436-8FDD-E1B9A1E4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0975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IF IT FAILS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ECFBEC-49BD-4B09-A463-F55105E0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00275"/>
            <a:ext cx="48006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Record the failure view.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Label it correctly—often as other/background.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Rebalance classes so one does not dominate.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Retrain, export all three files, and repeat the same test.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7DB745-DF5A-4932-BBAB-8D9FF370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5EFCF"/>
          </a:solidFill>
          <a:ln xmlns:a="http://schemas.openxmlformats.org/drawingml/2006/main" w="14288">
            <a:solidFill>
              <a:srgbClr val="C9A22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FD1445-F1B4-4A2C-AE42-F5F572C4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1040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1B3A"/>
                </a:solidFill>
              </a:defRPr>
            </a:pPr>
            <a:r>
              <a:rPr sz="1425" b="1">
                <a:solidFill>
                  <a:srgbClr val="001B3A"/>
                </a:solidFill>
              </a:rPr>
              <a:t>Custom labels are powerful because they match your mission. The cost is owning the data, the negative class, and the validation.</a:t>
            </a:r>
          </a:p>
        </p:txBody>
      </p:sp>
    </p:spTree>
    <p:extLst>
      <p:ext uri="{BB962C8B-B14F-4D97-AF65-F5344CB8AC3E}">
        <p14:creationId xmlns:p14="http://schemas.microsoft.com/office/powerpoint/2010/main" val="2638180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2026-07-26T02:21:32.1020000Z</dcterms:created>
  <dcterms:modified xsi:type="dcterms:W3CDTF">2026-07-26T02:21:32.1020000Z</dcterms:modified>
</coreProperties>
</file>