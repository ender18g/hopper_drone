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e1def97334f3e" /><Relationship Type="http://schemas.openxmlformats.org/officeDocument/2006/relationships/extended-properties" Target="/docProps/app.xml" Id="Rc781b73ab60148d5" /><Relationship Type="http://schemas.openxmlformats.org/officeDocument/2006/relationships/officeDocument" Target="/ppt/presentation.xml" Id="R25403280d029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2697496a8b4086"/>
  </p:sldMasterIdLst>
  <p:notesMasterIdLst>
    <p:notesMasterId xmlns:r="http://schemas.openxmlformats.org/officeDocument/2006/relationships" r:id="R93f81839b0a847a3"/>
  </p:notesMasterIdLst>
  <p:sldIdLst>
    <p:sldId xmlns:r="http://schemas.openxmlformats.org/officeDocument/2006/relationships" id="256" r:id="R6736c8e73fbc4afa"/>
    <p:sldId xmlns:r="http://schemas.openxmlformats.org/officeDocument/2006/relationships" id="257" r:id="R4a8d9ec230b04d84"/>
    <p:sldId xmlns:r="http://schemas.openxmlformats.org/officeDocument/2006/relationships" id="258" r:id="R9b417a5e804a4440"/>
    <p:sldId xmlns:r="http://schemas.openxmlformats.org/officeDocument/2006/relationships" id="259" r:id="R253d9ed810ac400d"/>
    <p:sldId xmlns:r="http://schemas.openxmlformats.org/officeDocument/2006/relationships" id="260" r:id="Rb3f5b5d05d544ac5"/>
    <p:sldId xmlns:r="http://schemas.openxmlformats.org/officeDocument/2006/relationships" id="261" r:id="R8dd56c8818e845c3"/>
    <p:sldId xmlns:r="http://schemas.openxmlformats.org/officeDocument/2006/relationships" id="262" r:id="Rb28aa6905bd94f5e"/>
    <p:sldId xmlns:r="http://schemas.openxmlformats.org/officeDocument/2006/relationships" id="263" r:id="R13b13ba2fa5643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b0063da4f9409f" /><Relationship Type="http://schemas.openxmlformats.org/officeDocument/2006/relationships/slideMaster" Target="/ppt/slideMasters/slideMaster1.xml" Id="R142697496a8b4086" /><Relationship Type="http://schemas.openxmlformats.org/officeDocument/2006/relationships/notesMaster" Target="/ppt/notesMasters/notesMaster1.xml" Id="R93f81839b0a847a3" /><Relationship Type="http://schemas.openxmlformats.org/officeDocument/2006/relationships/presProps" Target="/ppt/presProps.xml" Id="Red0c6563e7094ea8" /><Relationship Type="http://schemas.openxmlformats.org/officeDocument/2006/relationships/tableStyles" Target="/ppt/tableStyles.xml" Id="Re378dcc5388e41c0" /><Relationship Type="http://schemas.openxmlformats.org/officeDocument/2006/relationships/slide" Target="/ppt/slides/slide1.xml" Id="R6736c8e73fbc4afa" /><Relationship Type="http://schemas.openxmlformats.org/officeDocument/2006/relationships/slide" Target="/ppt/slides/slide2.xml" Id="R4a8d9ec230b04d84" /><Relationship Type="http://schemas.openxmlformats.org/officeDocument/2006/relationships/slide" Target="/ppt/slides/slide3.xml" Id="R9b417a5e804a4440" /><Relationship Type="http://schemas.openxmlformats.org/officeDocument/2006/relationships/slide" Target="/ppt/slides/slide4.xml" Id="R253d9ed810ac400d" /><Relationship Type="http://schemas.openxmlformats.org/officeDocument/2006/relationships/slide" Target="/ppt/slides/slide5.xml" Id="Rb3f5b5d05d544ac5" /><Relationship Type="http://schemas.openxmlformats.org/officeDocument/2006/relationships/slide" Target="/ppt/slides/slide6.xml" Id="R8dd56c8818e845c3" /><Relationship Type="http://schemas.openxmlformats.org/officeDocument/2006/relationships/slide" Target="/ppt/slides/slide7.xml" Id="Rb28aa6905bd94f5e" /><Relationship Type="http://schemas.openxmlformats.org/officeDocument/2006/relationships/slide" Target="/ppt/slides/slide8.xml" Id="R13b13ba2fa5643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40ccd901b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d8c1dde9234c5a" /><Relationship Type="http://schemas.openxmlformats.org/officeDocument/2006/relationships/notesMaster" Target="/ppt/notesMasters/notesMaster1.xml" Id="R5beae5f0785247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0ba3cf20c54496" /><Relationship Type="http://schemas.openxmlformats.org/officeDocument/2006/relationships/notesMaster" Target="/ppt/notesMasters/notesMaster1.xml" Id="R27064efa8f8941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8ac46cb432476a" /><Relationship Type="http://schemas.openxmlformats.org/officeDocument/2006/relationships/notesMaster" Target="/ppt/notesMasters/notesMaster1.xml" Id="Refdd16b3099946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1bebfff9764d65" /><Relationship Type="http://schemas.openxmlformats.org/officeDocument/2006/relationships/notesMaster" Target="/ppt/notesMasters/notesMaster1.xml" Id="R01da2deca50b4b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29e04ef06442f3" /><Relationship Type="http://schemas.openxmlformats.org/officeDocument/2006/relationships/notesMaster" Target="/ppt/notesMasters/notesMaster1.xml" Id="R5c19615a1aa84e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20327efb3540a0" /><Relationship Type="http://schemas.openxmlformats.org/officeDocument/2006/relationships/notesMaster" Target="/ppt/notesMasters/notesMaster1.xml" Id="Re7ee75b6caa24c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d049e7c24b468f" /><Relationship Type="http://schemas.openxmlformats.org/officeDocument/2006/relationships/notesMaster" Target="/ppt/notesMasters/notesMaster1.xml" Id="R660ad703b16c4f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618c64a00a4f11" /><Relationship Type="http://schemas.openxmlformats.org/officeDocument/2006/relationships/notesMaster" Target="/ppt/notesMasters/notesMaster1.xml" Id="Rfbfbd882c288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real-camera detector runs in Hopper Studio on the browser or desktop host. It is not an onboard neural network in the quadrotor flight controller.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high-resolution photograph: drone_photos/IMG_4476.jpeg</a:t>
            </a:r>
          </a:p>
          <a:p xmlns:a="http://schemas.openxmlformats.org/drawingml/2006/main">
            <a:r>
              <a:t>- https://cocodataset.org/</a:t>
            </a:r>
          </a:p>
          <a:p xmlns:a="http://schemas.openxmlformats.org/drawingml/2006/main">
            <a:r>
              <a:t>- Hopper Studio implementation: local_site/lib/vision.ts.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Detection localizes objects; classification labels the overall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https://github.com/tensorflow/tfjs-models/tree/master/coco-ssd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COCO is a large-scale dataset for detection, segmentation, keypoints, and captioning. Use the official figures shown on the dataset home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https://cocodataset.org/</a:t>
            </a:r>
          </a:p>
          <a:p xmlns:a="http://schemas.openxmlformats.org/drawingml/2006/main">
            <a:r>
              <a:t>- https://cocodataset.org/workshop/coco-lvis-eccv-2020.html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shipped default detector: TensorFlow.js COCO-SSD 2.2.3 with the lite_mobilenet_v2 base, accurately described as SSDLite MobileNetV2 300. Hopper Studio captures an aspect-preserving canvas no wider than 420 pixels. The frozen graph accepts [1,H,W,3], resizes the full image to [1,300,300,3], normalizes to approximately minus one through one, and produces six prediction maps. The model contains 4,500,927 stored inference coefficients: 2,869,184 in the feature extractor and 1,631,743 in the heads. Weight shards total 18,034,528 bytes. The simulator supplies synthetic detections instead of running this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implementation: local_site/lib/vision.ts</a:t>
            </a:r>
          </a:p>
          <a:p xmlns:a="http://schemas.openxmlformats.org/drawingml/2006/main">
            <a:r>
              <a:t>- Shipped graph: local_site/public/models/coco-ssd/model.json.</a:t>
            </a:r>
          </a:p>
          <a:p xmlns:a="http://schemas.openxmlformats.org/drawingml/2006/main">
            <a:r>
              <a:t>- Installed implementation: local_site/node_modules/@tensorflow-models/coco-ssd/dist/coco-ssd.node.js.</a:t>
            </a:r>
          </a:p>
          <a:p xmlns:a="http://schemas.openxmlformats.org/drawingml/2006/main">
            <a:r>
              <a:t>- Local dependency declaration: local_site/package.json.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how the minimum-confidence slider changes returned boxes. A threshold is an operating-point choice, not a change to the model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https://github.com/tensorflow/tfjs-models/tree/master/coco-ssd</a:t>
            </a:r>
          </a:p>
          <a:p xmlns:a="http://schemas.openxmlformats.org/drawingml/2006/main">
            <a:r>
              <a:t>- Hopper Studio implementation: local_site/lib/vision.ts and components/HopperStudio.tsx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detectObjects performs a fresh scan and returns the complete detection array. This avoids the ambiguity of objectCoordinate, which is synchronous, reads the last saved coordinate, and returns zero both for a centered target and for missing/stale state. The example explicitly lands in finally.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Hopper Studio implementation: local_site/lib/vision.ts, detectObjects and objectCoordinate.</a:t>
            </a:r>
          </a:p>
          <a:p xmlns:a="http://schemas.openxmlformats.org/drawingml/2006/main">
            <a:r>
              <a:t>- Hopper Studio flight API: local_site/lib/drone.ts, fly and land.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detection and classification vocabulary precise. The custom-label advantage is real, but Teachable Machine’s standard image project in this workflow labels the full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https://github.com/tensorflow/tfjs-models/tree/master/coco-ssd</a:t>
            </a:r>
          </a:p>
          <a:p xmlns:a="http://schemas.openxmlformats.org/drawingml/2006/main">
            <a:r>
              <a:t>- https://codelabs.developers.google.com/tensorflowjs-transfer-learning-teachable-machine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students to name one false-positive cost and one missed-detection cost for their 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https://cocodataset.org/</a:t>
            </a:r>
          </a:p>
          <a:p xmlns:a="http://schemas.openxmlformats.org/drawingml/2006/main">
            <a:r>
              <a:t>- https://github.com/tensorflow/tfjs-models/tree/master/coco-ssd</a:t>
            </a:r>
          </a:p>
          <a:p xmlns:a="http://schemas.openxmlformats.org/drawingml/2006/main">
            <a:r>
              <a:t>- https://arxiv.org/abs/1512.02325</a:t>
            </a:r>
          </a:p>
          <a:p xmlns:a="http://schemas.openxmlformats.org/drawingml/2006/main">
            <a:r>
              <a:t>- https://arxiv.org/abs/1801.04381</a:t>
            </a:r>
          </a:p>
          <a:p xmlns:a="http://schemas.openxmlformats.org/drawingml/2006/main">
            <a:r>
              <a:t>- Hopper Studio implementation: local_site/lib/vision.ts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179dc11e349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f5969fc4de4b72" /><Relationship Type="http://schemas.openxmlformats.org/officeDocument/2006/relationships/slideLayout" Target="/ppt/slideLayouts/slideLayout1.xml" Id="R8f4975897bce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4975897bce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14d90396d4ddf" /><Relationship Type="http://schemas.openxmlformats.org/officeDocument/2006/relationships/image" Target="/ppt/media/image.jpeg" Id="Rc16ec85433664b4d" /><Relationship Type="http://schemas.openxmlformats.org/officeDocument/2006/relationships/image" Target="/ppt/media/image.png" Id="R35e720adc8b34b00" /><Relationship Type="http://schemas.openxmlformats.org/officeDocument/2006/relationships/notesSlide" Target="/ppt/notesSlides/notesSlide1.xml" Id="Ra04ab278942945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d76b1cbd04137" /><Relationship Type="http://schemas.openxmlformats.org/officeDocument/2006/relationships/image" Target="/ppt/media/image2.png" Id="Rb37aa839d5e843f7" /><Relationship Type="http://schemas.openxmlformats.org/officeDocument/2006/relationships/notesSlide" Target="/ppt/notesSlides/notesSlide2.xml" Id="R502166fd4eab4f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1a57adc814137" /><Relationship Type="http://schemas.openxmlformats.org/officeDocument/2006/relationships/image" Target="/ppt/media/image3.png" Id="R1c0bd2a576f94750" /><Relationship Type="http://schemas.openxmlformats.org/officeDocument/2006/relationships/notesSlide" Target="/ppt/notesSlides/notesSlide3.xml" Id="Rc3c334d04cb8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af12499654902" /><Relationship Type="http://schemas.openxmlformats.org/officeDocument/2006/relationships/image" Target="/ppt/media/image4.png" Id="R6105162041e3459e" /><Relationship Type="http://schemas.openxmlformats.org/officeDocument/2006/relationships/notesSlide" Target="/ppt/notesSlides/notesSlide4.xml" Id="R6521e59eb98948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d3a75df7d4dbf" /><Relationship Type="http://schemas.openxmlformats.org/officeDocument/2006/relationships/image" Target="/ppt/media/image5.png" Id="R9fddd1fd414f46cd" /><Relationship Type="http://schemas.openxmlformats.org/officeDocument/2006/relationships/notesSlide" Target="/ppt/notesSlides/notesSlide5.xml" Id="R5af75bbc5c5447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3c25a31e3444c" /><Relationship Type="http://schemas.openxmlformats.org/officeDocument/2006/relationships/image" Target="/ppt/media/image6.png" Id="R3954aea8f7e9414a" /><Relationship Type="http://schemas.openxmlformats.org/officeDocument/2006/relationships/notesSlide" Target="/ppt/notesSlides/notesSlide6.xml" Id="R9a4bddfcae2740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4cfcf024e421f" /><Relationship Type="http://schemas.openxmlformats.org/officeDocument/2006/relationships/image" Target="/ppt/media/image7.png" Id="Rabec0cd4ddf74c3c" /><Relationship Type="http://schemas.openxmlformats.org/officeDocument/2006/relationships/notesSlide" Target="/ppt/notesSlides/notesSlide7.xml" Id="R337c25c92ef041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a0d8922d84329" /><Relationship Type="http://schemas.openxmlformats.org/officeDocument/2006/relationships/image" Target="/ppt/media/image8.png" Id="R9a1bffe49ae948b6" /><Relationship Type="http://schemas.openxmlformats.org/officeDocument/2006/relationships/notesSlide" Target="/ppt/notesSlides/notesSlide8.xml" Id="R277411ef378646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ec85433664b4d"/>
          <a:srcRect xmlns:a="http://schemas.openxmlformats.org/drawingml/2006/main" l="0" t="10411" r="0" b="10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950" y="0"/>
            <a:ext cx="6496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65290-B225-4DC6-B647-B9C5B557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0"/>
            <a:ext cx="5905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2EC65-019E-4541-87CC-0EDF4755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720adc8b34b00"/>
          <a:stretch xmlns:a="http://schemas.openxmlformats.org/drawingml/2006/main"/>
        </p:blipFill>
        <p:spPr>
          <a:xfrm xmlns:a="http://schemas.openxmlformats.org/drawingml/2006/main">
            <a:off x="1115994" y="561975"/>
            <a:ext cx="1177963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EA089-7222-4D91-9437-A219FF2D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B8B4"/>
                </a:solidFill>
              </a:defRPr>
            </a:pPr>
            <a:r>
              <a:rPr sz="975" b="1">
                <a:solidFill>
                  <a:srgbClr val="14B8B4"/>
                </a:solidFill>
              </a:rPr>
              <a:t>HOPPER INFORMATION SERIES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38E34-C5AA-486E-B116-DADFF797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A227"/>
                </a:solidFill>
              </a:defRPr>
            </a:pPr>
            <a:r>
              <a:rPr sz="900" b="1">
                <a:solidFill>
                  <a:srgbClr val="C9A227"/>
                </a:solidFill>
              </a:rPr>
              <a:t>OBJECT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C4C7B-0F3C-4051-A06C-7E39729A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Object detection and COCO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7EDBF-B3D7-4860-999C-BAEF08C2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E2E8"/>
                </a:solidFill>
              </a:defRPr>
            </a:pPr>
            <a:r>
              <a:rPr sz="1500">
                <a:solidFill>
                  <a:srgbClr val="D4E2E8"/>
                </a:solidFill>
              </a:rPr>
              <a:t>How Hopper Studio turns camera pixels into labeled boxes with a host-side neural network.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C5563-83DC-4A19-BF3F-921D9B3F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54"/>
          </a:solidFill>
          <a:ln xmlns:a="http://schemas.openxmlformats.org/drawingml/2006/main" w="14288">
            <a:solidFill>
              <a:srgbClr val="1236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COCO-SSD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050A8-296E-494F-A1F1-D727745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72100"/>
            <a:ext cx="13620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54"/>
          </a:solidFill>
          <a:ln xmlns:a="http://schemas.openxmlformats.org/drawingml/2006/main" w="14288">
            <a:solidFill>
              <a:srgbClr val="1236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MOBILENETV2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FB32A-59BC-4683-8C9C-D0AF8DB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3721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BOUNDING BOXES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5285C-0FC2-4EE5-98AD-598B2017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56E"/>
          </a:solidFill>
          <a:ln xmlns:a="http://schemas.openxmlformats.org/drawingml/2006/main" w="0">
            <a:solidFill>
              <a:srgbClr val="3355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4B1EC-344C-48D9-8BFE-3FDBBA53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FBC"/>
                </a:solidFill>
              </a:defRPr>
            </a:pPr>
            <a:r>
              <a:rPr sz="750">
                <a:solidFill>
                  <a:srgbClr val="94AFBC"/>
                </a:solidFill>
              </a:rPr>
              <a:t>DECK 06  |  OBJECT DETECTION</a:t>
            </a:r>
          </a:p>
        </p:txBody>
      </p:sp>
    </p:spTree>
    <p:extLst>
      <p:ext uri="{BB962C8B-B14F-4D97-AF65-F5344CB8AC3E}">
        <p14:creationId xmlns:p14="http://schemas.microsoft.com/office/powerpoint/2010/main" val="16524589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aa839d5e843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AC493-F5C3-45D9-8D45-B9771DB3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C30AA-A508-4AFC-A9EC-162DBC91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008C95"/>
                </a:solidFill>
              </a:defRPr>
            </a:pPr>
            <a:r>
              <a:rPr sz="750" b="1">
                <a:solidFill>
                  <a:srgbClr val="008C95"/>
                </a:solidFill>
              </a:rPr>
              <a:t>OBJECT DETECTION /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450D8-03D6-4068-8811-D2CEB9BB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960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0">
            <a:solidFill>
              <a:srgbClr val="EE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C44A8-E64D-4583-B1AD-74B7276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72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047942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A14FA6-D43E-4F52-91D0-90F47D92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745A5-ABF8-493A-B61D-B0227758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FFE02-B55C-44C7-95DE-7BF4CA66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OBJECT DETECTION /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CCA7E-126F-4638-ADF0-512E809F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TRAINING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D17B0-128A-457A-ACCA-668EE90D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COCO: common objects pictured in real context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bd2a576f94750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4BD1D-B843-4251-89DD-E209E7C9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C8052-168E-4FBC-B926-88BE0901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A0B98-58B4-4857-8E40-1446B0CD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3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B06DF-18C7-4DA1-ACE7-58748FF3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EABBC-CA89-43C6-B066-AF4671DF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330K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B1CD7-9F99-4EA9-9179-8E939B71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IMAGES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79DCD-902B-4184-AF34-CD3C271D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5AA8C-24FB-44A7-A50D-09F0D70B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43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&gt;200K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363AC-29AF-4460-84CD-7155F7A3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19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LABELED IMAGES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9199E-D4B6-4095-9071-8BF1F9B7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AAADA-8836-4471-8185-1C0AB1C7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1.5M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6749A-2810-48F7-A175-972D0958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19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OBJECT INSTANCES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A99F4-4982-413F-9FB0-5E17273A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08640-DE6D-4BF2-9DEA-0BA24A9B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43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4C02D-AE18-4C8C-8D82-57C18891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19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OBJECT CATEGORIES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4E4D3-1055-4650-ADBA-32C7CF44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572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948EA-1B7E-49A2-B1B9-3B6BB02D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782FC-684C-4FE2-A032-A16559A5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15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Why “in context”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BB2E1C-4210-41F5-9D37-FEFCA6D6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6153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Scenes contain multiple objects, clutter, overlap, and non-iconic viewpoints.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Annotations include bounding boxes and segmentation masks—not only image labels.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The 80 detector classes cover everyday categories such as person, car, truck, stop sign, chair, laptop, bottle, and sports ball.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8C1D7-D0EB-46AC-9574-692B315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376237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7994C-F3F0-47A1-92BE-E3AC2FB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84D75-3D8D-4B8F-BC3F-7CE715C5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38500"/>
            <a:ext cx="3343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What COCO does not guarantee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DEA48B-A048-4719-992F-5C28F459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29025"/>
            <a:ext cx="33432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A class outside the 80-label vocabulary cannot be named.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A familiar class may still be missed when it is tiny, blurred, occluded, or viewed unlike the training data.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A confidence score is a model score—not certainty.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3E794-E48D-4DAC-8C44-4807B07C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91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1B3A"/>
                </a:solidFill>
              </a:defRPr>
            </a:pPr>
            <a:r>
              <a:rPr sz="1575" b="1">
                <a:solidFill>
                  <a:srgbClr val="001B3A"/>
                </a:solidFill>
              </a:rPr>
              <a:t>Dataset scale creates breadth; classroom testing reveals the limits.</a:t>
            </a:r>
          </a:p>
        </p:txBody>
      </p:sp>
    </p:spTree>
    <p:extLst>
      <p:ext uri="{BB962C8B-B14F-4D97-AF65-F5344CB8AC3E}">
        <p14:creationId xmlns:p14="http://schemas.microsoft.com/office/powerpoint/2010/main" val="1746748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99DC513-F0E6-4206-86D1-61C180A3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B0732-E4E6-4CF0-83B0-2F685901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E9A1E-9055-43EF-A028-E2113025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OBJECT DETECTION /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17F7E-229A-4496-9858-E34B2C9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DEFAULT NEURAL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DE18E-1F2F-4330-8321-A709549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Inside the shipped COCO-SSD detector</a:t>
            </a:r>
          </a:p>
        </p:txBody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162041e3459e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D26A3-5AC5-4BA1-AB0E-C609277F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915FA-67D4-4FAF-8744-46DD1341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F302A-CADE-4A22-ACB9-E6D9D365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4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B7780-97C2-4A8C-9993-233FE8BE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19200"/>
            <a:ext cx="3409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F5C"/>
          </a:solidFill>
          <a:ln xmlns:a="http://schemas.openxmlformats.org/drawingml/2006/main" w="14288">
            <a:solidFill>
              <a:srgbClr val="D94F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HOST-SIDE · NOT ONBOARD THE QUAD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AE51E-8AF5-4237-AFAF-6966340B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676400" cy="31051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2D1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A5DB7-DEC5-4BAC-B374-C0C9D857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CAMERA PIXELS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4BEFF-C3CE-477A-8CC9-863B6B4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92CE3-D2E8-45A2-A555-7E5CF3CD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CDEB7-02FF-4307-8AEE-27538483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47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CA684-100E-42EF-98E6-F495F1C2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47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01259-495B-40DA-B287-083692D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47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0409B-E13D-4B52-83F5-E52E6CA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47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C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77CAE-CD44-4248-91AF-2A96F518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1A385-E110-4351-AC8F-DABD9734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38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5A5C6-2C34-43DC-9B9A-5AE7717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38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CD7E6-5C46-46F9-8DBB-17D646D3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38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FE54E-FA8D-4F43-8260-3F6F4D65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38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30D8D-E41A-4024-8079-2E48F311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38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18FB1-3F29-4CD8-8454-4035A562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AB569-DBB7-415F-AA6C-E0DF7E64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BC02F-3BE2-4BD0-B8CD-5FBDA4B0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28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D34CB-AF21-4A2B-9672-83DA94D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28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995E2-E8A9-438A-B083-41F2003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28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B0EF30-4601-4034-889B-8E2F978B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28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CE4DF0-F857-471B-98F0-DECB7EC5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6035A9-A56F-42A9-9213-D5CA9E0A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5E186F-4F4C-45FB-B7CE-44123C4E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19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2C7C58-6F30-4915-A304-27FC43E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19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49C61-9BE8-4B23-B3B2-FB38C29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19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44601C-1D9B-473D-8A30-3334AD02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19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ABF09D-7463-43EF-BA55-2F247F20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F497BD-64E5-4474-9709-4EACDA4D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9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6BFFA0-2A92-46C8-8228-468BF121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9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61DF39-2B35-40F0-9C69-40AC2170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9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27FE1E-BF14-481F-8D71-425AEDE4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09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7539EF-B01B-4B86-A1E3-7E3CE32C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09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CEC418-8F44-42EA-8296-647681D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8D0B5D-7639-477A-8CCD-4415042C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104B5B-B06B-4FCC-8F77-D381D7A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70008B-7D8F-4A68-8665-7F7F8F5A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DFDD86-ABDB-41DD-9677-41C3CA36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CA4E0F-3AF9-4E49-941C-27BCFF1D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0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994FB0-D387-4975-AE5D-DBE9EEF1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37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Canvas capture</a:t>
            </a:r>
          </a:p>
          <a:p xmlns:a="http://schemas.openxmlformats.org/drawingml/2006/main">
            <a:pPr algn="ctr"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≤ 420 px wide</a:t>
            </a:r>
          </a:p>
          <a:p xmlns:a="http://schemas.openxmlformats.org/drawingml/2006/main">
            <a:pPr algn="ctr"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[1, H, W, 3] RGB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F7F042-E0EF-4EBE-84D1-2BA1535D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66850"/>
            <a:ext cx="2857500" cy="31051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62B4D"/>
          </a:solidFill>
          <a:ln xmlns:a="http://schemas.openxmlformats.org/drawingml/2006/main" w="14288">
            <a:solidFill>
              <a:srgbClr val="062B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9C43F6-3654-4D96-8BAF-630DB7F4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57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B8B4"/>
                </a:solidFill>
              </a:defRPr>
            </a:pPr>
            <a:r>
              <a:rPr sz="1275" b="1">
                <a:solidFill>
                  <a:srgbClr val="14B8B4"/>
                </a:solidFill>
              </a:rPr>
              <a:t>SSDLITE MOBILENETV2 300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E1730D-5C85-41F2-AD60-3AE5A7F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19300"/>
            <a:ext cx="2400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A227"/>
          </a:solidFill>
          <a:ln xmlns:a="http://schemas.openxmlformats.org/drawingml/2006/main" w="14288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INTERNAL TENSOR · 300×300×3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A96070-5BFF-4904-BF95-AD317F9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F6EC51-8DAE-499C-83A8-8D342F66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4E86B5-D06D-4965-85D8-7C8636C4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71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738212-E5C8-49B7-BED5-AA51B3A3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5B09BD-9B0F-407B-B935-8EA5789C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953E01-C9EA-445C-B6E0-BBD0D570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81D22E-85E0-4A3C-BF9E-29110EA5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950952-4162-4427-9209-FEB79945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CF4FAB-D02C-404C-96D4-A6D6687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B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BB58D6-81AD-4B3B-9FE9-1AA8E2E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AB5F2A-67F4-42C9-8040-57B74CC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BDE710-7D2E-46FF-815B-14D149BC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71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B7639B-7A66-4E73-A108-F6FA30BC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3E1125-0946-4DA7-BC98-B82089F7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33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8EB724-252A-44EE-93D3-DEA66E08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D86851-7D9D-40F2-822A-B8C1CB69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71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58183D-71B6-4179-853D-4400A355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ED43EB-8959-4F6F-AA27-4EDF55A5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4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 flipV="1">
            <a:off x="3000375" y="24050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6966C4-3085-48A1-8D45-2440E40C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8B874A-6F63-4B5E-9ED2-DA290643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51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000375" y="26146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3DE6CC-D9A9-45C7-89F8-EFC3C3BC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7795BE-2425-4062-B0E4-4209FB7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54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2995613" y="261937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C83AD9-3EDD-4B70-83FB-C125539F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4FE06E-4541-4F77-8573-44BE9C84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57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2995613" y="261937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AC88B47-DA98-4C88-B28B-035210DF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56A284A-4C16-4655-90BC-02D442C8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60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995613" y="2619375"/>
            <a:ext cx="609600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2A2117-1336-4BE9-93C7-B5B6AF84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B95AEB8-D6BC-44BD-BF1A-9F923201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63" name=""/>
          <p:cNvCxnSpPr>
            <a:stCxn xmlns:a="http://schemas.openxmlformats.org/drawingml/2006/main" id="84" idx="0"/>
            <a:endCxn xmlns:a="http://schemas.openxmlformats.org/drawingml/2006/main" id="85" idx="2"/>
          </p:cNvCxnSpPr>
          <p:nvPr/>
        </p:nvCxnSpPr>
        <p:spPr>
          <a:xfrm xmlns:a="http://schemas.openxmlformats.org/drawingml/2006/main" flipV="1">
            <a:off x="2995613" y="240982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683FEC-8424-496B-AEDA-C8A26715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5A9105-8A65-4132-BF90-0CAD75C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66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 flipV="1">
            <a:off x="3000375" y="28241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1F5445-6114-43C5-9EE0-2D3D8CEA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858AE5-D6E4-4293-97BB-47012CD5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69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000375" y="30337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DD3E288-D0A0-42DB-9610-D27098C2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45AF0B1-3C98-4FF4-B9F9-D75B59B4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72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2995613" y="303847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83EE09D-6146-42EA-9223-1A207600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4E9458D-B359-42D7-B028-F977533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75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2995613" y="303847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0BA074E-5520-4D2A-963F-673BF0F4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F0E794-7C3D-45CD-AFD6-DFC8126F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78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2995613" y="240982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BD380E-603E-4073-9E2A-1EEC8562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9A1084-1AA2-4752-AAC5-3B3A722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81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2995613" y="282892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DCAF614-5DFF-41DB-8E4D-466DF6E1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5E1FD9-E7EE-4E3C-AAED-599CF55A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84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 flipV="1">
            <a:off x="3000375" y="32432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EE3BDC-81A8-4A59-9469-06DA50FC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9BCE00-C2E1-429C-B41A-474C57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87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3000375" y="34528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33E4AE2-5312-4C4B-B305-02F55996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DD0AD1-8AA9-4741-BD20-AAFB6945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90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2995613" y="345757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CEB305A-1BE0-4098-8E57-1A00547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EA018F-A191-4067-BC27-5F23801C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93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2995613" y="2409825"/>
            <a:ext cx="609600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BC46746-84BE-441B-9B2B-A7C5336B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8A49A9-EBDD-48F1-A57B-141033B2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96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2995613" y="282892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2CDD702-B5F4-4827-823B-8FE217C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3BEE6E6-BB90-4EB6-B018-251ED183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399" name=""/>
          <p:cNvCxnSpPr>
            <a:stCxn xmlns:a="http://schemas.openxmlformats.org/drawingml/2006/main" id="120" idx="0"/>
            <a:endCxn xmlns:a="http://schemas.openxmlformats.org/drawingml/2006/main" id="121" idx="2"/>
          </p:cNvCxnSpPr>
          <p:nvPr/>
        </p:nvCxnSpPr>
        <p:spPr>
          <a:xfrm xmlns:a="http://schemas.openxmlformats.org/drawingml/2006/main" flipV="1">
            <a:off x="2995613" y="324802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D8570CE-D816-4C28-AE73-51673B73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6133176-DCF9-4A69-AD41-4F1359FC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02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 flipV="1">
            <a:off x="3000375" y="36623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089E244-1B55-436A-A774-35B3331B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BC80C40-7F50-49B7-ABCA-8C061C46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05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3000375" y="38719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B9C7495-1799-4D85-9C7A-7E899164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B710C00-4BE4-4EE0-B105-B018A176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08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3609975" y="24050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68E8D78-369B-4578-B930-590A0AF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E054A47-FAF3-4CE8-8C2F-CB65231E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11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3605213" y="240982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ADF552E-3C4D-40F5-921E-16D5EDCE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D141CC4-31D4-4638-8418-F8C3ED5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14" name=""/>
          <p:cNvCxnSpPr>
            <a:stCxn xmlns:a="http://schemas.openxmlformats.org/drawingml/2006/main" id="135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3605213" y="240982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6813134-9D6B-4FD7-8FFE-AF598E89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3F92590-44E2-4066-A247-6E25CF6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17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3605213" y="2409825"/>
            <a:ext cx="609600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A4D3428-B22E-4F0D-8DF1-F3D2FAC6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27DF7B2-0CE7-4C4E-97A2-98279D1F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20" name=""/>
          <p:cNvCxnSpPr>
            <a:stCxn xmlns:a="http://schemas.openxmlformats.org/drawingml/2006/main" id="141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 flipV="1">
            <a:off x="3609975" y="26146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06EE347-ED61-4045-AC60-868D0FC7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8E205C7-6B51-4510-BB5C-81F87B00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23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3609975" y="28241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1684C0-4423-4722-A568-7A32A41E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9808ABF-C6BE-4A45-A76E-DA8C253F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26" name=""/>
          <p:cNvCxnSpPr>
            <a:stCxn xmlns:a="http://schemas.openxmlformats.org/drawingml/2006/main" id="147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3605213" y="282892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D7C6959-1F98-46D6-AD6A-B8F6D950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D167918-BA99-4DF6-8FBD-F625FA0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29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3605213" y="282892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CC6FC00-BB72-4C74-A374-B792110D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DC767C4-2967-43CC-9F28-9E35EA2C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32" name=""/>
          <p:cNvCxnSpPr>
            <a:stCxn xmlns:a="http://schemas.openxmlformats.org/drawingml/2006/main" id="153" idx="0"/>
            <a:endCxn xmlns:a="http://schemas.openxmlformats.org/drawingml/2006/main" id="154" idx="2"/>
          </p:cNvCxnSpPr>
          <p:nvPr/>
        </p:nvCxnSpPr>
        <p:spPr>
          <a:xfrm xmlns:a="http://schemas.openxmlformats.org/drawingml/2006/main" flipV="1">
            <a:off x="3605213" y="261937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81962FD-0CD0-4523-A6C3-3A187073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882C12C-50DC-415F-8076-18FD62FF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35" name=""/>
          <p:cNvCxnSpPr>
            <a:stCxn xmlns:a="http://schemas.openxmlformats.org/drawingml/2006/main" id="156" idx="3"/>
            <a:endCxn xmlns:a="http://schemas.openxmlformats.org/drawingml/2006/main" id="157" idx="1"/>
          </p:cNvCxnSpPr>
          <p:nvPr/>
        </p:nvCxnSpPr>
        <p:spPr>
          <a:xfrm xmlns:a="http://schemas.openxmlformats.org/drawingml/2006/main" flipV="1">
            <a:off x="3609975" y="30337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40BEFD3-EEA2-4BF4-B4A2-7224234D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4A77D4E-CAEF-44F8-A1E8-58E88DC9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38" name=""/>
          <p:cNvCxnSpPr>
            <a:stCxn xmlns:a="http://schemas.openxmlformats.org/drawingml/2006/main" id="159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3609975" y="32432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2D5BFCB-7140-4909-A639-5D67D1CC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6D53307-F577-47E9-9AFE-5DBB6955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41" name=""/>
          <p:cNvCxnSpPr>
            <a:stCxn xmlns:a="http://schemas.openxmlformats.org/drawingml/2006/main" id="162" idx="2"/>
            <a:endCxn xmlns:a="http://schemas.openxmlformats.org/drawingml/2006/main" id="163" idx="0"/>
          </p:cNvCxnSpPr>
          <p:nvPr/>
        </p:nvCxnSpPr>
        <p:spPr>
          <a:xfrm xmlns:a="http://schemas.openxmlformats.org/drawingml/2006/main">
            <a:off x="3605213" y="324802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4CB65FC-DD4E-48EE-9162-E4D90BBF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7F0DE3A-6648-4036-8537-DCA65913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44" name=""/>
          <p:cNvCxnSpPr>
            <a:stCxn xmlns:a="http://schemas.openxmlformats.org/drawingml/2006/main" id="165" idx="0"/>
            <a:endCxn xmlns:a="http://schemas.openxmlformats.org/drawingml/2006/main" id="166" idx="2"/>
          </p:cNvCxnSpPr>
          <p:nvPr/>
        </p:nvCxnSpPr>
        <p:spPr>
          <a:xfrm xmlns:a="http://schemas.openxmlformats.org/drawingml/2006/main" flipV="1">
            <a:off x="3605213" y="261937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622BDFF-082F-490E-B5CA-9858B8AD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A8BAA17-A19E-4A34-8BDC-54CA6F67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47" name=""/>
          <p:cNvCxnSpPr>
            <a:stCxn xmlns:a="http://schemas.openxmlformats.org/drawingml/2006/main" id="168" idx="0"/>
            <a:endCxn xmlns:a="http://schemas.openxmlformats.org/drawingml/2006/main" id="169" idx="2"/>
          </p:cNvCxnSpPr>
          <p:nvPr/>
        </p:nvCxnSpPr>
        <p:spPr>
          <a:xfrm xmlns:a="http://schemas.openxmlformats.org/drawingml/2006/main" flipV="1">
            <a:off x="3605213" y="303847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1FB6992-DF01-4094-9960-E7CC0198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E95BFF0-8BEF-4157-AE05-9E5245B3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50" name=""/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 flipV="1">
            <a:off x="3609975" y="34528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734AD50-244E-4289-AB46-7E6F57AC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490E3AE-B046-44CD-AA16-4F235318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53" name=""/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3609975" y="36623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7907E4D-E2B8-4AB3-B99D-15CEC0B2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4DCF765-C09E-450D-84CC-3CC59E81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56" name=""/>
          <p:cNvCxnSpPr>
            <a:stCxn xmlns:a="http://schemas.openxmlformats.org/drawingml/2006/main" id="177" idx="0"/>
            <a:endCxn xmlns:a="http://schemas.openxmlformats.org/drawingml/2006/main" id="178" idx="2"/>
          </p:cNvCxnSpPr>
          <p:nvPr/>
        </p:nvCxnSpPr>
        <p:spPr>
          <a:xfrm xmlns:a="http://schemas.openxmlformats.org/drawingml/2006/main" flipV="1">
            <a:off x="3605213" y="2619375"/>
            <a:ext cx="609600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EE20346-2898-45D7-924F-5CA626F3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1A0D26E-C2A9-4626-BA87-34D747F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59" name=""/>
          <p:cNvCxnSpPr>
            <a:stCxn xmlns:a="http://schemas.openxmlformats.org/drawingml/2006/main" id="180" idx="0"/>
            <a:endCxn xmlns:a="http://schemas.openxmlformats.org/drawingml/2006/main" id="181" idx="2"/>
          </p:cNvCxnSpPr>
          <p:nvPr/>
        </p:nvCxnSpPr>
        <p:spPr>
          <a:xfrm xmlns:a="http://schemas.openxmlformats.org/drawingml/2006/main" flipV="1">
            <a:off x="3605213" y="303847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701E496-A401-43AB-A64F-7F0D9E51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207470C-90CD-4939-863E-CDD3887B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62" name=""/>
          <p:cNvCxnSpPr>
            <a:stCxn xmlns:a="http://schemas.openxmlformats.org/drawingml/2006/main" id="183" idx="0"/>
            <a:endCxn xmlns:a="http://schemas.openxmlformats.org/drawingml/2006/main" id="184" idx="2"/>
          </p:cNvCxnSpPr>
          <p:nvPr/>
        </p:nvCxnSpPr>
        <p:spPr>
          <a:xfrm xmlns:a="http://schemas.openxmlformats.org/drawingml/2006/main" flipV="1">
            <a:off x="3605213" y="345757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25402EA-568B-4B79-978F-24953C9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0170F77-4B13-46C1-AD38-300C7851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65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 flipV="1">
            <a:off x="3609975" y="38719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4106ABB-3E00-4CBD-BDD9-967D1C32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2569211-6040-4DDA-9EAE-85428320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68" name=""/>
          <p:cNvCxnSpPr>
            <a:stCxn xmlns:a="http://schemas.openxmlformats.org/drawingml/2006/main" id="189" idx="3"/>
            <a:endCxn xmlns:a="http://schemas.openxmlformats.org/drawingml/2006/main" id="190" idx="1"/>
          </p:cNvCxnSpPr>
          <p:nvPr/>
        </p:nvCxnSpPr>
        <p:spPr>
          <a:xfrm xmlns:a="http://schemas.openxmlformats.org/drawingml/2006/main">
            <a:off x="4219575" y="26146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A7C3859-68D4-45CA-B26F-9677EA5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F9E574E-F41A-4BA8-AE7F-26A4727F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71" name=""/>
          <p:cNvCxnSpPr>
            <a:stCxn xmlns:a="http://schemas.openxmlformats.org/drawingml/2006/main" id="192" idx="2"/>
            <a:endCxn xmlns:a="http://schemas.openxmlformats.org/drawingml/2006/main" id="193" idx="0"/>
          </p:cNvCxnSpPr>
          <p:nvPr/>
        </p:nvCxnSpPr>
        <p:spPr>
          <a:xfrm xmlns:a="http://schemas.openxmlformats.org/drawingml/2006/main">
            <a:off x="4214813" y="261937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12C6327-9FF2-426D-9D71-D84023A6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098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FADE575-6C46-48BD-B0E3-4BDBB0F3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74" name=""/>
          <p:cNvCxnSpPr>
            <a:stCxn xmlns:a="http://schemas.openxmlformats.org/drawingml/2006/main" id="195" idx="2"/>
            <a:endCxn xmlns:a="http://schemas.openxmlformats.org/drawingml/2006/main" id="196" idx="0"/>
          </p:cNvCxnSpPr>
          <p:nvPr/>
        </p:nvCxnSpPr>
        <p:spPr>
          <a:xfrm xmlns:a="http://schemas.openxmlformats.org/drawingml/2006/main">
            <a:off x="4214813" y="261937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1057AA4-1A3A-4D94-9233-10AEEE4C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00AD421-5064-4011-BB18-C1534113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77" name=""/>
          <p:cNvCxnSpPr>
            <a:stCxn xmlns:a="http://schemas.openxmlformats.org/drawingml/2006/main" id="198" idx="3"/>
            <a:endCxn xmlns:a="http://schemas.openxmlformats.org/drawingml/2006/main" id="199" idx="1"/>
          </p:cNvCxnSpPr>
          <p:nvPr/>
        </p:nvCxnSpPr>
        <p:spPr>
          <a:xfrm xmlns:a="http://schemas.openxmlformats.org/drawingml/2006/main" flipV="1">
            <a:off x="4219575" y="28241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EB2212A-4A85-4A31-953E-834A400F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79B27B8-26DB-4EB4-83C4-07A7F3A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80" name=""/>
          <p:cNvCxnSpPr>
            <a:stCxn xmlns:a="http://schemas.openxmlformats.org/drawingml/2006/main" id="201" idx="3"/>
            <a:endCxn xmlns:a="http://schemas.openxmlformats.org/drawingml/2006/main" id="202" idx="1"/>
          </p:cNvCxnSpPr>
          <p:nvPr/>
        </p:nvCxnSpPr>
        <p:spPr>
          <a:xfrm xmlns:a="http://schemas.openxmlformats.org/drawingml/2006/main">
            <a:off x="4219575" y="30337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109FF064-0A2D-4D15-9E59-FB05FC9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EBCC904-D6A0-447E-A729-1B739FFB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83" name=""/>
          <p:cNvCxnSpPr>
            <a:stCxn xmlns:a="http://schemas.openxmlformats.org/drawingml/2006/main" id="204" idx="2"/>
            <a:endCxn xmlns:a="http://schemas.openxmlformats.org/drawingml/2006/main" id="205" idx="0"/>
          </p:cNvCxnSpPr>
          <p:nvPr/>
        </p:nvCxnSpPr>
        <p:spPr>
          <a:xfrm xmlns:a="http://schemas.openxmlformats.org/drawingml/2006/main">
            <a:off x="4214813" y="303847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6C7CA688-4CB5-411D-80F7-55638961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7DBD4FB-5AB2-438E-A7B5-E3104813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86" name=""/>
          <p:cNvCxnSpPr>
            <a:stCxn xmlns:a="http://schemas.openxmlformats.org/drawingml/2006/main" id="207" idx="0"/>
            <a:endCxn xmlns:a="http://schemas.openxmlformats.org/drawingml/2006/main" id="208" idx="2"/>
          </p:cNvCxnSpPr>
          <p:nvPr/>
        </p:nvCxnSpPr>
        <p:spPr>
          <a:xfrm xmlns:a="http://schemas.openxmlformats.org/drawingml/2006/main" flipV="1">
            <a:off x="4214813" y="282892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70EB355-9ECC-41C2-AAFF-343540F4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337B4AC-F852-4893-89F8-EAE7BFD3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89" name=""/>
          <p:cNvCxnSpPr>
            <a:stCxn xmlns:a="http://schemas.openxmlformats.org/drawingml/2006/main" id="210" idx="3"/>
            <a:endCxn xmlns:a="http://schemas.openxmlformats.org/drawingml/2006/main" id="211" idx="1"/>
          </p:cNvCxnSpPr>
          <p:nvPr/>
        </p:nvCxnSpPr>
        <p:spPr>
          <a:xfrm xmlns:a="http://schemas.openxmlformats.org/drawingml/2006/main" flipV="1">
            <a:off x="4219575" y="32432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B846258-FCD5-42D3-AA9D-BAF16BF6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9C7C8BA-BE1A-493B-B436-A1647BBB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92" name=""/>
          <p:cNvCxnSpPr>
            <a:stCxn xmlns:a="http://schemas.openxmlformats.org/drawingml/2006/main" id="213" idx="3"/>
            <a:endCxn xmlns:a="http://schemas.openxmlformats.org/drawingml/2006/main" id="214" idx="1"/>
          </p:cNvCxnSpPr>
          <p:nvPr/>
        </p:nvCxnSpPr>
        <p:spPr>
          <a:xfrm xmlns:a="http://schemas.openxmlformats.org/drawingml/2006/main">
            <a:off x="4219575" y="345281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71A7AA9D-C694-4A4C-B5CB-8C823BE7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02A47FB-85CC-4DCE-8705-8E2CE99C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95" name=""/>
          <p:cNvCxnSpPr>
            <a:stCxn xmlns:a="http://schemas.openxmlformats.org/drawingml/2006/main" id="216" idx="0"/>
            <a:endCxn xmlns:a="http://schemas.openxmlformats.org/drawingml/2006/main" id="217" idx="2"/>
          </p:cNvCxnSpPr>
          <p:nvPr/>
        </p:nvCxnSpPr>
        <p:spPr>
          <a:xfrm xmlns:a="http://schemas.openxmlformats.org/drawingml/2006/main" flipV="1">
            <a:off x="4214813" y="2828925"/>
            <a:ext cx="6096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DED4117-8C2A-44D4-B2DC-4F011DBC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52D88DB-2220-42C1-8B64-5A95500F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385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498" name=""/>
          <p:cNvCxnSpPr>
            <a:stCxn xmlns:a="http://schemas.openxmlformats.org/drawingml/2006/main" id="219" idx="0"/>
            <a:endCxn xmlns:a="http://schemas.openxmlformats.org/drawingml/2006/main" id="220" idx="2"/>
          </p:cNvCxnSpPr>
          <p:nvPr/>
        </p:nvCxnSpPr>
        <p:spPr>
          <a:xfrm xmlns:a="http://schemas.openxmlformats.org/drawingml/2006/main" flipV="1">
            <a:off x="4214813" y="3248025"/>
            <a:ext cx="6096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AA4A6E9-05A4-4825-B5C1-A8CBF36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6715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20EC7DC-D0B8-4646-B1B7-863789A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501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 flipV="1">
            <a:off x="4219575" y="3662363"/>
            <a:ext cx="6000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1ABB8"/>
            </a:solidFill>
            <a:prstDash val="solid"/>
          </a:ln>
        </p:spPr>
      </p:cxn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C57B84A-318C-4585-AD18-924C9B3F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D3E5EA"/>
                </a:solidFill>
              </a:defRPr>
            </a:pPr>
            <a:r>
              <a:rPr sz="975">
                <a:solidFill>
                  <a:srgbClr val="D3E5EA"/>
                </a:solidFill>
              </a:rPr>
              <a:t>Depthwise + inverted-residual</a:t>
            </a:r>
          </a:p>
          <a:p xmlns:a="http://schemas.openxmlformats.org/drawingml/2006/main">
            <a:pPr algn="ctr">
              <a:defRPr sz="975">
                <a:solidFill>
                  <a:srgbClr val="D3E5EA"/>
                </a:solidFill>
              </a:defRPr>
            </a:pPr>
            <a:r>
              <a:rPr sz="975">
                <a:solidFill>
                  <a:srgbClr val="D3E5EA"/>
                </a:solidFill>
              </a:rPr>
              <a:t>convolutional feature extractor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6508C6E-658F-4911-B021-B0B40105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66850"/>
            <a:ext cx="2647950" cy="31051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2D1D8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E340193-FF03-483E-B49D-9F616991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573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SIX FEATURE MAPS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761E7B6-1D44-4770-B1CF-EF0A163B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6B54BC2-14DE-47B2-86C9-D316C37E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85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19×19×576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89D5B70-92F3-4147-9EE3-5AA12D6A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859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3 anchors/cell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09476F5-D53A-4D62-BC39-D7B30BF3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1935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CF"/>
          </a:solidFill>
          <a:ln xmlns:a="http://schemas.openxmlformats.org/drawingml/2006/main" w="9525">
            <a:solidFill>
              <a:srgbClr val="C9A227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0D0EF0E-54A6-4628-B2D1-B1519B84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66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10×10×1280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AB56A2E-1049-4A08-9F3A-A682285C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669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6 anchors/cell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A561789-237D-4A10-8E26-09E2C76E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2CFB82E-C53E-4DD2-B591-9D7449CE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5×5×512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17BBC61-8045-4DF5-AAEC-AEFE2BA6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479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6 anchors/cell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FEE4B7F-1E92-445B-B374-DB030FD0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813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CF"/>
          </a:solidFill>
          <a:ln xmlns:a="http://schemas.openxmlformats.org/drawingml/2006/main" w="9525">
            <a:solidFill>
              <a:srgbClr val="C9A227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BA1ADC8-C1F9-4CB4-AC07-6D093B4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28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3×3×256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CC373E1-DC76-471F-A07B-20C9D331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289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6 anchors/cell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ABFA0AB-98DF-4A56-85F7-76E1E05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62350"/>
            <a:ext cx="1981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1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3783A54-234E-4EEC-AD99-E12CC02E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9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2×2×256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9B9CEAB-F20B-4E12-A743-0F175925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99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6 anchors/cell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9CD2093-5E55-4BC9-878A-C565DCEB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43350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CF"/>
          </a:solidFill>
          <a:ln xmlns:a="http://schemas.openxmlformats.org/drawingml/2006/main" w="9525">
            <a:solidFill>
              <a:srgbClr val="C9A227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6727AA8-6ED6-4CC6-96C1-3C6FC58F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90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1B3A"/>
                </a:solidFill>
              </a:defRPr>
            </a:pPr>
            <a:r>
              <a:rPr sz="1050" b="1">
                <a:solidFill>
                  <a:srgbClr val="001B3A"/>
                </a:solidFill>
              </a:rPr>
              <a:t>1×1×128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0436066-625E-47B8-8D47-9087DFC2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90975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36A7B"/>
                </a:solidFill>
              </a:defRPr>
            </a:pPr>
            <a:r>
              <a:rPr sz="900">
                <a:solidFill>
                  <a:srgbClr val="536A7B"/>
                </a:solidFill>
              </a:rPr>
              <a:t>6 anchors/cell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CF9BADD-3E02-4530-B507-7277C4CA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66850"/>
            <a:ext cx="2914650" cy="31051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30C1605-787E-4F7C-B697-38D9E371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A227"/>
                </a:solidFill>
              </a:defRPr>
            </a:pPr>
            <a:r>
              <a:rPr sz="1275" b="1">
                <a:solidFill>
                  <a:srgbClr val="C9A227"/>
                </a:solidFill>
              </a:rPr>
              <a:t>BOX + CLASS HEADS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F80A495-337A-4F2B-85DD-147B2247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383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D042468-677A-43EA-9B0D-9F2B87E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02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1,917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2E092FD-ED06-46DB-A557-63E16354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76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CANDIDATE ANCHORS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C449742-C8C3-4ADF-9483-B206C8B2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57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Each anchor predicts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36F85BD-374B-4342-A540-FED1DA16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433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B8B4"/>
                </a:solidFill>
              </a:defRPr>
            </a:pPr>
            <a:r>
              <a:rPr sz="1275" b="1">
                <a:solidFill>
                  <a:srgbClr val="14B8B4"/>
                </a:solidFill>
              </a:rPr>
              <a:t>4 box offsets + 91 logits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A618D72-9BEC-4C37-8209-F1482D5C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D4E5EA"/>
                </a:solidFill>
              </a:defRPr>
            </a:pPr>
            <a:r>
              <a:rPr sz="1050">
                <a:solidFill>
                  <a:srgbClr val="D4E5EA"/>
                </a:solidFill>
              </a:rPr>
              <a:t>JavaScript NMS → ≤10 boxes</a:t>
            </a:r>
          </a:p>
          <a:p xmlns:a="http://schemas.openxmlformats.org/drawingml/2006/main">
            <a:pPr algn="ctr">
              <a:defRPr sz="1050">
                <a:solidFill>
                  <a:srgbClr val="D4E5EA"/>
                </a:solidFill>
              </a:defRPr>
            </a:pPr>
            <a:r>
              <a:rPr sz="1050">
                <a:solidFill>
                  <a:srgbClr val="D4E5EA"/>
                </a:solidFill>
              </a:rPr>
              <a:t>80 named COCO classes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8361C7A-8FC5-4B93-AD9A-1AEB3831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99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C8E17F7-C7A6-4FC1-B396-7D875462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099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533" name=""/>
          <p:cNvCxnSpPr>
            <a:stCxn xmlns:a="http://schemas.openxmlformats.org/drawingml/2006/main" id="254" idx="3"/>
            <a:endCxn xmlns:a="http://schemas.openxmlformats.org/drawingml/2006/main" id="255" idx="1"/>
          </p:cNvCxnSpPr>
          <p:nvPr/>
        </p:nvCxnSpPr>
        <p:spPr>
          <a:xfrm xmlns:a="http://schemas.openxmlformats.org/drawingml/2006/main">
            <a:off x="2200275" y="30194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241CEA0-CF57-4162-8BB1-C13FF689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0099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F863DE5-54A4-4CB0-B3EF-C039812B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099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536" name=""/>
          <p:cNvCxnSpPr>
            <a:stCxn xmlns:a="http://schemas.openxmlformats.org/drawingml/2006/main" id="257" idx="3"/>
            <a:endCxn xmlns:a="http://schemas.openxmlformats.org/drawingml/2006/main" id="258" idx="1"/>
          </p:cNvCxnSpPr>
          <p:nvPr/>
        </p:nvCxnSpPr>
        <p:spPr>
          <a:xfrm xmlns:a="http://schemas.openxmlformats.org/drawingml/2006/main">
            <a:off x="5381625" y="30194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6D36D6E-8587-440E-8A54-C5D1C278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99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F0DECCAF-8BF3-429E-9DBE-405494AC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09900"/>
            <a:ext cx="19050" cy="19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cxnSp>
        <p:nvCxnSpPr>
          <p:cNvPr id="539" name=""/>
          <p:cNvCxnSpPr>
            <a:stCxn xmlns:a="http://schemas.openxmlformats.org/drawingml/2006/main" id="260" idx="3"/>
            <a:endCxn xmlns:a="http://schemas.openxmlformats.org/drawingml/2006/main" id="261" idx="1"/>
          </p:cNvCxnSpPr>
          <p:nvPr/>
        </p:nvCxnSpPr>
        <p:spPr>
          <a:xfrm xmlns:a="http://schemas.openxmlformats.org/drawingml/2006/main">
            <a:off x="8353425" y="30194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C95"/>
            </a:solidFill>
            <a:prstDash val="solid"/>
            <a:tailEnd type="triangle" w="med" len="med"/>
          </a:ln>
        </p:spPr>
      </p:cxn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896B78F-CA26-4EFF-B01C-A626304E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200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3950841-C415-4BC6-B48C-EE659867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300×300×3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641D980C-4F7D-4F40-8C35-2B633235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INTERNAL INPUT TENSOR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F818947-2B7D-459F-AE1C-3DB786B8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76800"/>
            <a:ext cx="2152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78C1D965-05C6-4F00-9844-F18BD415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387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4,500,927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11D15B9-C97A-4B68-B681-C69E5596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149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COEFFICIENTS / 18.03 MB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F87B705-E75F-4418-8084-398D5130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76800"/>
            <a:ext cx="200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4DAE5EC-1DEB-4C1E-987D-8CA1EDE2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387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1,917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71C0C6E-E1B5-4B95-8B41-915FAD3D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514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ANCHORS ACROSS 6 MAPS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B92B3FE8-24E9-40F9-BACA-298D5280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76800"/>
            <a:ext cx="200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FD2957D7-E82E-415C-A612-1264FE57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387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0.55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814DEB4-2C6E-454E-B35E-E14B847F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14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DEFAULT SCORE THRESHOLD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5A9E311-9B8C-4988-BCAA-7B46F8F3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76800"/>
            <a:ext cx="2000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4F5C"/>
          </a:solidFill>
          <a:ln xmlns:a="http://schemas.openxmlformats.org/drawingml/2006/main" w="14288">
            <a:solidFill>
              <a:srgbClr val="D94F5C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206FDC4-5E61-452B-A5BD-03588436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387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NO MODEL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213F9419-50FF-41FD-8E98-0317DB46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14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7EBEE"/>
                </a:solidFill>
              </a:defRPr>
            </a:pPr>
            <a:r>
              <a:rPr sz="900" b="1">
                <a:solidFill>
                  <a:srgbClr val="D7EBEE"/>
                </a:solidFill>
              </a:rPr>
              <a:t>SIMULATOR: SYNTHETIC BOXES</a:t>
            </a:r>
          </a:p>
        </p:txBody>
      </p:sp>
    </p:spTree>
    <p:extLst>
      <p:ext uri="{BB962C8B-B14F-4D97-AF65-F5344CB8AC3E}">
        <p14:creationId xmlns:p14="http://schemas.microsoft.com/office/powerpoint/2010/main" val="1185751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44B20-8F7B-4F2B-A9F2-1A34582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8FEFD-3795-47B4-8392-2177AE98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DBA84-8B2C-4FAD-8192-46BFF4BE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OBJECT DETECTION /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433D2-B44A-4C7D-9293-0115095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DECISION THRESHOLD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7D879-395F-4B31-858A-42D967E2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Confidence controls which boxes become actionable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dd1fd414f46cd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3B603-0459-4037-8820-0CDD069D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670E3-C7D0-4A5B-B577-47CCAEA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46013-7772-42DA-B7AC-2ED4213B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5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4F63C-CCB6-467B-B3E7-4D3D8644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781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62B4D"/>
          </a:solidFill>
          <a:ln xmlns:a="http://schemas.openxmlformats.org/drawingml/2006/main" w="14288">
            <a:solidFill>
              <a:srgbClr val="062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F72A-7A4C-46B7-A2B7-095E14D8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95500"/>
            <a:ext cx="30480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263B4D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9A57A-7726-4B7B-B0AE-6DE47F39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2000250" cy="1543050"/>
          </a:xfrm>
          <a:prstGeom xmlns:a="http://schemas.openxmlformats.org/drawingml/2006/main" prst="rect">
            <a:avLst/>
          </a:prstGeom>
          <a:ln xmlns:a="http://schemas.openxmlformats.org/drawingml/2006/main" w="38100">
            <a:solidFill>
              <a:srgbClr val="14B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EDC09-B18F-49DF-ACE1-14B8772D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14288">
            <a:solidFill>
              <a:srgbClr val="008C9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person · 0.73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8D9D4-44E1-49CB-87D3-E9EA89CB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28875"/>
            <a:ext cx="171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FE7E6"/>
                </a:solidFill>
              </a:defRPr>
            </a:pPr>
            <a:r>
              <a:rPr sz="1500">
                <a:solidFill>
                  <a:srgbClr val="BFE7E6"/>
                </a:solidFill>
              </a:rPr>
              <a:t>x = 304</a:t>
            </a:r>
          </a:p>
          <a:p xmlns:a="http://schemas.openxmlformats.org/drawingml/2006/main">
            <a:pPr>
              <a:defRPr sz="1500">
                <a:solidFill>
                  <a:srgbClr val="BFE7E6"/>
                </a:solidFill>
              </a:defRPr>
            </a:pPr>
            <a:r>
              <a:rPr sz="1500">
                <a:solidFill>
                  <a:srgbClr val="BFE7E6"/>
                </a:solidFill>
              </a:rPr>
              <a:t>y = 250</a:t>
            </a:r>
          </a:p>
          <a:p xmlns:a="http://schemas.openxmlformats.org/drawingml/2006/main">
            <a:pPr>
              <a:defRPr sz="1500">
                <a:solidFill>
                  <a:srgbClr val="BFE7E6"/>
                </a:solidFill>
              </a:defRPr>
            </a:pPr>
            <a:r>
              <a:rPr sz="1500">
                <a:solidFill>
                  <a:srgbClr val="BFE7E6"/>
                </a:solidFill>
              </a:rPr>
              <a:t>w = 210</a:t>
            </a:r>
          </a:p>
          <a:p xmlns:a="http://schemas.openxmlformats.org/drawingml/2006/main">
            <a:pPr>
              <a:defRPr sz="1500">
                <a:solidFill>
                  <a:srgbClr val="BFE7E6"/>
                </a:solidFill>
              </a:defRPr>
            </a:pPr>
            <a:r>
              <a:rPr sz="1500">
                <a:solidFill>
                  <a:srgbClr val="BFE7E6"/>
                </a:solidFill>
              </a:rPr>
              <a:t>h = 162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BD3CE-CFEC-4089-8B9B-55463499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37719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20F98-0B9C-4B1F-B38D-73DA1F75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9F387-6BC5-4369-AC1B-31C77B52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If the threshold is…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66B3D-14A3-4ADC-A79E-9C03D48A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3352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0.50 → this box is returned.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0.75 → this box is filtered out.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Lower thresholds show more candidates and more false alarms.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Higher thresholds show fewer, stronger candidates and more misses.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98446-F3AC-46D1-B388-40E31C91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3771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5EFC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DCEC8-3EAE-4413-BC25-9CB4481C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A89D1-4674-4D5E-A0DC-B06051D2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Coordinate 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EF6F2-A92A-46F0-9721-6E1E08F4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29175"/>
            <a:ext cx="335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Bounding boxes use [x, y, width, height].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Hopper Studio stores the box center as a signed percentage from frame center.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AE938-20C9-465F-BE72-2A5F0ACD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769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Tune confidence on the exact room, target size, camera angle, and lighting.</a:t>
            </a:r>
          </a:p>
        </p:txBody>
      </p:sp>
    </p:spTree>
    <p:extLst>
      <p:ext uri="{BB962C8B-B14F-4D97-AF65-F5344CB8AC3E}">
        <p14:creationId xmlns:p14="http://schemas.microsoft.com/office/powerpoint/2010/main" val="1673443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170FE-99F9-4273-963C-C0F31DCA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83287-D425-4BBB-834B-4BA2E330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6C3FB-8393-4D54-B392-72B3FD9C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OBJECT DETECTION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59A30-F74A-47DC-914E-F8D7523D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MISSION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F9082-D17A-4DDD-9DB2-487D0424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Use fresh detections and document every argument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4aea8f7e9414a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5192F-A216-49D8-A256-74038DDA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85A34-2D76-493A-B998-4CB33B64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71C2B-EE8E-4FFB-9826-DEEB3DF9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6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C9C15-4160-446B-9D01-BC934317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6191250" cy="4819650"/>
          </a:xfrm>
          <a:prstGeom xmlns:a="http://schemas.openxmlformats.org/drawingml/2006/main" prst="roundRect">
            <a:avLst>
              <a:gd name="adj" fmla="val 2372"/>
            </a:avLst>
          </a:prstGeom>
          <a:solidFill xmlns:a="http://schemas.openxmlformats.org/drawingml/2006/main">
            <a:srgbClr val="062B4D"/>
          </a:solidFill>
          <a:ln xmlns:a="http://schemas.openxmlformats.org/drawingml/2006/main" w="14288">
            <a:solidFill>
              <a:srgbClr val="0C36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6899C-133C-43B0-81D6-2BD9DB92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0"/>
          </a:solidFill>
          <a:ln xmlns:a="http://schemas.openxmlformats.org/drawingml/2006/main" w="0">
            <a:solidFill>
              <a:srgbClr val="071A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1AE63-0920-446B-9E9E-DE4B63E0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B72"/>
          </a:solidFill>
          <a:ln xmlns:a="http://schemas.openxmlformats.org/drawingml/2006/main" w="0">
            <a:solidFill>
              <a:srgbClr val="F16B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B9734-0AB8-43B9-ADED-C649480C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BF48"/>
          </a:solidFill>
          <a:ln xmlns:a="http://schemas.openxmlformats.org/drawingml/2006/main" w="0">
            <a:solidFill>
              <a:srgbClr val="EABF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D7664-D8A8-4247-874D-4F707FA6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2A8"/>
          </a:solidFill>
          <a:ln xmlns:a="http://schemas.openxmlformats.org/drawingml/2006/main" w="0">
            <a:solidFill>
              <a:srgbClr val="4CC2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20C81-9D87-47BB-9D86-2ADDF1B8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95425"/>
            <a:ext cx="527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2CF"/>
                </a:solidFill>
              </a:defRPr>
            </a:pPr>
            <a:r>
              <a:rPr sz="825" b="1">
                <a:solidFill>
                  <a:srgbClr val="A7C2CF"/>
                </a:solidFill>
              </a:rPr>
              <a:t>FRESH DETECTION DECISION · PROGRAM.JS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6246C-1C58-4327-B44B-4E21D819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84835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1 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00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takeOff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2 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try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{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3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const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detections 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vision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00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detectObjects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200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0.65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4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const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person 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=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detections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00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find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5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(item) 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=&gt;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item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class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===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>
                <a:solidFill>
                  <a:srgbClr val="A8E6A1"/>
                </a:solidFill>
                <a:latin typeface="Aptos Mono"/>
                <a:ea typeface="Aptos Mono"/>
                <a:cs typeface="Aptos Mono"/>
              </a:rPr>
              <a:t>"person"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6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7  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8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if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(person 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&amp;&amp;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person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centerX 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&gt;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sz="1200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10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) {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 9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00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fly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1200">
                <a:solidFill>
                  <a:srgbClr val="A8E6A1"/>
                </a:solidFill>
                <a:latin typeface="Aptos Mono"/>
                <a:ea typeface="Aptos Mono"/>
                <a:cs typeface="Aptos Mono"/>
              </a:rPr>
              <a:t>"right"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1200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0.4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1200">
                <a:solidFill>
                  <a:srgbClr val="F5C66B"/>
                </a:solidFill>
                <a:latin typeface="Aptos Mono"/>
                <a:ea typeface="Aptos Mono"/>
                <a:cs typeface="Aptos Mono"/>
              </a:rPr>
              <a:t>12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10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11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}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finally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{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12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 </a:t>
            </a:r>
            <a:r>
              <a:rPr sz="120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20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200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land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0"/>
              </a:spcAft>
              <a:buNone/>
              <a:defRPr sz="1200"/>
            </a:pPr>
            <a:r>
              <a:rPr sz="1200">
                <a:solidFill>
                  <a:srgbClr val="67869A"/>
                </a:solidFill>
                <a:latin typeface="Aptos Mono"/>
                <a:ea typeface="Aptos Mono"/>
                <a:cs typeface="Aptos Mono"/>
              </a:rPr>
              <a:t>13  </a:t>
            </a:r>
            <a:r>
              <a:rPr sz="120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3C57B-EBA9-4522-B691-BE08E995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09700"/>
            <a:ext cx="45339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E2E14-1BB6-4820-902F-17061D9C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09700"/>
            <a:ext cx="6667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DA7DD-F638-4ED4-B533-EA2545A8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43050"/>
            <a:ext cx="411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OBJECT DETECTOR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4C770-FC7E-40BD-99CE-53EF52D6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  <p:txBody>
          <a:bodyPr xmlns:a="http://schemas.openxmlformats.org/drawingml/2006/main" lIns="76200" tIns="57150" rIns="76200" bIns="3810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defRPr sz="975"/>
            </a:pPr>
            <a:r>
              <a:rPr sz="975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9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vision</a:t>
            </a:r>
            <a:r>
              <a:rPr sz="975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975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detectObjects</a:t>
            </a:r>
            <a:r>
              <a:rPr sz="975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(minimumConfidence, announceScan)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B75D6-328A-406D-848B-06106862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4076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minimumConfidence — 0…1 score; default 0.55</a:t>
            </a:r>
          </a:p>
          <a:p xmlns:a="http://schemas.openxmlformats.org/drawingml/2006/main">
            <a:pPr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announceScan — boolean; default true</a:t>
            </a:r>
          </a:p>
          <a:p xmlns:a="http://schemas.openxmlformats.org/drawingml/2006/main">
            <a:pPr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returns — Promise&lt;VisionDetection[]&gt;; at most 10 boxes</a:t>
            </a:r>
          </a:p>
          <a:p xmlns:a="http://schemas.openxmlformats.org/drawingml/2006/main">
            <a:pPr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fields — class, score, bbox, frame size, centerX/centerY</a:t>
            </a:r>
          </a:p>
          <a:p xmlns:a="http://schemas.openxmlformats.org/drawingml/2006/main">
            <a:pPr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throws — if local model or camera pixels are unavailable</a:t>
            </a:r>
          </a:p>
          <a:p xmlns:a="http://schemas.openxmlformats.org/drawingml/2006/main">
            <a:pPr>
              <a:defRPr sz="1125">
                <a:solidFill>
                  <a:srgbClr val="0D2843"/>
                </a:solidFill>
              </a:defRPr>
            </a:pPr>
            <a:r>
              <a:rPr sz="1125">
                <a:solidFill>
                  <a:srgbClr val="0D2843"/>
                </a:solidFill>
              </a:rPr>
              <a:t>note — simulator returns synthetic detections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B3C38-1C70-41FE-AF99-3674CAF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45339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99897-3B89-47FB-ABF1-1BC29653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B49F9-9166-4F06-8D41-2B8AF97E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95800"/>
            <a:ext cx="411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1B3A"/>
                </a:solidFill>
              </a:defRPr>
            </a:pPr>
            <a:r>
              <a:rPr sz="975" b="1">
                <a:solidFill>
                  <a:srgbClr val="001B3A"/>
                </a:solidFill>
              </a:rPr>
              <a:t>FLIGHT COMMAND USED ABOVE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311B6-D71D-4100-B857-8128FFF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  <p:txBody>
          <a:bodyPr xmlns:a="http://schemas.openxmlformats.org/drawingml/2006/main" lIns="76200" tIns="57150" rIns="76200" bIns="38100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defRPr sz="1050"/>
            </a:pPr>
            <a:r>
              <a:rPr sz="1050">
                <a:solidFill>
                  <a:srgbClr val="78C7FF"/>
                </a:solidFill>
                <a:latin typeface="Aptos Mono"/>
                <a:ea typeface="Aptos Mono"/>
                <a:cs typeface="Aptos Mono"/>
              </a:rPr>
              <a:t>await</a:t>
            </a:r>
            <a:r>
              <a:rPr sz="105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 drone</a:t>
            </a:r>
            <a:r>
              <a:rPr sz="1050">
                <a:solidFill>
                  <a:srgbClr val="B4C9D8"/>
                </a:solidFill>
                <a:latin typeface="Aptos Mono"/>
                <a:ea typeface="Aptos Mono"/>
                <a:cs typeface="Aptos Mono"/>
              </a:rPr>
              <a:t>.</a:t>
            </a:r>
            <a:r>
              <a:rPr sz="1050">
                <a:solidFill>
                  <a:srgbClr val="55D6C2"/>
                </a:solidFill>
                <a:latin typeface="Aptos Mono"/>
                <a:ea typeface="Aptos Mono"/>
                <a:cs typeface="Aptos Mono"/>
              </a:rPr>
              <a:t>fly</a:t>
            </a:r>
            <a:r>
              <a:rPr sz="1050">
                <a:solidFill>
                  <a:srgbClr val="E7F1F5"/>
                </a:solidFill>
                <a:latin typeface="Aptos Mono"/>
                <a:ea typeface="Aptos Mono"/>
                <a:cs typeface="Aptos Mono"/>
              </a:rPr>
              <a:t>(direction, seconds, power)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AEF64-F940-4477-9FF8-431B51ED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19700"/>
            <a:ext cx="4076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direction — "right" here; six direction strings are accepted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seconds — number ≥ 0; example 0.4 s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power — −100…100%; example 12</a:t>
            </a:r>
          </a:p>
          <a:p xmlns:a="http://schemas.openxmlformats.org/drawingml/2006/main">
            <a:pPr>
              <a:defRPr sz="1050">
                <a:solidFill>
                  <a:srgbClr val="0D2843"/>
                </a:solidFill>
              </a:defRPr>
            </a:pPr>
            <a:r>
              <a:rPr sz="1050">
                <a:solidFill>
                  <a:srgbClr val="0D2843"/>
                </a:solidFill>
              </a:rPr>
              <a:t>returns — Promise&lt;void&gt;; await before landing</a:t>
            </a:r>
          </a:p>
        </p:txBody>
      </p:sp>
    </p:spTree>
    <p:extLst>
      <p:ext uri="{BB962C8B-B14F-4D97-AF65-F5344CB8AC3E}">
        <p14:creationId xmlns:p14="http://schemas.microsoft.com/office/powerpoint/2010/main" val="2123392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C8B70-9FB4-4B27-9D8E-10737531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FFF9F-A92E-402E-A2F4-C19CB627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28A67-04F3-4E5E-BA83-12B9D1A2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OBJECT DETECTION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4B11D-D3C5-4943-B026-F10559D4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MODEL CHOICE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CB9C3-4680-4858-8793-9806E392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Built-in detector or custom classifier?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c0cd4ddf74c3c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B2826-8BCB-4ED2-A8CB-153D3C82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AADDC-D190-437E-8203-7DD9FFBD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2EFDB-A0FD-4430-BEFB-90D5D347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7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BC953-9722-4524-98AC-ADF9E2E5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19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572D8-63B3-4DEC-959D-E6404041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7BCFD-143E-4B82-81DC-D429E188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BUILT-IN COCO-SSD DETECTOR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15023-FC5E-4CCC-9396-3436ED75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48006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Finds multiple objects and draws a box around each.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Returns one of 80 fixed COCO labels.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No training required; useful for people, vehicles, stop signs, laptops, and more.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Choose this when location or multiple objects matter.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BCBA9-CB9F-49E2-A6D2-D36FF8D3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52197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5EFC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CC458-F0E3-4EE6-ABEC-9EC508E3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59B8F-5EDF-4DF8-BCFD-2E909DF1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CUSTOM TEACHABLE MACHINE CLASSIFIER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F6C07-CF7C-4F25-81CA-3F980301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0275"/>
            <a:ext cx="48006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You choose mission-specific labels: red flag, blue flag, safe pad, obstacle.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Fast transfer learning with your own classroom examples.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Returns probabilities for the whole frame—not bounding boxes.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Choose this when the frame’s dominant class answers the mission question.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431BE-8F65-4938-826C-87148410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BE4E7"/>
          </a:solidFill>
          <a:ln xmlns:a="http://schemas.openxmlformats.org/drawingml/2006/main" w="14288">
            <a:solidFill>
              <a:srgbClr val="D94F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94A07-734A-4477-B2D5-B7BC0C9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4F5C"/>
                </a:solidFill>
              </a:defRPr>
            </a:pPr>
            <a:r>
              <a:rPr sz="1650" b="1">
                <a:solidFill>
                  <a:srgbClr val="D94F5C"/>
                </a:solidFill>
              </a:rPr>
              <a:t>Need custom labels AND boxes?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7656D-EF14-4778-A8C4-0C6C8A85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D2843"/>
                </a:solidFill>
              </a:defRPr>
            </a:pPr>
            <a:r>
              <a:rPr sz="1350">
                <a:solidFill>
                  <a:srgbClr val="0D2843"/>
                </a:solidFill>
              </a:rPr>
              <a:t>That is a custom object detector: collect box-annotated images and train a detection architecture. Hopper Studio’s Teachable Machine path is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24361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058B4-B8BC-4E7E-AA5C-B618EE14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B3A"/>
          </a:solidFill>
          <a:ln xmlns:a="http://schemas.openxmlformats.org/drawingml/2006/main" w="0">
            <a:solidFill>
              <a:srgbClr val="001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1D4A4-6A9F-41A5-8534-C95C2720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EBF9A-E7FE-486E-B6DD-7558972F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OBJECT DETECTION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4C705-E9A0-4C2F-BFBB-F92C5448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C9A227"/>
                </a:solidFill>
              </a:defRPr>
            </a:pPr>
            <a:r>
              <a:rPr sz="750" b="1">
                <a:solidFill>
                  <a:srgbClr val="C9A227"/>
                </a:solidFill>
              </a:rPr>
              <a:t>EXPERIMENT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55B1D-B1FE-4B3E-96A8-1AD993B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04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1B3A"/>
                </a:solidFill>
              </a:defRPr>
            </a:pPr>
            <a:r>
              <a:rPr sz="2700" b="1">
                <a:solidFill>
                  <a:srgbClr val="001B3A"/>
                </a:solidFill>
              </a:rPr>
              <a:t>Treat every detection as a measurement with limits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bffe49ae948b6"/>
          <a:stretch xmlns:a="http://schemas.openxmlformats.org/drawingml/2006/main"/>
        </p:blipFill>
        <p:spPr>
          <a:xfrm xmlns:a="http://schemas.openxmlformats.org/drawingml/2006/main">
            <a:off x="11258550" y="399746"/>
            <a:ext cx="457200" cy="2292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314AF-59A7-4662-A6BD-0935C4CE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F"/>
          </a:solidFill>
          <a:ln xmlns:a="http://schemas.openxmlformats.org/drawingml/2006/main" w="0">
            <a:solidFill>
              <a:srgbClr val="B8C7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1B1A-DEB8-498E-88F3-E0D0D19C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WRC | HOPPER STUDIO | INFORMATION 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AD0D9-0120-4334-98AE-F36360A4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36A7B"/>
                </a:solidFill>
              </a:defRPr>
            </a:pPr>
            <a:r>
              <a:rPr sz="675">
                <a:solidFill>
                  <a:srgbClr val="536A7B"/>
                </a:solidFill>
              </a:rPr>
              <a:t>8 /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172E7-DF6D-4EF4-BB55-079C6EF9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95875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75D80-83B1-44F7-8075-CB654512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solidFill>
              <a:srgbClr val="008C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9D6D8-9A68-4702-984B-D67E775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MAKE COCO EASIER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6C004-578A-4123-A29B-FA9633D8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46767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Use a real label from the 80-class list.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Choose large, well-separated objects.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Test distance, rotation, clutter, and background.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Keep confidence aligned with false-positive and miss costs.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8E120-25C5-4956-865E-0D8EFC9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911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57AE7-36B7-48DB-B550-587CFBEB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F5C"/>
          </a:solidFill>
          <a:ln xmlns:a="http://schemas.openxmlformats.org/drawingml/2006/main" w="0">
            <a:solidFill>
              <a:srgbClr val="D94F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286D2-8112-495C-8661-EE03D6C7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3A"/>
                </a:solidFill>
              </a:defRPr>
            </a:pPr>
            <a:r>
              <a:rPr sz="1500" b="1">
                <a:solidFill>
                  <a:srgbClr val="001B3A"/>
                </a:solidFill>
              </a:rPr>
              <a:t>KNOWN FAILURE MODES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DBD1B-1CF8-43B5-88F7-FC8F458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0275"/>
            <a:ext cx="4972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Small or partly hidden objects.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Motion blur and low light.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Unusual viewpoints and look-alike classes.</a:t>
            </a:r>
          </a:p>
          <a:p xmlns:a="http://schemas.openxmlformats.org/drawingml/2006/main">
            <a:pPr>
              <a:defRPr sz="1275">
                <a:solidFill>
                  <a:srgbClr val="0D2843"/>
                </a:solidFill>
              </a:defRPr>
            </a:pPr>
            <a:r>
              <a:rPr sz="1275">
                <a:solidFill>
                  <a:srgbClr val="0D2843"/>
                </a:solidFill>
              </a:rPr>
              <a:t>• A target that simply is not in COCO’s vocabulary.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95797-53BA-4D38-A36F-EA2816E1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1B3A"/>
                </a:solidFill>
              </a:defRPr>
            </a:pPr>
            <a:r>
              <a:rPr sz="1575" b="1">
                <a:solidFill>
                  <a:srgbClr val="001B3A"/>
                </a:solidFill>
              </a:rPr>
              <a:t>Recommended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826A0-BE31-4E09-A2D8-3EC9E83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A7B"/>
                </a:solidFill>
              </a:defRPr>
            </a:pPr>
            <a:r>
              <a:rPr sz="1350">
                <a:solidFill>
                  <a:srgbClr val="536A7B"/>
                </a:solidFill>
              </a:rPr>
              <a:t>COCO dataset · TensorFlow.js COCO-SSD · SSD paper · MobileNetV2 paper · Hopper Studio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A86DA-5B34-4842-8BD9-6D9A2D8A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10250"/>
            <a:ext cx="590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1B3A"/>
          </a:solidFill>
          <a:ln xmlns:a="http://schemas.openxmlformats.org/drawingml/2006/main" w="14288">
            <a:solidFill>
              <a:srgbClr val="001B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B8B4"/>
                </a:solidFill>
              </a:defRPr>
            </a:pPr>
            <a:r>
              <a:rPr sz="1050" b="1">
                <a:solidFill>
                  <a:srgbClr val="14B8B4"/>
                </a:solidFill>
              </a:rPr>
              <a:t>SCAN → FILTER → LOCATE → DECIDE</a:t>
            </a:r>
          </a:p>
        </p:txBody>
      </p:sp>
    </p:spTree>
    <p:extLst>
      <p:ext uri="{BB962C8B-B14F-4D97-AF65-F5344CB8AC3E}">
        <p14:creationId xmlns:p14="http://schemas.microsoft.com/office/powerpoint/2010/main" val="1883795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2026-07-26T15:56:08.7050000Z</dcterms:created>
  <dcterms:modified xsi:type="dcterms:W3CDTF">2026-07-26T15:56:08.7050000Z</dcterms:modified>
</coreProperties>
</file>