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8c105d49764c3f" /><Relationship Type="http://schemas.openxmlformats.org/officeDocument/2006/relationships/extended-properties" Target="/docProps/app.xml" Id="R7d5038ed79cc4a78" /><Relationship Type="http://schemas.openxmlformats.org/officeDocument/2006/relationships/officeDocument" Target="/ppt/presentation.xml" Id="Rb3dfc480bbd140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7f8955cdc44575"/>
  </p:sldMasterIdLst>
  <p:notesMasterIdLst>
    <p:notesMasterId xmlns:r="http://schemas.openxmlformats.org/officeDocument/2006/relationships" r:id="R3a89db7f4675471c"/>
  </p:notesMasterIdLst>
  <p:sldIdLst>
    <p:sldId xmlns:r="http://schemas.openxmlformats.org/officeDocument/2006/relationships" id="256" r:id="R61c149a8ffa64e6a"/>
    <p:sldId xmlns:r="http://schemas.openxmlformats.org/officeDocument/2006/relationships" id="257" r:id="R8409ede1fc254c71"/>
    <p:sldId xmlns:r="http://schemas.openxmlformats.org/officeDocument/2006/relationships" id="258" r:id="R52adae92eb134189"/>
    <p:sldId xmlns:r="http://schemas.openxmlformats.org/officeDocument/2006/relationships" id="259" r:id="R0b4a6aca66f543d2"/>
    <p:sldId xmlns:r="http://schemas.openxmlformats.org/officeDocument/2006/relationships" id="260" r:id="Rdc68d5ad90234d0d"/>
    <p:sldId xmlns:r="http://schemas.openxmlformats.org/officeDocument/2006/relationships" id="261" r:id="R5aa1ff02b05a4edc"/>
    <p:sldId xmlns:r="http://schemas.openxmlformats.org/officeDocument/2006/relationships" id="262" r:id="R2b0fa4d8c1a74ec8"/>
    <p:sldId xmlns:r="http://schemas.openxmlformats.org/officeDocument/2006/relationships" id="263" r:id="R512def937c204ec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79cb409c9f4573" /><Relationship Type="http://schemas.openxmlformats.org/officeDocument/2006/relationships/slideMaster" Target="/ppt/slideMasters/slideMaster1.xml" Id="Re57f8955cdc44575" /><Relationship Type="http://schemas.openxmlformats.org/officeDocument/2006/relationships/notesMaster" Target="/ppt/notesMasters/notesMaster1.xml" Id="R3a89db7f4675471c" /><Relationship Type="http://schemas.openxmlformats.org/officeDocument/2006/relationships/presProps" Target="/ppt/presProps.xml" Id="Rdc826a756cd04f47" /><Relationship Type="http://schemas.openxmlformats.org/officeDocument/2006/relationships/tableStyles" Target="/ppt/tableStyles.xml" Id="Rf1d153590e574c36" /><Relationship Type="http://schemas.openxmlformats.org/officeDocument/2006/relationships/slide" Target="/ppt/slides/slide1.xml" Id="R61c149a8ffa64e6a" /><Relationship Type="http://schemas.openxmlformats.org/officeDocument/2006/relationships/slide" Target="/ppt/slides/slide2.xml" Id="R8409ede1fc254c71" /><Relationship Type="http://schemas.openxmlformats.org/officeDocument/2006/relationships/slide" Target="/ppt/slides/slide3.xml" Id="R52adae92eb134189" /><Relationship Type="http://schemas.openxmlformats.org/officeDocument/2006/relationships/slide" Target="/ppt/slides/slide4.xml" Id="R0b4a6aca66f543d2" /><Relationship Type="http://schemas.openxmlformats.org/officeDocument/2006/relationships/slide" Target="/ppt/slides/slide5.xml" Id="Rdc68d5ad90234d0d" /><Relationship Type="http://schemas.openxmlformats.org/officeDocument/2006/relationships/slide" Target="/ppt/slides/slide6.xml" Id="R5aa1ff02b05a4edc" /><Relationship Type="http://schemas.openxmlformats.org/officeDocument/2006/relationships/slide" Target="/ppt/slides/slide7.xml" Id="R2b0fa4d8c1a74ec8" /><Relationship Type="http://schemas.openxmlformats.org/officeDocument/2006/relationships/slide" Target="/ppt/slides/slide8.xml" Id="R512def937c204e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44d9945e5d4f3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9d9f81cb764568" /><Relationship Type="http://schemas.openxmlformats.org/officeDocument/2006/relationships/notesMaster" Target="/ppt/notesMasters/notesMaster1.xml" Id="Ra0a02e14566b41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b02da77d594f56" /><Relationship Type="http://schemas.openxmlformats.org/officeDocument/2006/relationships/notesMaster" Target="/ppt/notesMasters/notesMaster1.xml" Id="R3483545ba46646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25eda279b046be" /><Relationship Type="http://schemas.openxmlformats.org/officeDocument/2006/relationships/notesMaster" Target="/ppt/notesMasters/notesMaster1.xml" Id="R48a5391113fc49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850ae0cd2042ba" /><Relationship Type="http://schemas.openxmlformats.org/officeDocument/2006/relationships/notesMaster" Target="/ppt/notesMasters/notesMaster1.xml" Id="Re76346e6e84349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dadd5ff9f14afd" /><Relationship Type="http://schemas.openxmlformats.org/officeDocument/2006/relationships/notesMaster" Target="/ppt/notesMasters/notesMaster1.xml" Id="Rf4f3973eab8941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be6e484e244fce" /><Relationship Type="http://schemas.openxmlformats.org/officeDocument/2006/relationships/notesMaster" Target="/ppt/notesMasters/notesMaster1.xml" Id="R8546cdfa3f3a4f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5fa01a6a6041d0" /><Relationship Type="http://schemas.openxmlformats.org/officeDocument/2006/relationships/notesMaster" Target="/ppt/notesMasters/notesMaster1.xml" Id="Rb57d77956e3c40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b1941cac244b64" /><Relationship Type="http://schemas.openxmlformats.org/officeDocument/2006/relationships/notesMaster" Target="/ppt/notesMasters/notesMaster1.xml" Id="Rd0f6ad13ed6748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Object-detection lesson cover.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https://cocodataset.org/</a:t>
            </a:r>
          </a:p>
          <a:p xmlns:a="http://schemas.openxmlformats.org/drawingml/2006/main">
            <a:r>
              <a:t>- https://github.com/tensorflow/tfjs-models/tree/master/coco-ssd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Detection localizes objects; classification labels the overall frame.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https://github.com/tensorflow/tfjs-models/tree/master/coco-ssd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COCO is a large-scale dataset for detection, segmentation, keypoints, and captioning. Use the official figures shown on the dataset home page.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https://cocodataset.org/</a:t>
            </a:r>
          </a:p>
          <a:p xmlns:a="http://schemas.openxmlformats.org/drawingml/2006/main">
            <a:r>
              <a:t>- https://cocodataset.org/workshop/coco-lvis-eccv-2020.html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architecture diagram matches the implementation: TensorFlow.js COCO-SSD with the lite_mobilenet_v2 base and a local model file. SSD is a single-shot detector; the MobileNetV2 family is designed for mobile/efficient 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implementation: local_site/lib/vision.ts</a:t>
            </a:r>
          </a:p>
          <a:p xmlns:a="http://schemas.openxmlformats.org/drawingml/2006/main">
            <a:r>
              <a:t>- https://github.com/tensorflow/tfjs-models/tree/master/coco-ssd</a:t>
            </a:r>
          </a:p>
          <a:p xmlns:a="http://schemas.openxmlformats.org/drawingml/2006/main">
            <a:r>
              <a:t>- https://arxiv.org/abs/1512.02325</a:t>
            </a:r>
          </a:p>
          <a:p xmlns:a="http://schemas.openxmlformats.org/drawingml/2006/main">
            <a:r>
              <a:t>- https://arxiv.org/abs/1801.04381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how the minimum-confidence slider changes returned boxes. A threshold is an operating-point choice, not a change to the model weights.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https://github.com/tensorflow/tfjs-models/tree/master/coco-ssd</a:t>
            </a:r>
          </a:p>
          <a:p xmlns:a="http://schemas.openxmlformats.org/drawingml/2006/main">
            <a:r>
              <a:t>- Hopper Studio implementation: local_site/lib/vision.ts and components/HopperStudio.tsx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Blocks and JavaScript can scan, test, and use saved detection coordinates.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implementation: local_site/lib/blockly.ts and lib/vision.ts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detection and classification vocabulary precise. The custom-label advantage is real, but Teachable Machine’s standard image project in this workflow labels the full frame.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https://github.com/tensorflow/tfjs-models/tree/master/coco-ssd</a:t>
            </a:r>
          </a:p>
          <a:p xmlns:a="http://schemas.openxmlformats.org/drawingml/2006/main">
            <a:r>
              <a:t>- https://codelabs.developers.google.com/tensorflowjs-transfer-learning-teachable-machine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students to name one false-positive cost and one missed-detection cost for their 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https://cocodataset.org/</a:t>
            </a:r>
          </a:p>
          <a:p xmlns:a="http://schemas.openxmlformats.org/drawingml/2006/main">
            <a:r>
              <a:t>- https://github.com/tensorflow/tfjs-models/tree/master/coco-ssd</a:t>
            </a:r>
          </a:p>
          <a:p xmlns:a="http://schemas.openxmlformats.org/drawingml/2006/main">
            <a:r>
              <a:t>- https://arxiv.org/abs/1512.02325</a:t>
            </a:r>
          </a:p>
          <a:p xmlns:a="http://schemas.openxmlformats.org/drawingml/2006/main">
            <a:r>
              <a:t>- https://arxiv.org/abs/1801.04381</a:t>
            </a:r>
          </a:p>
          <a:p xmlns:a="http://schemas.openxmlformats.org/drawingml/2006/main">
            <a:r>
              <a:t>- Hopper Studio implementation: local_site/lib/vision.ts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20f36ae0a74a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749ff8d483449a" /><Relationship Type="http://schemas.openxmlformats.org/officeDocument/2006/relationships/slideLayout" Target="/ppt/slideLayouts/slideLayout1.xml" Id="R8870040a2d3645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70040a2d3645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9a1ab1a5964050" /><Relationship Type="http://schemas.openxmlformats.org/officeDocument/2006/relationships/image" Target="/ppt/media/image.png" Id="R36adf8ee7ba0427a" /><Relationship Type="http://schemas.openxmlformats.org/officeDocument/2006/relationships/notesSlide" Target="/ppt/notesSlides/notesSlide1.xml" Id="R3676b9e773fe43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5921b50e34edf" /><Relationship Type="http://schemas.openxmlformats.org/officeDocument/2006/relationships/image" Target="/ppt/media/image2.png" Id="R8305e74aeec54e30" /><Relationship Type="http://schemas.openxmlformats.org/officeDocument/2006/relationships/notesSlide" Target="/ppt/notesSlides/notesSlide2.xml" Id="Ra36f5fd7d8b541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09ff07faf468c" /><Relationship Type="http://schemas.openxmlformats.org/officeDocument/2006/relationships/image" Target="/ppt/media/image3.png" Id="R87d071b30ef041ce" /><Relationship Type="http://schemas.openxmlformats.org/officeDocument/2006/relationships/notesSlide" Target="/ppt/notesSlides/notesSlide3.xml" Id="R862aecf193e548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894a6c629c4776" /><Relationship Type="http://schemas.openxmlformats.org/officeDocument/2006/relationships/image" Target="/ppt/media/image4.png" Id="R2a97daefe88b4a49" /><Relationship Type="http://schemas.openxmlformats.org/officeDocument/2006/relationships/notesSlide" Target="/ppt/notesSlides/notesSlide4.xml" Id="R05791949cc364d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623a8be554f57" /><Relationship Type="http://schemas.openxmlformats.org/officeDocument/2006/relationships/image" Target="/ppt/media/image5.png" Id="R27495aea692142fd" /><Relationship Type="http://schemas.openxmlformats.org/officeDocument/2006/relationships/notesSlide" Target="/ppt/notesSlides/notesSlide5.xml" Id="R872dc1d83b9b43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c7d9a6cd4045bf" /><Relationship Type="http://schemas.openxmlformats.org/officeDocument/2006/relationships/image" Target="/ppt/media/image6.png" Id="R4ae3800e49294a73" /><Relationship Type="http://schemas.openxmlformats.org/officeDocument/2006/relationships/notesSlide" Target="/ppt/notesSlides/notesSlide6.xml" Id="R42e2cee83e3e43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161f26fbe4177" /><Relationship Type="http://schemas.openxmlformats.org/officeDocument/2006/relationships/image" Target="/ppt/media/image7.png" Id="R26deb20af4f0448e" /><Relationship Type="http://schemas.openxmlformats.org/officeDocument/2006/relationships/notesSlide" Target="/ppt/notesSlides/notesSlide7.xml" Id="R68ec89ebcac64a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d19313a924f9a" /><Relationship Type="http://schemas.openxmlformats.org/officeDocument/2006/relationships/image" Target="/ppt/media/image8.png" Id="R05ca8de0ae9649fd" /><Relationship Type="http://schemas.openxmlformats.org/officeDocument/2006/relationships/notesSlide" Target="/ppt/notesSlides/notesSlide8.xml" Id="R2ea341728a7f468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adf8ee7ba0427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03DED2-AD5B-457E-A29A-E99A1081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7AB010-6C6E-4EB6-B863-E4D6272F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190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9EB4C0"/>
                </a:solidFill>
              </a:defRPr>
            </a:pPr>
            <a:r>
              <a:rPr sz="675">
                <a:solidFill>
                  <a:srgbClr val="9EB4C0"/>
                </a:solidFill>
              </a:rPr>
              <a:t>DECK 06  |  8 SLIDES</a:t>
            </a:r>
          </a:p>
        </p:txBody>
      </p:sp>
    </p:spTree>
    <p:extLst>
      <p:ext uri="{BB962C8B-B14F-4D97-AF65-F5344CB8AC3E}">
        <p14:creationId xmlns:p14="http://schemas.microsoft.com/office/powerpoint/2010/main" val="114051316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5e74aeec54e3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95D01-C4F9-4635-9D4C-99214662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6EEC6E-2F08-43D5-862C-0D09ECF9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OBJECT DETECTION /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BE713-B15F-41F1-B82C-9EE9116E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FAD2E7-38DA-412E-878F-3B73DA3F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2 / 8</a:t>
            </a:r>
          </a:p>
        </p:txBody>
      </p:sp>
    </p:spTree>
    <p:extLst>
      <p:ext uri="{BB962C8B-B14F-4D97-AF65-F5344CB8AC3E}">
        <p14:creationId xmlns:p14="http://schemas.microsoft.com/office/powerpoint/2010/main" val="21209791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279399-9474-4534-B8AC-8FF18874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E80B5-62A9-49D3-B38A-F90F75DC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CA6B3-11C9-458E-9074-C7CC316B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OBJECT DETECTION /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D0421A-983C-4CC9-9A42-B1947773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TRAINING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7FF5F-C8DA-475D-A3DD-84DF1F9B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COCO: common objects pictured in real context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071b30ef041ce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69E12B-7F8B-4566-818C-8C6DE6EC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DCF783-BB2A-40E4-9DE0-02B63900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4F058-FF0B-4A5F-AB2D-57392BB8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3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5F2393-A131-496A-8408-3349CFD5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2381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14288">
            <a:solidFill>
              <a:srgbClr val="001B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4DF260-6993-4A41-BDA9-E22040A3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330K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0E046-CA5F-4229-A495-60019B7A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7EBEE"/>
                </a:solidFill>
              </a:defRPr>
            </a:pPr>
            <a:r>
              <a:rPr sz="900" b="1">
                <a:solidFill>
                  <a:srgbClr val="D7EBEE"/>
                </a:solidFill>
              </a:rPr>
              <a:t>IMAGES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16DA9C-946B-4CEF-9173-48D1D800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581150"/>
            <a:ext cx="2381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862C87-F27A-478A-89A7-895075CF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430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&gt;200K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D0678-D38B-4B6D-950D-1FF169CA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7EBEE"/>
                </a:solidFill>
              </a:defRPr>
            </a:pPr>
            <a:r>
              <a:rPr sz="900" b="1">
                <a:solidFill>
                  <a:srgbClr val="D7EBEE"/>
                </a:solidFill>
              </a:rPr>
              <a:t>LABELED IMAGES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1BA67F-3A09-4F74-BCBC-59505657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2381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14288">
            <a:solidFill>
              <a:srgbClr val="001B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8D3877-9736-461A-99F7-4C913667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430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1.5M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2D61DF-9019-48C4-870A-2D024F85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7EBEE"/>
                </a:solidFill>
              </a:defRPr>
            </a:pPr>
            <a:r>
              <a:rPr sz="900" b="1">
                <a:solidFill>
                  <a:srgbClr val="D7EBEE"/>
                </a:solidFill>
              </a:rPr>
              <a:t>OBJECT INSTANCES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905787-224E-48DC-83D6-E54B3877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381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9B14A5-1844-408B-831E-B7539450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430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80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C94D18-0B4E-4174-989F-82771C09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7EBEE"/>
                </a:solidFill>
              </a:defRPr>
            </a:pPr>
            <a:r>
              <a:rPr sz="900" b="1">
                <a:solidFill>
                  <a:srgbClr val="D7EBEE"/>
                </a:solidFill>
              </a:rPr>
              <a:t>OBJECT CATEGORIES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28E15C-9D71-49EF-8692-C7185DF0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6572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6BFBFA-69F8-418F-A63A-C9CE0C45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A1CA1B-0B72-462D-B884-261D912B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0"/>
            <a:ext cx="6153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Why “in context” matters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F601C7-137B-4DD6-BC91-6B36B8AE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29025"/>
            <a:ext cx="61531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Scenes contain multiple objects, clutter, overlap, and non-iconic viewpoints.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Annotations include bounding boxes and segmentation masks—not only image labels.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The 80 detector classes cover everyday categories such as person, car, truck, stop sign, chair, laptop, bottle, and sports ball.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8D1770-2C66-4E56-B708-EEA41DF0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48000"/>
            <a:ext cx="3762375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B7FE85-F6FB-4A26-BE03-E9C40373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4800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725023-0C88-42C5-8703-89579BD5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238500"/>
            <a:ext cx="33432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What COCO does not guarantee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98A520-8F8A-4D5A-B08F-527983CD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629025"/>
            <a:ext cx="33432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A class outside the 80-label vocabulary cannot be named.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A familiar class may still be missed when it is tiny, blurred, occluded, or viewed unlike the training data.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A confidence score is a model score—not certainty.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D6BA5D-84FD-4093-B24C-5532A97C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912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1B3A"/>
                </a:solidFill>
              </a:defRPr>
            </a:pPr>
            <a:r>
              <a:rPr sz="1575" b="1">
                <a:solidFill>
                  <a:srgbClr val="001B3A"/>
                </a:solidFill>
              </a:rPr>
              <a:t>Dataset scale creates breadth; classroom testing reveals the limits.</a:t>
            </a:r>
          </a:p>
        </p:txBody>
      </p:sp>
    </p:spTree>
    <p:extLst>
      <p:ext uri="{BB962C8B-B14F-4D97-AF65-F5344CB8AC3E}">
        <p14:creationId xmlns:p14="http://schemas.microsoft.com/office/powerpoint/2010/main" val="394433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397B72-6B76-441E-BF27-556F2BC2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133F3-F3D9-4244-B27C-3BD87091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063C2E-7681-4B54-8B1E-3BB719C1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OBJECT DETECTION /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A74C54-4D43-404F-8847-1B9C6E35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NEURAL NETWORK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EF17A-4816-4B65-BE24-B7FF4565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Inside Hopper Studio’s built-in detector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97daefe88b4a49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227F1B-965D-423A-B2E2-CF6B55CF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EF2EDA-62BE-46D3-9D78-6563E293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9A2A2-20E8-4C37-907E-52C01ACC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4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B1F17A-9F3C-4E14-930E-F410EF87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AA7980-6987-4F5E-A921-2950A588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095500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61BCCD-1F83-4388-ABA9-03E87BAC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1590" y="2095500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023BE8-64FD-4FCD-A7EF-830C1BBD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010" y="2095500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A69B5-6883-4B8C-AAB7-C3210AA8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6430" y="2095500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59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655570" y="29051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cxnSp>
        <p:nvCxnSpPr>
          <p:cNvPr id="60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872990" y="29051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cxnSp>
        <p:nvCxnSpPr>
          <p:cNvPr id="61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090410" y="29051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cxnSp>
        <p:nvCxnSpPr>
          <p:cNvPr id="62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07830" y="29051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62B654-706F-41E0-AF8D-005157DA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43F158-4BA3-4699-B131-A2119D9C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4CEB2B-779A-4464-8A7F-B8ACB661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95575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Camera frame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FE769D-18E8-4FA3-B1F8-B000FD71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Current video is captured to a browser canvas.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B0F073-F1F6-47B4-9172-EC34D172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095500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12DCFE-F5CB-4CFA-A9EA-9A062E87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2247900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6BBFF6-66D3-49C3-B380-2BF08C30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2695575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Tensor input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7239D3-851D-4B0F-A744-A2C11773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3086100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Pixels become a TensorFlow.js image tensor.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870D11-FFDF-4603-B0AA-90A06517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1590" y="2095500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20AD40-B022-4C0D-ACFF-6630CA09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247900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F43AD5-C961-4FD4-9D20-068DBAEA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695575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MobileNetV2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9D8E2D-1996-43E0-AE4C-25AC5B05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3086100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A lightweight backbone extracts reusable visual features.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3B93E9-69E8-4DE1-BC23-5D0A8FDE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010" y="2095500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0BAF5D-61CE-4163-8F2E-FA309EDB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460" y="2247900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D6FC91-C795-473A-93B9-5C0735A6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460" y="2695575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SSD + NMS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90F444-87D2-46C5-8F17-4A8888A9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460" y="3086100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Single-shot heads propose boxes; NMS removes duplicate overlap.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76571F-88DC-4DE9-85FF-6E452C10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6430" y="2095500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14288">
            <a:solidFill>
              <a:srgbClr val="001B3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E6F4A2-49BD-407C-9C6F-4D867928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247900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A227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1B3A"/>
                </a:solidFill>
              </a:defRPr>
            </a:pPr>
            <a:r>
              <a:rPr sz="1050" b="1">
                <a:solidFill>
                  <a:srgbClr val="001B3A"/>
                </a:solidFill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56006E-9DF0-4405-A7E2-73A8B6E0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695575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Detections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BFC26E-24F5-4F36-8007-9ABDBD91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3086100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D5E6EC"/>
                </a:solidFill>
              </a:defRPr>
            </a:pPr>
            <a:r>
              <a:rPr sz="1050">
                <a:solidFill>
                  <a:srgbClr val="D5E6EC"/>
                </a:solidFill>
              </a:rPr>
              <a:t>[x, y, w, h] + class + confidence.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5EC1D0-6D23-4BA4-9CE8-D27C4E75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14288">
            <a:solidFill>
              <a:srgbClr val="001B3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LOCAL MODEL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82573C-534A-48FB-8030-18CDFE6B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81500"/>
            <a:ext cx="733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lite_mobilenet_v2 · stored in public/models/coco-ssd/ · browser/desktop inference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9BC244-07C6-42F4-A2A8-329301AC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477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5EFC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2A5CE74-5A16-4971-88D4-0CB670A5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666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FBF22B-BA31-40EA-BB2B-ACA7525B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1005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Hopper Studio’s operational settings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3F4ED94-8CE9-4D54-9715-831C2898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43525"/>
            <a:ext cx="1005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Captures a 420-pixel-wide working frame.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Requests at most 10 boxes per scan.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The UI and blocks choose the minimum confidence threshold.</a:t>
            </a:r>
          </a:p>
        </p:txBody>
      </p:sp>
    </p:spTree>
    <p:extLst>
      <p:ext uri="{BB962C8B-B14F-4D97-AF65-F5344CB8AC3E}">
        <p14:creationId xmlns:p14="http://schemas.microsoft.com/office/powerpoint/2010/main" val="19924690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16280B-8494-4F54-913B-4257FA51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8A45A-D5BB-44C6-AFBB-C7D231BE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D4434-8CE6-4748-B76B-FF6A951D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OBJECT DETECTION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C1843-62F0-45F6-95A3-394DE064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DECISION THRESHOLD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865F3-071F-4CD6-A6D4-B89BAD62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Confidence controls which boxes become actionable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495aea692142fd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CCE829-6779-4D7C-8FB2-D14DE748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715BA5-52EB-4B1E-A801-473B559B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4B542-2AE2-4839-81D2-A3A6D7DB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5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E5FA3A-88D7-4F8A-9E7F-7BE5F17B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678180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062B4D"/>
          </a:solidFill>
          <a:ln xmlns:a="http://schemas.openxmlformats.org/drawingml/2006/main" w="14288">
            <a:solidFill>
              <a:srgbClr val="062B4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DA12D-385A-48DE-A35F-4335E913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095500"/>
            <a:ext cx="304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263B4D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C3D346-0363-4C5D-89E4-90627A78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81250"/>
            <a:ext cx="2000250" cy="1543050"/>
          </a:xfrm>
          <a:prstGeom xmlns:a="http://schemas.openxmlformats.org/drawingml/2006/main" prst="rect">
            <a:avLst/>
          </a:prstGeom>
          <a:ln xmlns:a="http://schemas.openxmlformats.org/drawingml/2006/main" w="38100">
            <a:solidFill>
              <a:srgbClr val="14B8B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A7603A-2FAC-457F-8D81-8C5E0DAE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95500"/>
            <a:ext cx="16764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person · 0.73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B6F69-9143-4FCF-8463-234956EC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28875"/>
            <a:ext cx="171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BFE7E6"/>
                </a:solidFill>
              </a:defRPr>
            </a:pPr>
            <a:r>
              <a:rPr sz="1500">
                <a:solidFill>
                  <a:srgbClr val="BFE7E6"/>
                </a:solidFill>
              </a:rPr>
              <a:t>x = 304</a:t>
            </a:r>
          </a:p>
          <a:p xmlns:a="http://schemas.openxmlformats.org/drawingml/2006/main">
            <a:pPr>
              <a:defRPr sz="1500">
                <a:solidFill>
                  <a:srgbClr val="BFE7E6"/>
                </a:solidFill>
              </a:defRPr>
            </a:pPr>
            <a:r>
              <a:rPr sz="1500">
                <a:solidFill>
                  <a:srgbClr val="BFE7E6"/>
                </a:solidFill>
              </a:rPr>
              <a:t>y = 250</a:t>
            </a:r>
          </a:p>
          <a:p xmlns:a="http://schemas.openxmlformats.org/drawingml/2006/main">
            <a:pPr>
              <a:defRPr sz="1500">
                <a:solidFill>
                  <a:srgbClr val="BFE7E6"/>
                </a:solidFill>
              </a:defRPr>
            </a:pPr>
            <a:r>
              <a:rPr sz="1500">
                <a:solidFill>
                  <a:srgbClr val="BFE7E6"/>
                </a:solidFill>
              </a:rPr>
              <a:t>w = 210</a:t>
            </a:r>
          </a:p>
          <a:p xmlns:a="http://schemas.openxmlformats.org/drawingml/2006/main">
            <a:pPr>
              <a:defRPr sz="1500">
                <a:solidFill>
                  <a:srgbClr val="BFE7E6"/>
                </a:solidFill>
              </a:defRPr>
            </a:pPr>
            <a:r>
              <a:rPr sz="1500">
                <a:solidFill>
                  <a:srgbClr val="BFE7E6"/>
                </a:solidFill>
              </a:rPr>
              <a:t>h = 162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801DCE-9700-4F8D-8AF4-695FBAFE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37719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7759F8-6624-46D3-8530-B74177B5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5F1A63-35F4-4001-B753-6C98D446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35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If the threshold is…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DB6CCF-1639-4E32-9EF7-C0D4C7A5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05025"/>
            <a:ext cx="33528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0.50 → this box is returned.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0.75 → this box is filtered out.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Lower thresholds show more candidates and more false alarms.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Higher thresholds show fewer, stronger candidates and more misses.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331B13-D707-4A7B-844E-2E5E5AD6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00550"/>
            <a:ext cx="37719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5EFC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BF3529-3709-456D-866B-96433399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005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1F2790-857F-411F-8852-241EC244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91050"/>
            <a:ext cx="335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Coordinate 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E674EF-CB17-4357-8B43-FDE4DD83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8157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Bounding boxes use [x, y, width, height].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Hopper Studio stores the box center as a signed percentage from frame center.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8879B7-3418-4424-BD91-49445E55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769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Tune confidence on the exact room, target size, camera angle, and lighting.</a:t>
            </a:r>
          </a:p>
        </p:txBody>
      </p:sp>
    </p:spTree>
    <p:extLst>
      <p:ext uri="{BB962C8B-B14F-4D97-AF65-F5344CB8AC3E}">
        <p14:creationId xmlns:p14="http://schemas.microsoft.com/office/powerpoint/2010/main" val="55941623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3800e49294a7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AF6366-9E6F-42FF-BD02-BF3D1FD7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5E60A8-02B5-4296-8D82-485FF160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OBJECT DETECTION /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71779C-B27B-4034-B7C4-7FD7066C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D2D423-1728-4733-A775-442BD0FE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6 / 8</a:t>
            </a:r>
          </a:p>
        </p:txBody>
      </p:sp>
    </p:spTree>
    <p:extLst>
      <p:ext uri="{BB962C8B-B14F-4D97-AF65-F5344CB8AC3E}">
        <p14:creationId xmlns:p14="http://schemas.microsoft.com/office/powerpoint/2010/main" val="3186958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17859B-955B-45C5-BEE5-5C7B6586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C4366-48F3-4E1B-A677-3B75380E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CD5E14-7B66-412B-8A6F-C23908DA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OBJECT DETECTION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BD9B25-920E-41E9-B24E-7A5D2797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MODEL CHOICE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AF298C-57DC-4CE6-B18B-323A52A3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Built-in detector or custom classifier?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deb20af4f0448e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87F855-614F-4860-BF47-DC55F659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E6A9F1-1749-4DA0-BCDA-7A395241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0E6830-F6DE-4C22-91D9-D7BAEDB5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7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238849-42E9-48C9-A860-35FFBB54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219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1CBAE1-B245-4035-9CDD-2CCBF164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F1A8FC-4ACE-454A-9D35-F69D3732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BUILT-IN COCO-SSD DETECTOR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DEAA55-2DA9-4C44-9612-96BB8B41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0275"/>
            <a:ext cx="48006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Finds multiple objects and draws a box around each.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Returns one of 80 fixed COCO labels.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No training required; useful for people, vehicles, stop signs, laptops, and more.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Choose this when location or multiple objects matter.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A932DC-A1FE-40BA-89C9-0D030F9D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219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5EFC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D7AF90-F83E-4E76-B97B-DF6B0D38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44D896-6024-43AB-9F47-8DAC9E0E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0975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CUSTOM TEACHABLE MACHINE CLASSIFIER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314399-B517-4F47-9F2A-2378156B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00275"/>
            <a:ext cx="48006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You choose mission-specific labels: red flag, blue flag, safe pad, obstacle.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Fast transfer learning with your own classroom examples.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Returns probabilities for the whole frame—not bounding boxes.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Choose this when the frame’s dominant class answers the mission question.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4E38A5-E7B1-4235-9F0D-A28744C5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BE4E7"/>
          </a:solidFill>
          <a:ln xmlns:a="http://schemas.openxmlformats.org/drawingml/2006/main" w="14288">
            <a:solidFill>
              <a:srgbClr val="D94F5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26F8A3-8474-4A85-86E2-45D76028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94F5C"/>
                </a:solidFill>
              </a:defRPr>
            </a:pPr>
            <a:r>
              <a:rPr sz="1650" b="1">
                <a:solidFill>
                  <a:srgbClr val="D94F5C"/>
                </a:solidFill>
              </a:rPr>
              <a:t>Need custom labels AND boxes?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D7D3D1-4749-4035-861D-3370D683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05400"/>
            <a:ext cx="7105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D2843"/>
                </a:solidFill>
              </a:defRPr>
            </a:pPr>
            <a:r>
              <a:rPr sz="1350">
                <a:solidFill>
                  <a:srgbClr val="0D2843"/>
                </a:solidFill>
              </a:rPr>
              <a:t>That is a custom object detector: collect box-annotated images and train a detection architecture. Hopper Studio’s Teachable Machine path is 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8286003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6A42E4-099E-4E42-9F6E-61C3E6FC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D8AD9-F28C-4B94-B3E1-D99D3342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57CE5-C0E7-424B-8B82-7E47E551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OBJECT DETECTION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E8F0FB-2834-4C62-B850-0C2A4A67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EXPERIMENT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A493E-3FDE-4D5C-8C5B-98A1D579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Treat every detection as a measurement with limits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a8de0ae9649fd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4636C7-664D-4FAC-B9AF-F0D758BE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588B7-8BB3-4A14-BEED-76C4A338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3056CD-549B-478E-AAF0-89E31423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8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D505A1-5817-4661-9F71-AB2085B2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095875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53548-1DE8-4297-B472-2661F7E9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C711A-0855-4C14-A04F-7830B1EA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676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MAKE COCO EASIER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988751-38C3-4C89-8D05-E43DF1EC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0275"/>
            <a:ext cx="4676775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Use a real label from the 80-class list.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Choose large, well-separated objects.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Test distance, rotation, clutter, and background.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Keep confidence aligned with false-positive and miss costs.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0EF12C-81C3-4D83-919E-C8FEDA19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39115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68B574-4EFE-4FA7-BF4A-934E2CA6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9268F2-8F15-4249-90D7-4A4C6963F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09750"/>
            <a:ext cx="497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KNOWN FAILURE MODES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C0A64A-8292-433C-9B43-18507F78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0275"/>
            <a:ext cx="49720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Small or partly hidden objects.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Motion blur and low light.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Unusual viewpoints and look-alike classes.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A target that simply is not in COCO’s vocabulary.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99297F-76AA-48DF-A24C-D173E524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1B3A"/>
                </a:solidFill>
              </a:defRPr>
            </a:pPr>
            <a:r>
              <a:rPr sz="1575" b="1">
                <a:solidFill>
                  <a:srgbClr val="001B3A"/>
                </a:solidFill>
              </a:rPr>
              <a:t>Recommended sources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C5F0EF-6683-4E5F-BD8A-60FE3553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A7B"/>
                </a:solidFill>
              </a:defRPr>
            </a:pPr>
            <a:r>
              <a:rPr sz="1350">
                <a:solidFill>
                  <a:srgbClr val="536A7B"/>
                </a:solidFill>
              </a:rPr>
              <a:t>COCO dataset · TensorFlow.js COCO-SSD · SSD paper · MobileNetV2 paper · Hopper Studio source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5D759F-3669-440A-89CF-5E29DB55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10250"/>
            <a:ext cx="5905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14288">
            <a:solidFill>
              <a:srgbClr val="001B3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4B8B4"/>
                </a:solidFill>
              </a:defRPr>
            </a:pPr>
            <a:r>
              <a:rPr sz="1050" b="1">
                <a:solidFill>
                  <a:srgbClr val="14B8B4"/>
                </a:solidFill>
              </a:rPr>
              <a:t>SCAN → FILTER → LOCATE → DECIDE</a:t>
            </a:r>
          </a:p>
        </p:txBody>
      </p:sp>
    </p:spTree>
    <p:extLst>
      <p:ext uri="{BB962C8B-B14F-4D97-AF65-F5344CB8AC3E}">
        <p14:creationId xmlns:p14="http://schemas.microsoft.com/office/powerpoint/2010/main" val="10665403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2026-07-26T02:21:30.7160000Z</dcterms:created>
  <dcterms:modified xsi:type="dcterms:W3CDTF">2026-07-26T02:21:30.7160000Z</dcterms:modified>
</coreProperties>
</file>