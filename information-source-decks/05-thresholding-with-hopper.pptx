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d54956610f4817" /><Relationship Type="http://schemas.openxmlformats.org/officeDocument/2006/relationships/extended-properties" Target="/docProps/app.xml" Id="Rf0f29f8c7e6f4677" /><Relationship Type="http://schemas.openxmlformats.org/officeDocument/2006/relationships/officeDocument" Target="/ppt/presentation.xml" Id="R558b74ee434945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e44e1fd5414b28"/>
  </p:sldMasterIdLst>
  <p:notesMasterIdLst>
    <p:notesMasterId xmlns:r="http://schemas.openxmlformats.org/officeDocument/2006/relationships" r:id="Re6cccb0b31a74d2d"/>
  </p:notesMasterIdLst>
  <p:sldIdLst>
    <p:sldId xmlns:r="http://schemas.openxmlformats.org/officeDocument/2006/relationships" id="256" r:id="Rcc8d8fb3ee124f89"/>
    <p:sldId xmlns:r="http://schemas.openxmlformats.org/officeDocument/2006/relationships" id="257" r:id="R051ff3933ec04c1d"/>
    <p:sldId xmlns:r="http://schemas.openxmlformats.org/officeDocument/2006/relationships" id="258" r:id="Rb8548ebf143a48d7"/>
    <p:sldId xmlns:r="http://schemas.openxmlformats.org/officeDocument/2006/relationships" id="259" r:id="R0880535c7eae4dd6"/>
    <p:sldId xmlns:r="http://schemas.openxmlformats.org/officeDocument/2006/relationships" id="260" r:id="R0df33b054ba94887"/>
    <p:sldId xmlns:r="http://schemas.openxmlformats.org/officeDocument/2006/relationships" id="261" r:id="R083084dd3f2747fa"/>
    <p:sldId xmlns:r="http://schemas.openxmlformats.org/officeDocument/2006/relationships" id="262" r:id="Rd3af5c56fb164e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f5f04ac2cf4516" /><Relationship Type="http://schemas.openxmlformats.org/officeDocument/2006/relationships/slideMaster" Target="/ppt/slideMasters/slideMaster1.xml" Id="R7be44e1fd5414b28" /><Relationship Type="http://schemas.openxmlformats.org/officeDocument/2006/relationships/notesMaster" Target="/ppt/notesMasters/notesMaster1.xml" Id="Re6cccb0b31a74d2d" /><Relationship Type="http://schemas.openxmlformats.org/officeDocument/2006/relationships/presProps" Target="/ppt/presProps.xml" Id="R29f6b1c497e14526" /><Relationship Type="http://schemas.openxmlformats.org/officeDocument/2006/relationships/tableStyles" Target="/ppt/tableStyles.xml" Id="R9ced28ecbeac42e4" /><Relationship Type="http://schemas.openxmlformats.org/officeDocument/2006/relationships/slide" Target="/ppt/slides/slide1.xml" Id="Rcc8d8fb3ee124f89" /><Relationship Type="http://schemas.openxmlformats.org/officeDocument/2006/relationships/slide" Target="/ppt/slides/slide2.xml" Id="R051ff3933ec04c1d" /><Relationship Type="http://schemas.openxmlformats.org/officeDocument/2006/relationships/slide" Target="/ppt/slides/slide3.xml" Id="Rb8548ebf143a48d7" /><Relationship Type="http://schemas.openxmlformats.org/officeDocument/2006/relationships/slide" Target="/ppt/slides/slide4.xml" Id="R0880535c7eae4dd6" /><Relationship Type="http://schemas.openxmlformats.org/officeDocument/2006/relationships/slide" Target="/ppt/slides/slide5.xml" Id="R0df33b054ba94887" /><Relationship Type="http://schemas.openxmlformats.org/officeDocument/2006/relationships/slide" Target="/ppt/slides/slide6.xml" Id="R083084dd3f2747fa" /><Relationship Type="http://schemas.openxmlformats.org/officeDocument/2006/relationships/slide" Target="/ppt/slides/slide7.xml" Id="Rd3af5c56fb164e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a48f0e457c47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ba01c5bdc644d5" /><Relationship Type="http://schemas.openxmlformats.org/officeDocument/2006/relationships/notesMaster" Target="/ppt/notesMasters/notesMaster1.xml" Id="R5ab0dbb5813d42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eb433710cd4ac0" /><Relationship Type="http://schemas.openxmlformats.org/officeDocument/2006/relationships/notesMaster" Target="/ppt/notesMasters/notesMaster1.xml" Id="Rb12b96c2433443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1252c4e0ed42c7" /><Relationship Type="http://schemas.openxmlformats.org/officeDocument/2006/relationships/notesMaster" Target="/ppt/notesMasters/notesMaster1.xml" Id="R3af6467bf4f146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3082e5ed934b3a" /><Relationship Type="http://schemas.openxmlformats.org/officeDocument/2006/relationships/notesMaster" Target="/ppt/notesMasters/notesMaster1.xml" Id="R01befdc9fbdb40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59ec1de12a4a38" /><Relationship Type="http://schemas.openxmlformats.org/officeDocument/2006/relationships/notesMaster" Target="/ppt/notesMasters/notesMaster1.xml" Id="Rdf1a136c24a44e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8ff10a7cdf4255" /><Relationship Type="http://schemas.openxmlformats.org/officeDocument/2006/relationships/notesMaster" Target="/ppt/notesMasters/notesMaster1.xml" Id="R5e4cb93f693e43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176973913e4d8d" /><Relationship Type="http://schemas.openxmlformats.org/officeDocument/2006/relationships/notesMaster" Target="/ppt/notesMasters/notesMaster1.xml" Id="Rfe9132d0e8fb48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thresholding as a deterministic image rule, not a learned model. The authentic camera hardware anchors the image-processing lesson in the actual aircraft.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high-resolution photograph: drone_photos/IMG_4476.jpeg</a:t>
            </a:r>
          </a:p>
          <a:p xmlns:a="http://schemas.openxmlformats.org/drawingml/2006/main">
            <a:r>
              <a:t>- Hopper Studio threshold implementation: local_site/lib/vision.ts.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thresholding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Equations are typeset from LaTeX. The luminance formula is the standard Rec. 709 weighting used here to explain grayscale conversion; the app’s implementation should remain the operational reference.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https://docs.opencv.org/4.x/d7/d4d/tutorial_py_thresholding.html</a:t>
            </a:r>
          </a:p>
          <a:p xmlns:a="http://schemas.openxmlformats.org/drawingml/2006/main">
            <a:r>
              <a:t>- Hopper Studio implementation: local_site/lib/vision.ts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thresholding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Existing thresholding lesson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project source and locally generated lesson materials.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code now matches the lesson claim: it requires two consecutive observations, limits the number of scans, exits immediately after success, and guarantees an explicit landing in finally. seesBinary performs a fresh threshold scan and returns a Promise&lt;boolean&gt;.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local_site/lib/vision.ts, scanThreshold and seesBinary.</a:t>
            </a:r>
          </a:p>
          <a:p xmlns:a="http://schemas.openxmlformats.org/drawingml/2006/main">
            <a:r>
              <a:t>- Hopper Studio flight API: local_site/lib/drone.ts.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Lighting, reflection, blur, floor texture, and target size are experimental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Hopper Studio implementation: local_site/lib/vision.ts</a:t>
            </a:r>
          </a:p>
          <a:p xmlns:a="http://schemas.openxmlformats.org/drawingml/2006/main">
            <a:r>
              <a:t>- https://ftw-robotics.ai/hopper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6543b234a14d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1b83d9df8b4208" /><Relationship Type="http://schemas.openxmlformats.org/officeDocument/2006/relationships/slideLayout" Target="/ppt/slideLayouts/slideLayout1.xml" Id="R2ba801e1ef7c45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801e1ef7c45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dbb96766d4ba0" /><Relationship Type="http://schemas.openxmlformats.org/officeDocument/2006/relationships/image" Target="/ppt/media/image.jpeg" Id="R987dc8ffb8914eb2" /><Relationship Type="http://schemas.openxmlformats.org/officeDocument/2006/relationships/image" Target="/ppt/media/image.png" Id="R3749401f57ba4912" /><Relationship Type="http://schemas.openxmlformats.org/officeDocument/2006/relationships/notesSlide" Target="/ppt/notesSlides/notesSlide1.xml" Id="R0b6e75c360994b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d2730a9da4b9d" /><Relationship Type="http://schemas.openxmlformats.org/officeDocument/2006/relationships/image" Target="/ppt/media/image2.png" Id="R9b2b33c31cd4448e" /><Relationship Type="http://schemas.openxmlformats.org/officeDocument/2006/relationships/notesSlide" Target="/ppt/notesSlides/notesSlide2.xml" Id="R7d62b4b71e2149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a76604ab942f7" /><Relationship Type="http://schemas.openxmlformats.org/officeDocument/2006/relationships/image" Target="/ppt/media/image3.png" Id="R083c6921c9e84826" /><Relationship Type="http://schemas.openxmlformats.org/officeDocument/2006/relationships/image" Target="/ppt/media/image4.png" Id="R2b10c824c5ae41bb" /><Relationship Type="http://schemas.openxmlformats.org/officeDocument/2006/relationships/image" Target="/ppt/media/image.svg" Id="R2389bf9062b142f8" /><Relationship Type="http://schemas.openxmlformats.org/officeDocument/2006/relationships/image" Target="/ppt/media/image5.png" Id="Rabdd2b0896724353" /><Relationship Type="http://schemas.openxmlformats.org/officeDocument/2006/relationships/image" Target="/ppt/media/image2.svg" Id="R2000799a97f5483f" /><Relationship Type="http://schemas.openxmlformats.org/officeDocument/2006/relationships/image" Target="/ppt/media/image6.png" Id="Rd2dbb76b27ec423d" /><Relationship Type="http://schemas.openxmlformats.org/officeDocument/2006/relationships/image" Target="/ppt/media/image3.svg" Id="R39ba60b611f44402" /><Relationship Type="http://schemas.openxmlformats.org/officeDocument/2006/relationships/notesSlide" Target="/ppt/notesSlides/notesSlide3.xml" Id="Rc4a0ab53541644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08ed2c5114cd4" /><Relationship Type="http://schemas.openxmlformats.org/officeDocument/2006/relationships/image" Target="/ppt/media/image7.png" Id="R1510f906889345e1" /><Relationship Type="http://schemas.openxmlformats.org/officeDocument/2006/relationships/notesSlide" Target="/ppt/notesSlides/notesSlide4.xml" Id="R197c2369f61d42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e44647c3f4ed1" /><Relationship Type="http://schemas.openxmlformats.org/officeDocument/2006/relationships/image" Target="/ppt/media/image8.png" Id="R52322e3bbdad4ab3" /><Relationship Type="http://schemas.openxmlformats.org/officeDocument/2006/relationships/notesSlide" Target="/ppt/notesSlides/notesSlide5.xml" Id="R4b31a41dd2fc42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7f0e0798449cd" /><Relationship Type="http://schemas.openxmlformats.org/officeDocument/2006/relationships/image" Target="/ppt/media/image9.png" Id="R59e0850cc6354ad9" /><Relationship Type="http://schemas.openxmlformats.org/officeDocument/2006/relationships/notesSlide" Target="/ppt/notesSlides/notesSlide6.xml" Id="R8a9420cd261d46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d24e8f25643d5" /><Relationship Type="http://schemas.openxmlformats.org/officeDocument/2006/relationships/image" Target="/ppt/media/image10.png" Id="Ra4d2335fad964a08" /><Relationship Type="http://schemas.openxmlformats.org/officeDocument/2006/relationships/notesSlide" Target="/ppt/notesSlides/notesSlide7.xml" Id="R2aa18d65e3704b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dc8ffb8914eb2"/>
          <a:srcRect xmlns:a="http://schemas.openxmlformats.org/drawingml/2006/main" l="0" t="10411" r="0" b="104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95950" y="0"/>
            <a:ext cx="6496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938B5-412E-4A73-8C98-BA231718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0"/>
            <a:ext cx="59055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0A44E5-118E-4EB4-8334-4A5A6735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23812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9401f57ba4912"/>
          <a:stretch xmlns:a="http://schemas.openxmlformats.org/drawingml/2006/main"/>
        </p:blipFill>
        <p:spPr>
          <a:xfrm xmlns:a="http://schemas.openxmlformats.org/drawingml/2006/main">
            <a:off x="1115994" y="561975"/>
            <a:ext cx="1177963" cy="5905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C64A8-1D16-4A0C-8C1D-C9B10F18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B8B4"/>
                </a:solidFill>
              </a:defRPr>
            </a:pPr>
            <a:r>
              <a:rPr sz="975" b="1">
                <a:solidFill>
                  <a:srgbClr val="14B8B4"/>
                </a:solidFill>
              </a:rPr>
              <a:t>HOPPER INFORMATION SERIES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5C62E-2396-4ADA-A5E0-7EFCEEDB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THRESHOLDING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AC378-0B53-4ED4-B2A2-954C65D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7450"/>
            <a:ext cx="4572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Thresholding with Hopper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9C536-0A8C-41D6-BDF4-127EB33C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4E2E8"/>
                </a:solidFill>
              </a:defRPr>
            </a:pPr>
            <a:r>
              <a:rPr sz="1500">
                <a:solidFill>
                  <a:srgbClr val="D4E2E8"/>
                </a:solidFill>
              </a:rPr>
              <a:t>Turn camera brightness into an explainable binary measurement—and test it safely in a real room.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77E8A-1201-43C5-9858-A9C6280D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952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654"/>
          </a:solidFill>
          <a:ln xmlns:a="http://schemas.openxmlformats.org/drawingml/2006/main" w="14288">
            <a:solidFill>
              <a:srgbClr val="1236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PIXELS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81B29-8EBC-4571-9ADE-8C4FD99F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72100"/>
            <a:ext cx="1447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654"/>
          </a:solidFill>
          <a:ln xmlns:a="http://schemas.openxmlformats.org/drawingml/2006/main" w="14288">
            <a:solidFill>
              <a:srgbClr val="1236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BINARY MASKS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D6CFD2-C40C-44FC-858F-9B92954C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372100"/>
            <a:ext cx="1600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C95"/>
          </a:solidFill>
          <a:ln xmlns:a="http://schemas.openxmlformats.org/drawingml/2006/main" w="14288">
            <a:solidFill>
              <a:srgbClr val="008C9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SAFE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CABE5-2CDD-4CA8-852D-7E1AFD62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198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556E"/>
          </a:solidFill>
          <a:ln xmlns:a="http://schemas.openxmlformats.org/drawingml/2006/main" w="0">
            <a:solidFill>
              <a:srgbClr val="3355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146E7-508F-4EC2-A546-B937A6FC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04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94AFBC"/>
                </a:solidFill>
              </a:defRPr>
            </a:pPr>
            <a:r>
              <a:rPr sz="750">
                <a:solidFill>
                  <a:srgbClr val="94AFBC"/>
                </a:solidFill>
              </a:rPr>
              <a:t>DECK 05  |  THRESHOLDING</a:t>
            </a:r>
          </a:p>
        </p:txBody>
      </p:sp>
    </p:spTree>
    <p:extLst>
      <p:ext uri="{BB962C8B-B14F-4D97-AF65-F5344CB8AC3E}">
        <p14:creationId xmlns:p14="http://schemas.microsoft.com/office/powerpoint/2010/main" val="18108421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b33c31cd4448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F14E9-4647-451A-9343-D9345F75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5B4BB-3C81-4683-A93E-4867241D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THRESHOLDING /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F916B-FC2F-4033-8500-16403F79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F6A2B-A1C3-4CD7-8A3F-1460D79F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2 / 7</a:t>
            </a:r>
          </a:p>
        </p:txBody>
      </p:sp>
    </p:spTree>
    <p:extLst>
      <p:ext uri="{BB962C8B-B14F-4D97-AF65-F5344CB8AC3E}">
        <p14:creationId xmlns:p14="http://schemas.microsoft.com/office/powerpoint/2010/main" val="1615242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C7A1A7-5649-4FAD-9189-6B680FFD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6803BD-8B2E-4DC9-9E4D-F1013886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FA0FC-8C3E-45A0-B8C9-D100F18E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THRESHOLDING /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C0DF5-8A93-4862-A86C-F24C4B51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BINARY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3B810-2E2F-4205-A458-744BF7E0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One threshold turns a grayscale frame into a mask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c6921c9e84826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D75B47-7551-4074-AF77-A74B5550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3765D-979B-4BCF-88FE-94DF0DCD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4E9B1-A8C1-49CA-9E3B-FBDDCF13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3 / 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29961-3108-42DD-9859-D8F12F46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05F24-66F3-42A9-A933-83587769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AC8C28-6DF9-433A-A9AF-2473DEDE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1 · CONVERT COLOR TO LUMINANCE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0c824c5ae41bb">
            <a:extLst>
              <a:ext uri="{96DAC541-7B7A-43D3-8B79-37D633B846F1}">
                <asvg:svgBlip xmlns:asvg="http://schemas.microsoft.com/office/drawing/2016/SVG/main" r:embed="R2389bf9062b142f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207039"/>
            <a:ext cx="4191000" cy="253172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043931-9F79-471C-B339-B2B4535E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762500" cy="1981200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ED50A4-F8AC-4151-9960-81FD053A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7620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solidFill>
              <a:srgbClr val="C9A22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AD8E7-E4E4-44C6-9C16-F04F7D39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1B3A"/>
                </a:solidFill>
              </a:defRPr>
            </a:pPr>
            <a:r>
              <a:rPr sz="1275" b="1">
                <a:solidFill>
                  <a:srgbClr val="001B3A"/>
                </a:solidFill>
              </a:rPr>
              <a:t>2 · APPLY THE SLIDER THRESHOLD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dd2b0896724353">
            <a:extLst>
              <a:ext uri="{96DAC541-7B7A-43D3-8B79-37D633B846F1}">
                <asvg:svgBlip xmlns:asvg="http://schemas.microsoft.com/office/drawing/2016/SVG/main" r:embed="R2000799a97f5483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08681" y="3849805"/>
            <a:ext cx="3564338" cy="83479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8FB54-E0C0-4207-9AAA-A8B0002A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24000"/>
            <a:ext cx="58293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4D3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A623F-FFA1-44C4-8773-42F247E2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240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F5C"/>
          </a:solidFill>
          <a:ln xmlns:a="http://schemas.openxmlformats.org/drawingml/2006/main" w="0">
            <a:solidFill>
              <a:srgbClr val="D94F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B79325-BFB2-4FBF-A98D-A2D457EA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537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3 · MEASURE WHITE COVERAGE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bb76b27ec423d">
            <a:extLst>
              <a:ext uri="{96DAC541-7B7A-43D3-8B79-37D633B846F1}">
                <asvg:svgBlip xmlns:asvg="http://schemas.microsoft.com/office/drawing/2016/SVG/main" r:embed="R39ba60b611f4440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077129" y="2090242"/>
            <a:ext cx="3181242" cy="829667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7E3558-44EA-435C-88F9-AF9E5671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505200"/>
            <a:ext cx="58293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6D4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F78F78-84BB-426D-9CC7-4689E0D1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5052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BBDE26-342F-4351-952C-4C6C91CF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95700"/>
            <a:ext cx="541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3A"/>
                </a:solidFill>
              </a:defRPr>
            </a:pPr>
            <a:r>
              <a:rPr sz="1500" b="1">
                <a:solidFill>
                  <a:srgbClr val="001B3A"/>
                </a:solidFill>
              </a:rPr>
              <a:t>How to read 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C364F7-145A-444B-A925-C7552723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86225"/>
            <a:ext cx="5410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T is the 0–100 slider value; 2.55T maps it to an 8-bit intensity.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B = 1 means white in the binary mask; B = 0 means black.</a:t>
            </a:r>
          </a:p>
          <a:p xmlns:a="http://schemas.openxmlformats.org/drawingml/2006/main">
            <a:pPr>
              <a:defRPr sz="1275">
                <a:solidFill>
                  <a:srgbClr val="0D2843"/>
                </a:solidFill>
              </a:defRPr>
            </a:pPr>
            <a:r>
              <a:rPr sz="1275">
                <a:solidFill>
                  <a:srgbClr val="0D2843"/>
                </a:solidFill>
              </a:rPr>
              <a:t>• Invert swaps the classes: Bᵢₙᵥ = 1 − B.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C3A0CC-A724-4852-A7BA-72F0E774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7212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1B3A"/>
                </a:solidFill>
              </a:defRPr>
            </a:pPr>
            <a:r>
              <a:rPr sz="1650" b="1">
                <a:solidFill>
                  <a:srgbClr val="001B3A"/>
                </a:solidFill>
              </a:rPr>
              <a:t>Thresholding uses a rule you can inspect—not a learned neural network.</a:t>
            </a:r>
          </a:p>
        </p:txBody>
      </p:sp>
    </p:spTree>
    <p:extLst>
      <p:ext uri="{BB962C8B-B14F-4D97-AF65-F5344CB8AC3E}">
        <p14:creationId xmlns:p14="http://schemas.microsoft.com/office/powerpoint/2010/main" val="17562058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10f906889345e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A6EF1-6FA2-4A04-BCCC-F5DA8C94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8FE3D-0094-4F8A-B52F-3977ECB0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THRESHOLDING /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A2B97-9026-4AFA-910E-5501742B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07371-4B22-4C02-A692-08E6D13B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4 / 7</a:t>
            </a:r>
          </a:p>
        </p:txBody>
      </p:sp>
    </p:spTree>
    <p:extLst>
      <p:ext uri="{BB962C8B-B14F-4D97-AF65-F5344CB8AC3E}">
        <p14:creationId xmlns:p14="http://schemas.microsoft.com/office/powerpoint/2010/main" val="7506891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22e3bbdad4ab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022BA-9941-4F85-831D-B33DCE0C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92A81-60C2-4378-99E4-85C3853A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THRESHOLDING /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3C150-19BC-40D5-8125-8783C4F9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00DA2-63E9-497E-9C56-EAE3B8AE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5 / 7</a:t>
            </a:r>
          </a:p>
        </p:txBody>
      </p:sp>
    </p:spTree>
    <p:extLst>
      <p:ext uri="{BB962C8B-B14F-4D97-AF65-F5344CB8AC3E}">
        <p14:creationId xmlns:p14="http://schemas.microsoft.com/office/powerpoint/2010/main" val="6111894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3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06700F-F61E-4A87-AFAF-14CF5308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5ABEB-EA41-4AB8-B175-967DBFBC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"/>
            <a:ext cx="1219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E417E-152F-4873-86AA-60EACDD1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THRESHOLDING /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530FA-F65E-450B-9488-920A505A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A227"/>
                </a:solidFill>
              </a:defRPr>
            </a:pPr>
            <a:r>
              <a:rPr sz="750" b="1">
                <a:solidFill>
                  <a:srgbClr val="C9A227"/>
                </a:solidFill>
              </a:rPr>
              <a:t>MISSION CODE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58D8C-DCEC-413B-9518-0F279746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62000"/>
            <a:ext cx="1004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1B3A"/>
                </a:solidFill>
              </a:defRPr>
            </a:pPr>
            <a:r>
              <a:rPr sz="2700" b="1">
                <a:solidFill>
                  <a:srgbClr val="001B3A"/>
                </a:solidFill>
              </a:rPr>
              <a:t>Require two consistent scans—then land safely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e0850cc6354ad9"/>
          <a:stretch xmlns:a="http://schemas.openxmlformats.org/drawingml/2006/main"/>
        </p:blipFill>
        <p:spPr>
          <a:xfrm xmlns:a="http://schemas.openxmlformats.org/drawingml/2006/main">
            <a:off x="11258550" y="399746"/>
            <a:ext cx="457200" cy="22920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BA6-40FE-4B1F-82A8-A4FB4038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4ED43-6AFD-4144-BAF3-BB57014A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856AC-909C-4F6E-94EC-E52F19CF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722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6 / 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70632-384F-487D-8301-0559F03C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6838950" cy="4838700"/>
          </a:xfrm>
          <a:prstGeom xmlns:a="http://schemas.openxmlformats.org/drawingml/2006/main" prst="roundRect">
            <a:avLst>
              <a:gd name="adj" fmla="val 2362"/>
            </a:avLst>
          </a:prstGeom>
          <a:solidFill xmlns:a="http://schemas.openxmlformats.org/drawingml/2006/main">
            <a:srgbClr val="062B4D"/>
          </a:solidFill>
          <a:ln xmlns:a="http://schemas.openxmlformats.org/drawingml/2006/main" w="14288">
            <a:solidFill>
              <a:srgbClr val="0C365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335156-22D0-43D8-BEE2-C4CF9748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6838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solidFill>
              <a:srgbClr val="071A3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F301E-EBE8-4738-B668-2E141916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6B72"/>
          </a:solidFill>
          <a:ln xmlns:a="http://schemas.openxmlformats.org/drawingml/2006/main" w="0">
            <a:solidFill>
              <a:srgbClr val="F16B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C99CD-E40A-4E8F-B455-F6FA3B65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33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BF48"/>
          </a:solidFill>
          <a:ln xmlns:a="http://schemas.openxmlformats.org/drawingml/2006/main" w="0">
            <a:solidFill>
              <a:srgbClr val="EABF4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9F7D5C-86D3-4CF0-9F9A-7D50C5A4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335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C2A8"/>
          </a:solidFill>
          <a:ln xmlns:a="http://schemas.openxmlformats.org/drawingml/2006/main" w="0">
            <a:solidFill>
              <a:srgbClr val="4CC2A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1DAE16-50DB-4FF3-879F-1C703675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95425"/>
            <a:ext cx="5924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A7C2CF"/>
                </a:solidFill>
              </a:defRPr>
            </a:pPr>
            <a:r>
              <a:rPr sz="825" b="1">
                <a:solidFill>
                  <a:srgbClr val="A7C2CF"/>
                </a:solidFill>
              </a:rPr>
              <a:t>BOUNDED TWO-HIT CHECK · PROGRAM.JS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B8179-C5EE-4433-8400-563AB030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496050" cy="422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1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0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takeOff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2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let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consecutiveHits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0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3  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4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try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{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5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for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(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let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attempt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0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; attempt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&lt;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8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; attempt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+=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1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 {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6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const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seen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vision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0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seesBinary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</a:t>
            </a:r>
            <a:r>
              <a:rPr sz="1200">
                <a:solidFill>
                  <a:srgbClr val="A8E6A1"/>
                </a:solidFill>
                <a:latin typeface="Aptos Mono"/>
                <a:ea typeface="Aptos Mono"/>
                <a:cs typeface="Aptos Mono"/>
              </a:rPr>
              <a:t>"white"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,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60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, </a:t>
            </a:r>
            <a:r>
              <a:rPr sz="1200">
                <a:solidFill>
                  <a:srgbClr val="D7A6FF"/>
                </a:solidFill>
                <a:latin typeface="Aptos Mono"/>
                <a:ea typeface="Aptos Mono"/>
                <a:cs typeface="Aptos Mono"/>
              </a:rPr>
              <a:t>false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,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18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7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consecutiveHits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seen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?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consecutiveHits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+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1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: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0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8  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 9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if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(consecutiveHits 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===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2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 {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10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0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hover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11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break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12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}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13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0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wait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</a:t>
            </a:r>
            <a:r>
              <a:rPr sz="1200">
                <a:solidFill>
                  <a:srgbClr val="F5C66B"/>
                </a:solidFill>
                <a:latin typeface="Aptos Mono"/>
                <a:ea typeface="Aptos Mono"/>
                <a:cs typeface="Aptos Mono"/>
              </a:rPr>
              <a:t>0.35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14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}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15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}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finally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{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16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 </a:t>
            </a:r>
            <a:r>
              <a:rPr sz="12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drone</a:t>
            </a:r>
            <a:r>
              <a:rPr sz="12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120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land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0"/>
              </a:spcAft>
              <a:buNone/>
              <a:defRPr sz="1200"/>
            </a:pPr>
            <a:r>
              <a:rPr sz="1200">
                <a:solidFill>
                  <a:srgbClr val="67869A"/>
                </a:solidFill>
                <a:latin typeface="Aptos Mono"/>
                <a:ea typeface="Aptos Mono"/>
                <a:cs typeface="Aptos Mono"/>
              </a:rPr>
              <a:t>17  </a:t>
            </a:r>
            <a:r>
              <a:rPr sz="12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A4A55-973D-408B-8A13-8077A632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09700"/>
            <a:ext cx="38862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3D2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9F046-8EBC-430C-A56C-4944515B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09700"/>
            <a:ext cx="66675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95"/>
          </a:solidFill>
          <a:ln xmlns:a="http://schemas.openxmlformats.org/drawingml/2006/main" w="0">
            <a:solidFill>
              <a:srgbClr val="008C9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F51050-3848-485F-B30B-24AC437E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4305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C95"/>
                </a:solidFill>
              </a:defRPr>
            </a:pPr>
            <a:r>
              <a:rPr sz="975" b="1">
                <a:solidFill>
                  <a:srgbClr val="008C95"/>
                </a:solidFill>
              </a:rPr>
              <a:t>VISION METHOD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F4F691-7840-425E-BFD4-1FD2A1C3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1B3A"/>
          </a:solidFill>
          <a:ln xmlns:a="http://schemas.openxmlformats.org/drawingml/2006/main" w="0">
            <a:solidFill>
              <a:srgbClr val="001B3A"/>
            </a:solidFill>
            <a:prstDash val="solid"/>
          </a:ln>
        </p:spPr>
        <p:txBody>
          <a:bodyPr xmlns:a="http://schemas.openxmlformats.org/drawingml/2006/main" lIns="76200" tIns="57150" rIns="76200" bIns="38100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0"/>
              </a:spcAft>
              <a:defRPr sz="900"/>
            </a:pPr>
            <a:r>
              <a:rPr sz="900">
                <a:solidFill>
                  <a:srgbClr val="78C7FF"/>
                </a:solidFill>
                <a:latin typeface="Aptos Mono"/>
                <a:ea typeface="Aptos Mono"/>
                <a:cs typeface="Aptos Mono"/>
              </a:rPr>
              <a:t>await</a:t>
            </a:r>
            <a:r>
              <a:rPr sz="9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 vision</a:t>
            </a:r>
            <a:r>
              <a:rPr sz="900">
                <a:solidFill>
                  <a:srgbClr val="B4C9D8"/>
                </a:solidFill>
                <a:latin typeface="Aptos Mono"/>
                <a:ea typeface="Aptos Mono"/>
                <a:cs typeface="Aptos Mono"/>
              </a:rPr>
              <a:t>.</a:t>
            </a:r>
            <a:r>
              <a:rPr sz="900">
                <a:solidFill>
                  <a:srgbClr val="55D6C2"/>
                </a:solidFill>
                <a:latin typeface="Aptos Mono"/>
                <a:ea typeface="Aptos Mono"/>
                <a:cs typeface="Aptos Mono"/>
              </a:rPr>
              <a:t>seesBinary</a:t>
            </a:r>
            <a:r>
              <a:rPr sz="900">
                <a:solidFill>
                  <a:srgbClr val="E7F1F5"/>
                </a:solidFill>
                <a:latin typeface="Aptos Mono"/>
                <a:ea typeface="Aptos Mono"/>
                <a:cs typeface="Aptos Mono"/>
              </a:rPr>
              <a:t>(color, threshold, invert, minimumCoverage)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174B1B-C6DE-41C0-A845-27A91957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66950"/>
            <a:ext cx="3429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D2843"/>
                </a:solidFill>
              </a:defRPr>
            </a:pPr>
            <a:r>
              <a:rPr sz="1125">
                <a:solidFill>
                  <a:srgbClr val="0D2843"/>
                </a:solidFill>
              </a:rPr>
              <a:t>color — "white" | "black"</a:t>
            </a:r>
          </a:p>
          <a:p xmlns:a="http://schemas.openxmlformats.org/drawingml/2006/main">
            <a:pPr>
              <a:defRPr sz="1125">
                <a:solidFill>
                  <a:srgbClr val="0D2843"/>
                </a:solidFill>
              </a:defRPr>
            </a:pPr>
            <a:r>
              <a:rPr sz="1125">
                <a:solidFill>
                  <a:srgbClr val="0D2843"/>
                </a:solidFill>
              </a:rPr>
              <a:t>threshold — 0…100 brightness%; default 60</a:t>
            </a:r>
          </a:p>
          <a:p xmlns:a="http://schemas.openxmlformats.org/drawingml/2006/main">
            <a:pPr>
              <a:defRPr sz="1125">
                <a:solidFill>
                  <a:srgbClr val="0D2843"/>
                </a:solidFill>
              </a:defRPr>
            </a:pPr>
            <a:r>
              <a:rPr sz="1125">
                <a:solidFill>
                  <a:srgbClr val="0D2843"/>
                </a:solidFill>
              </a:rPr>
              <a:t>invert — boolean; default false</a:t>
            </a:r>
          </a:p>
          <a:p xmlns:a="http://schemas.openxmlformats.org/drawingml/2006/main">
            <a:pPr>
              <a:defRPr sz="1125">
                <a:solidFill>
                  <a:srgbClr val="0D2843"/>
                </a:solidFill>
              </a:defRPr>
            </a:pPr>
            <a:r>
              <a:rPr sz="1125">
                <a:solidFill>
                  <a:srgbClr val="0D2843"/>
                </a:solidFill>
              </a:rPr>
              <a:t>minimumCoverage — 0…100 frame%; default 10</a:t>
            </a:r>
          </a:p>
          <a:p xmlns:a="http://schemas.openxmlformats.org/drawingml/2006/main">
            <a:pPr>
              <a:defRPr sz="1125">
                <a:solidFill>
                  <a:srgbClr val="0D2843"/>
                </a:solidFill>
              </a:defRPr>
            </a:pPr>
            <a:r>
              <a:rPr sz="1125">
                <a:solidFill>
                  <a:srgbClr val="0D2843"/>
                </a:solidFill>
              </a:rPr>
              <a:t>returns — Promise&lt;boolean&gt; after a fresh scan</a:t>
            </a:r>
          </a:p>
          <a:p xmlns:a="http://schemas.openxmlformats.org/drawingml/2006/main">
            <a:pPr>
              <a:defRPr sz="1125">
                <a:solidFill>
                  <a:srgbClr val="0D2843"/>
                </a:solidFill>
              </a:defRPr>
            </a:pPr>
            <a:r>
              <a:rPr sz="1125">
                <a:solidFill>
                  <a:srgbClr val="0D2843"/>
                </a:solidFill>
              </a:rPr>
              <a:t>throws — if camera pixels cannot be captured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3014EA-DEF1-49E3-8DC7-0AD8DEF2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67250"/>
            <a:ext cx="38862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BE4E7"/>
          </a:solidFill>
          <a:ln xmlns:a="http://schemas.openxmlformats.org/drawingml/2006/main" w="14288">
            <a:solidFill>
              <a:srgbClr val="D94F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F851F7-4A27-4469-A8C6-0CEF4A55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76800"/>
            <a:ext cx="3390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94F5C"/>
                </a:solidFill>
              </a:defRPr>
            </a:pPr>
            <a:r>
              <a:rPr sz="1275" b="1">
                <a:solidFill>
                  <a:srgbClr val="D94F5C"/>
                </a:solidFill>
              </a:rPr>
              <a:t>WHY THIS PATTERN IS SAFER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1F23FC-2B97-4085-A5EE-2539D638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970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0D2843"/>
                </a:solidFill>
              </a:defRPr>
            </a:pPr>
            <a:r>
              <a:rPr sz="1050">
                <a:solidFill>
                  <a:srgbClr val="0D2843"/>
                </a:solidFill>
              </a:rPr>
              <a:t>• Two hits reduce single-frame triggers.</a:t>
            </a:r>
          </a:p>
          <a:p xmlns:a="http://schemas.openxmlformats.org/drawingml/2006/main">
            <a:pPr>
              <a:defRPr sz="1050">
                <a:solidFill>
                  <a:srgbClr val="0D2843"/>
                </a:solidFill>
              </a:defRPr>
            </a:pPr>
            <a:r>
              <a:rPr sz="1050">
                <a:solidFill>
                  <a:srgbClr val="0D2843"/>
                </a:solidFill>
              </a:rPr>
              <a:t>• Eight attempts bound the search.</a:t>
            </a:r>
          </a:p>
          <a:p xmlns:a="http://schemas.openxmlformats.org/drawingml/2006/main">
            <a:pPr>
              <a:defRPr sz="1050">
                <a:solidFill>
                  <a:srgbClr val="0D2843"/>
                </a:solidFill>
              </a:defRPr>
            </a:pPr>
            <a:r>
              <a:rPr sz="1050">
                <a:solidFill>
                  <a:srgbClr val="0D2843"/>
                </a:solidFill>
              </a:rPr>
              <a:t>• finally lands on success, timeout, or error.</a:t>
            </a:r>
          </a:p>
          <a:p xmlns:a="http://schemas.openxmlformats.org/drawingml/2006/main">
            <a:pPr>
              <a:defRPr sz="1050">
                <a:solidFill>
                  <a:srgbClr val="0D2843"/>
                </a:solidFill>
              </a:defRPr>
            </a:pPr>
            <a:r>
              <a:rPr sz="1050">
                <a:solidFill>
                  <a:srgbClr val="0D2843"/>
                </a:solidFill>
              </a:rPr>
              <a:t>• break stops the loop after success.</a:t>
            </a:r>
          </a:p>
        </p:txBody>
      </p:sp>
    </p:spTree>
    <p:extLst>
      <p:ext uri="{BB962C8B-B14F-4D97-AF65-F5344CB8AC3E}">
        <p14:creationId xmlns:p14="http://schemas.microsoft.com/office/powerpoint/2010/main" val="154086032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2335fad964a0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60705-24C8-4C64-BA80-7AADD2B3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34050"/>
            <a:ext cx="11239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BCD26-6428-407E-AD1B-F993CEDA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293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SOURCES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D2769-F53E-4850-BE3C-1F27A642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9600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A7B"/>
                </a:solidFill>
              </a:defRPr>
            </a:pPr>
            <a:r>
              <a:rPr sz="1050">
                <a:solidFill>
                  <a:srgbClr val="536A7B"/>
                </a:solidFill>
              </a:rPr>
              <a:t>Hopper Studio lib/vision.ts · FTW Robotics indoor-flight guidance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E4E10-02E6-40C7-A54E-0BBA7043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05575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7CF"/>
          </a:solidFill>
          <a:ln xmlns:a="http://schemas.openxmlformats.org/drawingml/2006/main" w="0">
            <a:solidFill>
              <a:srgbClr val="B8C7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F8812-461C-491C-92E2-3DA2D86D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42862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WRC | HOPPER STUDIO | INFORMATION SERIES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EB4DE-BC13-4E85-A125-53110AD7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"/>
            <a:ext cx="2667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58562-DE1D-4CFB-90A5-F6C9D02F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238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008C95"/>
                </a:solidFill>
              </a:defRPr>
            </a:pPr>
            <a:r>
              <a:rPr sz="750" b="1">
                <a:solidFill>
                  <a:srgbClr val="008C95"/>
                </a:solidFill>
              </a:rPr>
              <a:t>THRESHOLDING / 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98C66-BE7A-4678-97F8-29603B41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496050"/>
            <a:ext cx="9144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5"/>
          </a:solidFill>
          <a:ln xmlns:a="http://schemas.openxmlformats.org/drawingml/2006/main" w="0">
            <a:solidFill>
              <a:srgbClr val="EEF3F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708691-8C09-49FF-B3A4-6E47E53C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72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>
                <a:solidFill>
                  <a:srgbClr val="536A7B"/>
                </a:solidFill>
              </a:defRPr>
            </a:pPr>
            <a:r>
              <a:rPr sz="675">
                <a:solidFill>
                  <a:srgbClr val="536A7B"/>
                </a:solidFill>
              </a:rPr>
              <a:t>7 / 7</a:t>
            </a:r>
          </a:p>
        </p:txBody>
      </p:sp>
    </p:spTree>
    <p:extLst>
      <p:ext uri="{BB962C8B-B14F-4D97-AF65-F5344CB8AC3E}">
        <p14:creationId xmlns:p14="http://schemas.microsoft.com/office/powerpoint/2010/main" val="11218837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2026-07-26T15:56:07.3260000Z</dcterms:created>
  <dcterms:modified xsi:type="dcterms:W3CDTF">2026-07-26T15:56:07.3260000Z</dcterms:modified>
</coreProperties>
</file>