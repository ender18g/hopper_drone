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d25f3d9c834f1a" /><Relationship Type="http://schemas.openxmlformats.org/officeDocument/2006/relationships/extended-properties" Target="/docProps/app.xml" Id="R1aff2bcca66644ea" /><Relationship Type="http://schemas.openxmlformats.org/officeDocument/2006/relationships/officeDocument" Target="/ppt/presentation.xml" Id="R309882ba29cf4b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ccb4fc5461446c"/>
  </p:sldMasterIdLst>
  <p:notesMasterIdLst>
    <p:notesMasterId xmlns:r="http://schemas.openxmlformats.org/officeDocument/2006/relationships" r:id="R9bd41e655fde43f3"/>
  </p:notesMasterIdLst>
  <p:sldIdLst>
    <p:sldId xmlns:r="http://schemas.openxmlformats.org/officeDocument/2006/relationships" id="256" r:id="R5e127a9add8149f6"/>
    <p:sldId xmlns:r="http://schemas.openxmlformats.org/officeDocument/2006/relationships" id="257" r:id="Rf383c590fea044c3"/>
    <p:sldId xmlns:r="http://schemas.openxmlformats.org/officeDocument/2006/relationships" id="258" r:id="R369fc4438ae04927"/>
    <p:sldId xmlns:r="http://schemas.openxmlformats.org/officeDocument/2006/relationships" id="259" r:id="R2ee2865cabf44ff9"/>
    <p:sldId xmlns:r="http://schemas.openxmlformats.org/officeDocument/2006/relationships" id="260" r:id="Ra0f483979a674fbc"/>
    <p:sldId xmlns:r="http://schemas.openxmlformats.org/officeDocument/2006/relationships" id="261" r:id="R479023b3443b45a6"/>
    <p:sldId xmlns:r="http://schemas.openxmlformats.org/officeDocument/2006/relationships" id="262" r:id="Rf2b984f9e8794f47"/>
    <p:sldId xmlns:r="http://schemas.openxmlformats.org/officeDocument/2006/relationships" id="263" r:id="R242dc004735b4c51"/>
    <p:sldId xmlns:r="http://schemas.openxmlformats.org/officeDocument/2006/relationships" id="264" r:id="R178e77e19f3c4e89"/>
    <p:sldId xmlns:r="http://schemas.openxmlformats.org/officeDocument/2006/relationships" id="265" r:id="R450c3ab124b447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24900382714ef2" /><Relationship Type="http://schemas.openxmlformats.org/officeDocument/2006/relationships/slideMaster" Target="/ppt/slideMasters/slideMaster1.xml" Id="Rcdccb4fc5461446c" /><Relationship Type="http://schemas.openxmlformats.org/officeDocument/2006/relationships/notesMaster" Target="/ppt/notesMasters/notesMaster1.xml" Id="R9bd41e655fde43f3" /><Relationship Type="http://schemas.openxmlformats.org/officeDocument/2006/relationships/presProps" Target="/ppt/presProps.xml" Id="Ra4a97c365e4c4013" /><Relationship Type="http://schemas.openxmlformats.org/officeDocument/2006/relationships/tableStyles" Target="/ppt/tableStyles.xml" Id="R3a3ee9bc76204084" /><Relationship Type="http://schemas.openxmlformats.org/officeDocument/2006/relationships/slide" Target="/ppt/slides/slide1.xml" Id="R5e127a9add8149f6" /><Relationship Type="http://schemas.openxmlformats.org/officeDocument/2006/relationships/slide" Target="/ppt/slides/slide2.xml" Id="Rf383c590fea044c3" /><Relationship Type="http://schemas.openxmlformats.org/officeDocument/2006/relationships/slide" Target="/ppt/slides/slide3.xml" Id="R369fc4438ae04927" /><Relationship Type="http://schemas.openxmlformats.org/officeDocument/2006/relationships/slide" Target="/ppt/slides/slide4.xml" Id="R2ee2865cabf44ff9" /><Relationship Type="http://schemas.openxmlformats.org/officeDocument/2006/relationships/slide" Target="/ppt/slides/slide5.xml" Id="Ra0f483979a674fbc" /><Relationship Type="http://schemas.openxmlformats.org/officeDocument/2006/relationships/slide" Target="/ppt/slides/slide6.xml" Id="R479023b3443b45a6" /><Relationship Type="http://schemas.openxmlformats.org/officeDocument/2006/relationships/slide" Target="/ppt/slides/slide7.xml" Id="Rf2b984f9e8794f47" /><Relationship Type="http://schemas.openxmlformats.org/officeDocument/2006/relationships/slide" Target="/ppt/slides/slide8.xml" Id="R242dc004735b4c51" /><Relationship Type="http://schemas.openxmlformats.org/officeDocument/2006/relationships/slide" Target="/ppt/slides/slide9.xml" Id="R178e77e19f3c4e89" /><Relationship Type="http://schemas.openxmlformats.org/officeDocument/2006/relationships/slide" Target="/ppt/slides/slide10.xml" Id="R450c3ab124b447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20bf014a5645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f99edad2b04e3c" /><Relationship Type="http://schemas.openxmlformats.org/officeDocument/2006/relationships/notesMaster" Target="/ppt/notesMasters/notesMaster1.xml" Id="R18e7367bb47745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37d595f042418d" /><Relationship Type="http://schemas.openxmlformats.org/officeDocument/2006/relationships/notesMaster" Target="/ppt/notesMasters/notesMaster1.xml" Id="Rb3eec4956bd742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9596dee08c4d4c" /><Relationship Type="http://schemas.openxmlformats.org/officeDocument/2006/relationships/notesMaster" Target="/ppt/notesMasters/notesMaster1.xml" Id="R1832b40a19a441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c1b19bfdc74868" /><Relationship Type="http://schemas.openxmlformats.org/officeDocument/2006/relationships/notesMaster" Target="/ppt/notesMasters/notesMaster1.xml" Id="Rcec1564cf3594f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32d4bc4c704575" /><Relationship Type="http://schemas.openxmlformats.org/officeDocument/2006/relationships/notesMaster" Target="/ppt/notesMasters/notesMaster1.xml" Id="Rc4bf643f4cff44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41f311ff254565" /><Relationship Type="http://schemas.openxmlformats.org/officeDocument/2006/relationships/notesMaster" Target="/ppt/notesMasters/notesMaster1.xml" Id="R78dd8e12e00d4f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be143d9b0548c8" /><Relationship Type="http://schemas.openxmlformats.org/officeDocument/2006/relationships/notesMaster" Target="/ppt/notesMasters/notesMaster1.xml" Id="R6b8bccf183614d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2cbf53b0a64a2e" /><Relationship Type="http://schemas.openxmlformats.org/officeDocument/2006/relationships/notesMaster" Target="/ppt/notesMasters/notesMaster1.xml" Id="R9a1ec752f14441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f035c984644067" /><Relationship Type="http://schemas.openxmlformats.org/officeDocument/2006/relationships/notesMaster" Target="/ppt/notesMasters/notesMaster1.xml" Id="R8f35d1b542a243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8a6a7642db46b4" /><Relationship Type="http://schemas.openxmlformats.org/officeDocument/2006/relationships/notesMaster" Target="/ppt/notesMasters/notesMaster1.xml" Id="R0e3aba017d9e46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AprilTag lesson cover.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https://april.eecs.umich.edu/software/apriltag.html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AprilTag was introduced by Edwin Olson of the University of Michigan APRIL Laboratory at ICRA 2011. The system provides tag identity and six-degree-of-freedom localization from a single image. AprilTag 2 redesigned the detector; AprilTag 3 added faster detection, improved small-tag performance, flexible layouts, and pose estimation.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https://april.eecs.umich.edu/papers/details.php?name=olson2011tags</a:t>
            </a:r>
          </a:p>
          <a:p xmlns:a="http://schemas.openxmlformats.org/drawingml/2006/main">
            <a:r>
              <a:t>- https://april.eecs.umich.edu/papers/details.php?name=wang2016iros</a:t>
            </a:r>
          </a:p>
          <a:p xmlns:a="http://schemas.openxmlformats.org/drawingml/2006/main">
            <a:r>
              <a:t>- https://github.com/AprilRobotics/apriltag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AprilTags are used for augmented reality, robotics, and camera calibration. The pose capability makes them useful in localization, docking, manipulation, and repeatable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https://april.eecs.umich.edu/software/apriltag.html</a:t>
            </a:r>
          </a:p>
          <a:p xmlns:a="http://schemas.openxmlformats.org/drawingml/2006/main">
            <a:r>
              <a:t>- https://github.com/AprilRobotics/apriltag_ros</a:t>
            </a:r>
          </a:p>
          <a:p xmlns:a="http://schemas.openxmlformats.org/drawingml/2006/main">
            <a:r>
              <a:t>- https://april.eecs.umich.edu/papers/details.php?name=olson2011tags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Tag anatomy: border, code cells, orientation, and quiet zone.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https://april.eecs.umich.edu/software/apriltag.html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family names such as tag36h11, 36 indicates code/data bits and 11 indicates the minimum Hamming distance between valid codes. Hopper Studio deliberately uses tag36h11 and exposes IDs 0 through 586. The upstream AprilTag 3 repository recommends tagStandard41h12 for most new applications, but it is not the family implemented in Hopper Studio.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https://github.com/AprilRobotics/apriltag</a:t>
            </a:r>
          </a:p>
          <a:p xmlns:a="http://schemas.openxmlformats.org/drawingml/2006/main">
            <a:r>
              <a:t>- Hopper Studio implementation: local_site/lib/apriltags.ts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Detection pipeline: grayscale, threshold, quads, sample, match, 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https://april.eecs.umich.edu/papers/details.php?name=olson2011tags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Hopper Studio reports tag identity, frame-relative center coordinates, and 2D yaw.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local_site/lib/apriltags.ts and lib/vision.ts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Print tag36h11 markers cleanly and place them for the camera.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local_site/lib/apriltags.ts and components/HopperStudio.tsx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family/ID concepts to the site: the printable generator, detector, testing window, blocks, and centering routine all use tag36h11. The centering routine adds lost-tag limits and a 30-second overall timeout.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local_site/lib/apriltags.ts</a:t>
            </a:r>
          </a:p>
          <a:p xmlns:a="http://schemas.openxmlformats.org/drawingml/2006/main">
            <a:r>
              <a:t>- Hopper Studio implementation: local_site/lib/vision.ts</a:t>
            </a:r>
          </a:p>
          <a:p xmlns:a="http://schemas.openxmlformats.org/drawingml/2006/main">
            <a:r>
              <a:t>- Hopper Studio implementation: local_site/lib/blockly.ts</a:t>
            </a:r>
          </a:p>
          <a:p xmlns:a="http://schemas.openxmlformats.org/drawingml/2006/main">
            <a:r>
              <a:t>- Hopper Studio UI: local_site/components/HopperStudio.tsx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Reliable tags require deliberate family, size, placement, lighting, timeout, and safety tests.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https://github.com/AprilRobotics/apriltag</a:t>
            </a:r>
          </a:p>
          <a:p xmlns:a="http://schemas.openxmlformats.org/drawingml/2006/main">
            <a:r>
              <a:t>- Hopper Studio implementation: local_site/lib/apriltags.ts and lib/vision.ts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455f59c24d46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f430ce8b4e42d6" /><Relationship Type="http://schemas.openxmlformats.org/officeDocument/2006/relationships/slideLayout" Target="/ppt/slideLayouts/slideLayout1.xml" Id="Rb1fa0cd19a7e46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fa0cd19a7e46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0360a88664834" /><Relationship Type="http://schemas.openxmlformats.org/officeDocument/2006/relationships/image" Target="/ppt/media/image.png" Id="R248e0c106d2c478c" /><Relationship Type="http://schemas.openxmlformats.org/officeDocument/2006/relationships/notesSlide" Target="/ppt/notesSlides/notesSlide1.xml" Id="Rbda39b5838b04d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035a142c94f8b" /><Relationship Type="http://schemas.openxmlformats.org/officeDocument/2006/relationships/image" Target="/ppt/media/image2.png" Id="Ra848f50b10b442df" /><Relationship Type="http://schemas.openxmlformats.org/officeDocument/2006/relationships/notesSlide" Target="/ppt/notesSlides/notesSlide2.xml" Id="R504f6146e35a4a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27c2784a54d2e" /><Relationship Type="http://schemas.openxmlformats.org/officeDocument/2006/relationships/image" Target="/ppt/media/image3.png" Id="R799b928fc8e04a14" /><Relationship Type="http://schemas.openxmlformats.org/officeDocument/2006/relationships/notesSlide" Target="/ppt/notesSlides/notesSlide3.xml" Id="R85cc7d184a754c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ccfec802b4592" /><Relationship Type="http://schemas.openxmlformats.org/officeDocument/2006/relationships/image" Target="/ppt/media/image4.png" Id="R0bd3f9c5e2ee44ab" /><Relationship Type="http://schemas.openxmlformats.org/officeDocument/2006/relationships/notesSlide" Target="/ppt/notesSlides/notesSlide4.xml" Id="Rf9ca74f2a9234c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2eb61136b49d8" /><Relationship Type="http://schemas.openxmlformats.org/officeDocument/2006/relationships/image" Target="/ppt/media/image5.png" Id="R817af62760954bbd" /><Relationship Type="http://schemas.openxmlformats.org/officeDocument/2006/relationships/notesSlide" Target="/ppt/notesSlides/notesSlide5.xml" Id="Rf70754d7edeb49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6e513efa248de" /><Relationship Type="http://schemas.openxmlformats.org/officeDocument/2006/relationships/image" Target="/ppt/media/image6.png" Id="R48089920d2634982" /><Relationship Type="http://schemas.openxmlformats.org/officeDocument/2006/relationships/notesSlide" Target="/ppt/notesSlides/notesSlide6.xml" Id="Rc3cb9f071b5642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ee0d6827d49a2" /><Relationship Type="http://schemas.openxmlformats.org/officeDocument/2006/relationships/image" Target="/ppt/media/image7.png" Id="R3f3eaae35ea34e37" /><Relationship Type="http://schemas.openxmlformats.org/officeDocument/2006/relationships/notesSlide" Target="/ppt/notesSlides/notesSlide7.xml" Id="Re4aad47d54c540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223f7943444b3" /><Relationship Type="http://schemas.openxmlformats.org/officeDocument/2006/relationships/image" Target="/ppt/media/image8.png" Id="R457b82ac39f94be8" /><Relationship Type="http://schemas.openxmlformats.org/officeDocument/2006/relationships/notesSlide" Target="/ppt/notesSlides/notesSlide8.xml" Id="R061aada7178b40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f4d0e53784cef" /><Relationship Type="http://schemas.openxmlformats.org/officeDocument/2006/relationships/image" Target="/ppt/media/image9.png" Id="R61661ca6dee34d7f" /><Relationship Type="http://schemas.openxmlformats.org/officeDocument/2006/relationships/notesSlide" Target="/ppt/notesSlides/notesSlide9.xml" Id="R7d316169cb5a43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518fb8455403d" /><Relationship Type="http://schemas.openxmlformats.org/officeDocument/2006/relationships/image" Target="/ppt/media/image10.png" Id="Rccbb11b02d4148a5" /><Relationship Type="http://schemas.openxmlformats.org/officeDocument/2006/relationships/notesSlide" Target="/ppt/notesSlides/notesSlide10.xml" Id="Rdede043847634ba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e0c106d2c478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42E56-74EA-4B02-83EF-7B060DBD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02E40-D559-477D-9110-86166B5E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9EB4C0"/>
                </a:solidFill>
              </a:defRPr>
            </a:pPr>
            <a:r>
              <a:rPr sz="675">
                <a:solidFill>
                  <a:srgbClr val="9EB4C0"/>
                </a:solidFill>
              </a:rPr>
              <a:t>DECK 08  |  10 SLIDES</a:t>
            </a:r>
          </a:p>
        </p:txBody>
      </p:sp>
    </p:spTree>
    <p:extLst>
      <p:ext uri="{BB962C8B-B14F-4D97-AF65-F5344CB8AC3E}">
        <p14:creationId xmlns:p14="http://schemas.microsoft.com/office/powerpoint/2010/main" val="21342880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BC52E5-CFAC-4424-A161-A764B8A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1F5B0E-ED06-4D16-8CE1-81E00003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36851-12B1-430E-9847-2AB789C8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APRILTAG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9A3ECD-6667-4F57-AE6E-8DF623B9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ORIGINS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5A550-C3CA-47F2-906C-07A388C0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AprilTags were built to give robots reliable visual landmarks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8f50b10b442df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0A513-FB17-4861-A8A3-F2228BEA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25B53-1F9D-48B1-BF89-85E98FC5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0E5EFA-F265-4BBD-B990-E26CFF8F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4420B-CE88-45B5-964D-EC86A90C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9906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FC824-5BE0-4C00-87B6-D4828F11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3E9D0-EA3D-4FF4-A2B0-99F16D44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8C95"/>
                </a:solidFill>
              </a:defRPr>
            </a:pPr>
            <a:r>
              <a:rPr sz="1800" b="1">
                <a:solidFill>
                  <a:srgbClr val="008C95"/>
                </a:solidFill>
              </a:rPr>
              <a:t>2011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2BF50-109C-4E59-A7C7-8700A969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1B3A"/>
                </a:solidFill>
              </a:defRPr>
            </a:pPr>
            <a:r>
              <a:rPr sz="1425" b="1">
                <a:solidFill>
                  <a:srgbClr val="001B3A"/>
                </a:solidFill>
              </a:rPr>
              <a:t>AprilTag introduced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55AA85-3C66-49BF-900E-267DF3CD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333750"/>
            <a:ext cx="2171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36A7B"/>
                </a:solidFill>
              </a:defRPr>
            </a:pPr>
            <a:r>
              <a:rPr sz="1200">
                <a:solidFill>
                  <a:srgbClr val="536A7B"/>
                </a:solidFill>
              </a:rPr>
              <a:t>Edwin Olson, University of Michigan APRIL Lab; ICRA paper.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9D638-38B2-463D-9DC3-9F73BB24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EC2378-9FE0-4CE8-AADD-7FEC598F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192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9A227"/>
                </a:solidFill>
              </a:defRPr>
            </a:pPr>
            <a:r>
              <a:rPr sz="1800" b="1">
                <a:solidFill>
                  <a:srgbClr val="C9A227"/>
                </a:solidFill>
              </a:rPr>
              <a:t>2016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2A954-0E92-45C2-91A6-A6BE10E7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431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1B3A"/>
                </a:solidFill>
              </a:defRPr>
            </a:pPr>
            <a:r>
              <a:rPr sz="1425" b="1">
                <a:solidFill>
                  <a:srgbClr val="001B3A"/>
                </a:solidFill>
              </a:rPr>
              <a:t>AprilTag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711990-99EA-44CF-9258-64B8CBA6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33750"/>
            <a:ext cx="2171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36A7B"/>
                </a:solidFill>
              </a:defRPr>
            </a:pPr>
            <a:r>
              <a:rPr sz="1200">
                <a:solidFill>
                  <a:srgbClr val="536A7B"/>
                </a:solidFill>
              </a:rPr>
              <a:t>A redesigned detector improved speed, detection rate, and false-positive behavior.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D0FB9-073D-409E-B33E-7D53F39A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6729EC-2C0E-436C-9FEA-6FBCEE65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8C95"/>
                </a:solidFill>
              </a:defRPr>
            </a:pPr>
            <a:r>
              <a:rPr sz="1800" b="1">
                <a:solidFill>
                  <a:srgbClr val="008C95"/>
                </a:solidFill>
              </a:rPr>
              <a:t>AprilTag 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77A740-D394-472B-8EB1-257BCA2A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431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1B3A"/>
                </a:solidFill>
              </a:defRPr>
            </a:pPr>
            <a:r>
              <a:rPr sz="1425" b="1">
                <a:solidFill>
                  <a:srgbClr val="001B3A"/>
                </a:solidFill>
              </a:rPr>
              <a:t>Faster + flexible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CAA496-1700-4AC7-9A9D-65072A49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33750"/>
            <a:ext cx="2171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36A7B"/>
                </a:solidFill>
              </a:defRPr>
            </a:pPr>
            <a:r>
              <a:rPr sz="1200">
                <a:solidFill>
                  <a:srgbClr val="536A7B"/>
                </a:solidFill>
              </a:rPr>
              <a:t>Small-tag detection, pose estimation, and more layouts/families.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CA9C62-6377-47F7-B9ED-C25FCBFA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697F97-A50E-4E6E-9035-BC52E084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192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9A227"/>
                </a:solidFill>
              </a:defRPr>
            </a:pPr>
            <a:r>
              <a:rPr sz="18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E2C22F-9036-44B3-8478-8B1A510A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1B3A"/>
                </a:solidFill>
              </a:defRPr>
            </a:pPr>
            <a:r>
              <a:rPr sz="1425" b="1">
                <a:solidFill>
                  <a:srgbClr val="001B3A"/>
                </a:solidFill>
              </a:rPr>
              <a:t>Robotics standard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982376-E121-46B5-8DDF-9383F98E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2171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36A7B"/>
                </a:solidFill>
              </a:defRPr>
            </a:pPr>
            <a:r>
              <a:rPr sz="1200">
                <a:solidFill>
                  <a:srgbClr val="536A7B"/>
                </a:solidFill>
              </a:rPr>
              <a:t>Open implementations in research, ROS, calibration, navigation, and labs.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6EFE9B-0B36-4B4B-BC1F-8CFF3130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62B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90FE6A-F3E1-4916-B33C-D08E4D37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The original goal: print an artificial feature that a camera can identify and localize—even when natural visual features are unreliable.</a:t>
            </a:r>
          </a:p>
        </p:txBody>
      </p:sp>
    </p:spTree>
    <p:extLst>
      <p:ext uri="{BB962C8B-B14F-4D97-AF65-F5344CB8AC3E}">
        <p14:creationId xmlns:p14="http://schemas.microsoft.com/office/powerpoint/2010/main" val="4142827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FF54BE-6B9F-4F0B-B418-DF75E1BE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D6E53-CFED-46F6-9FA9-6C59252F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463C1F-C191-4A3F-A8DA-E08AAE8B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APRILTAG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A57F9-4123-4097-ABD7-FF6E04C4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ROBOTICS TODAY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71316-A261-4185-B7B2-A88EF976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A printed tag can become a shared coordinate reference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b928fc8e04a14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E0CFF-CD5D-4D89-94EE-B20BB377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60016-EBDE-446D-83DB-8CA155AA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D988D-7DDA-449A-9162-5A92C96B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CE525-AB83-41D3-8EDA-365EAC29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3429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EE013D-41AE-4DF5-97D2-A3D0D330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ADAE5-E4E1-4CBB-AFED-0F283F3C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LOCALIZATION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EEB26-957B-444F-8665-97BFCF9A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3009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Estimate a robot or camera pose relative to a known landmark.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CD2003-E090-4A9B-9E73-4BB9D3E2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524000"/>
            <a:ext cx="3429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A93E1D-C8CE-4F01-89CE-0D313716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5240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D36207-FCC6-4FD2-AC1A-45BAE46A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14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NAVIGATION + DOCKING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6679CB-5E73-400D-924B-EBCB1B28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05025"/>
            <a:ext cx="3009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Center on a landing pad, charging station, doorway, or work cell.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31CC80-82F3-4B52-8FB7-AC8DA6B0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24000"/>
            <a:ext cx="3429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120738-DEE4-45E6-AA01-4179FE79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240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F4C18-AD95-4F0F-9CE3-2544A233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14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CALIBRATION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97BA49-87C6-4E00-A43A-0A5DAFB1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05025"/>
            <a:ext cx="3009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Relate cameras, robot frames, and measurement rigs with known geometry.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58D496-8E71-42F9-BB59-A1D6EA15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3429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AA3276-E873-4DCD-82AF-CD0F297B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B4"/>
          </a:solidFill>
          <a:ln xmlns:a="http://schemas.openxmlformats.org/drawingml/2006/main" w="0">
            <a:solidFill>
              <a:srgbClr val="14B8B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C2217B-8E47-4FCE-976F-7E732567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MANIPULATION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80BD87-4103-478F-ADE7-6F270FBA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3009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Identify bins, tools, parts, or target objects for a robot arm.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708702-AFC7-4F50-B759-73214376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67125"/>
            <a:ext cx="3429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6134CD-B284-44E2-9324-CB4B53A1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6712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46648E-9843-40A3-8218-2BF1EDBA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576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SLAM + GROUND TRUTH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6871C7-F28F-436F-BDAE-B918D63B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48150"/>
            <a:ext cx="3009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Supply repeatable landmarks while testing perception and state estimation.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5204D4-CD01-4CD5-8F0E-7461FE8B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67125"/>
            <a:ext cx="3429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A67CBF-E95A-4C13-9C7B-A7E50A28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6712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E1D05-2178-4598-BB65-9555C1FA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576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AR + HUMAN INTERFACES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2D72C8-72FF-41BB-8A27-80040DA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48150"/>
            <a:ext cx="3009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Anchor digital information to a physical place or object.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BD4A0D-1D80-453E-A76D-38F4DEC2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953125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A tag is useful because its identity and geometry are designed—not discovered by chance.</a:t>
            </a:r>
          </a:p>
        </p:txBody>
      </p:sp>
    </p:spTree>
    <p:extLst>
      <p:ext uri="{BB962C8B-B14F-4D97-AF65-F5344CB8AC3E}">
        <p14:creationId xmlns:p14="http://schemas.microsoft.com/office/powerpoint/2010/main" val="5135823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3f9c5e2ee44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BDE9C-22CC-4668-ACA6-B52ED10D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F1D6A-5D5E-405D-8217-AAB07E44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APRILTAG /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B0D16-DB4C-4F75-9FBE-4DDC0CD7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B6F58-5935-4796-A93F-AADA40AA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10</a:t>
            </a:r>
          </a:p>
        </p:txBody>
      </p:sp>
    </p:spTree>
    <p:extLst>
      <p:ext uri="{BB962C8B-B14F-4D97-AF65-F5344CB8AC3E}">
        <p14:creationId xmlns:p14="http://schemas.microsoft.com/office/powerpoint/2010/main" val="3078492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B55C16-CCE7-4D4F-B8AC-9400FC7E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D5B75-3B37-4A77-B3D8-2F61F797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59016-4E51-478C-A8A6-A0C629CF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APRILTAG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396AA-17A1-4E87-B28F-21B51324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FAMILIES AND IDS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5E0BA-56F1-4661-BF95-E4E36938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Family chooses the codebook; ID chooses one tag inside it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af62760954bbd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26B57-DDFF-4749-9484-A6C15AEE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D9CE1-2463-4D9B-9DEA-D5A5AFB0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6C341-1509-4930-9DBD-F4A390E4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3B226-E47B-4E7D-8F39-58CA77F4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FAMILY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F0C0FA-8B81-4021-848C-7910563B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85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CODE DESIGN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EC5B4-FD8C-4B15-954E-808CBA79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85900"/>
            <a:ext cx="3905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WHEN IT FITS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601512-CBA6-4618-9B93-09440727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11001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CD8D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DAA6F-5FB3-400A-9702-F6CB443D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tag16h5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F7A58B-7CDE-4B7F-9EF4-51C16080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621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Small code, fewer IDs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3FBB39-22A7-4246-9955-5C388736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621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Legacy / compact demonstrations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61D0A-4470-4801-938D-FE763926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95550"/>
            <a:ext cx="11001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CD8D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6FF87C-F94C-422D-ABBF-58D847C3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tag25h9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C18DC4-02E9-432C-A48E-A89D7E88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67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More bits and separation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31701B-4E3D-4CD7-A56A-C93124D4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Legacy balance of size and robustness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F74693-B060-4B69-B32A-E191B162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11001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AFE9F9-2471-434C-BBD2-7712C7AF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A227"/>
                </a:solidFill>
              </a:defRPr>
            </a:pPr>
            <a:r>
              <a:rPr sz="1500" b="1">
                <a:solidFill>
                  <a:srgbClr val="C9A227"/>
                </a:solidFill>
              </a:rPr>
              <a:t>tag36h11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889AE2-14DA-4632-905D-51280056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71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36 data bits · minimum Hamming distance 11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9237D-DFEF-4D27-951A-3611BF3E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718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Hopper Studio: IDs 0–586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1A40CF-6E50-4C01-9710-D239B557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11001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CD8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D52EC6-DBFB-493B-9A66-97EF23B3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tagStandard41h12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68C72E-F563-4883-881A-5C4BEADD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767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Modern standard layout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A321C7-DFEE-4893-A8D7-C162A084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767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Upstream default for most new work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4D237-E22D-4747-8E7F-C407647C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001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CD8D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8F6BC1-F283-40D5-85C8-C414EAE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tagCircle49h12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A7D72C-CBA3-4B58-BD67-D709CF25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81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Circular, space-efficient layout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92DC0E-7BFE-4BE8-BDFA-CB05DFF2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815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Small circular objects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32196-F7C1-40E6-85BA-99A8BB9F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38800"/>
            <a:ext cx="971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94F5C"/>
                </a:solidFill>
              </a:defRPr>
            </a:pPr>
            <a:r>
              <a:rPr sz="1425" b="1">
                <a:solidFill>
                  <a:srgbClr val="D94F5C"/>
                </a:solidFill>
              </a:rPr>
              <a:t>Never mix families in one detector configuration: the same ID number in another family is a different code.</a:t>
            </a:r>
          </a:p>
        </p:txBody>
      </p:sp>
    </p:spTree>
    <p:extLst>
      <p:ext uri="{BB962C8B-B14F-4D97-AF65-F5344CB8AC3E}">
        <p14:creationId xmlns:p14="http://schemas.microsoft.com/office/powerpoint/2010/main" val="20572628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89920d263498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6B3D7-5ECA-49A0-8276-963A2CCD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037214-B29C-4AB9-B01C-3B0F52E3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APRILTAG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B63D3-5D51-4F4F-8E93-D42BF0D1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08413-15F1-4E70-96A6-04AD1FDA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10</a:t>
            </a:r>
          </a:p>
        </p:txBody>
      </p:sp>
    </p:spTree>
    <p:extLst>
      <p:ext uri="{BB962C8B-B14F-4D97-AF65-F5344CB8AC3E}">
        <p14:creationId xmlns:p14="http://schemas.microsoft.com/office/powerpoint/2010/main" val="108743431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eaae35ea34e3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B7B15-08F5-4650-BAC5-91890020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D6F21-2AE1-4835-880D-95ADF6B5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APRILTAG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02410-A45E-47C2-8AE3-FBD12D7A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DF17D2-8EE1-453C-88B5-E6277E14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10</a:t>
            </a:r>
          </a:p>
        </p:txBody>
      </p:sp>
    </p:spTree>
    <p:extLst>
      <p:ext uri="{BB962C8B-B14F-4D97-AF65-F5344CB8AC3E}">
        <p14:creationId xmlns:p14="http://schemas.microsoft.com/office/powerpoint/2010/main" val="70194845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b82ac39f94be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96979-036F-4C17-BDD8-2F273CE1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8BB00-E4EE-44CE-9701-2CC8D28D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APRILTAG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B5D18-2400-4ED5-B53F-B777B8DC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FCA90-8D2E-482E-8783-204961D7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8 / 10</a:t>
            </a:r>
          </a:p>
        </p:txBody>
      </p:sp>
    </p:spTree>
    <p:extLst>
      <p:ext uri="{BB962C8B-B14F-4D97-AF65-F5344CB8AC3E}">
        <p14:creationId xmlns:p14="http://schemas.microsoft.com/office/powerpoint/2010/main" val="14817506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050165-81D5-4CE9-9AC6-216E4A61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7BC3D-685A-4648-9BE2-14CD5798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4D591-76F0-4DCA-B9C5-924D71AE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APRILTAG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6A91D-E728-4948-9C7B-CDF244B3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HOPPER STUDIO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8077E-DB62-4354-ABFE-5F01937C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From a printed ID to a mission decision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61ca6dee34d7f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B5E80-1300-4F44-8034-3B037088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B54C5-6600-43AD-AB5F-A32A8709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174CC-42BA-428F-B715-60E78AD9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9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34970-716B-4D40-B06F-CFA5656B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828E94-C0BA-4E70-8EF6-8C747F66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1952625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9E44A-293E-446F-9655-88B0B320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590" y="1952625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4E9C4-A044-4CA2-B442-8D3BE83E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1952625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77F2C-37C0-434C-85A5-03A01996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6430" y="1952625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58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55570" y="2762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59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872990" y="2762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60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090410" y="2762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6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07830" y="2762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595A88-03AC-47C1-9AE3-F8C0A2D8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9CD428-8FA8-4CEA-BDC9-42BF63E7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AFCFDA-F529-4BE7-AE72-C3D713FF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Generate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49BC6C-FE9C-49F4-A33A-DCB40CAD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43225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Choose ID 0–586 and export the printable PDF.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EF45B3-FA42-49FA-9B2D-6EE722B3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1952625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5285DC-7525-4EB6-B053-319DFDB1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105025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74E7CB-559E-4D46-96F7-AB2354CF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552700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Place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DDDA01-AD7B-478F-B84E-5ED1C4A8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943225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Keep the full border and quiet zone visible.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0E2919-E588-4D72-A8D4-818A3629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590" y="1952625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A547DB-F2B5-417D-89B2-F134DD27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105025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A57B98-D274-4F2D-AAE9-5B7D7683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552700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Scan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691753-D9D9-4D66-967C-A5E0CCEF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943225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Test once or use scan for AprilTags.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2D5A1C-7BCD-40DE-B348-909CA954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1952625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35FB69-6C97-4EEE-85E9-65829040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105025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EE1DFC-E5CB-4855-B143-7D6B2B6F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552700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Interpret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A3B5B9-A48A-48B3-BFAE-3071FC9C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943225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Read ID, center x/y, and 2D yaw.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37E911-53BF-407B-9411-CBC1CC90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6430" y="1952625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4212D1-5B56-49FC-86AC-3DFFFF62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105025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A227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1B3A"/>
                </a:solidFill>
              </a:defRPr>
            </a:pPr>
            <a:r>
              <a:rPr sz="1050" b="1">
                <a:solidFill>
                  <a:srgbClr val="001B3A"/>
                </a:solidFill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A31770-A2F9-480F-B246-95BFC320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552700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FB53F8-34B4-4971-8A99-D25DB978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943225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5E6EC"/>
                </a:solidFill>
              </a:defRPr>
            </a:pPr>
            <a:r>
              <a:rPr sz="1050">
                <a:solidFill>
                  <a:srgbClr val="D5E6EC"/>
                </a:solidFill>
              </a:rPr>
              <a:t>Center, align, branch, time out, or land safely.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45DBB4-89AF-40C7-91D3-A31AAB7A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107632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39820A-E6AB-4F0B-A35B-F6615EFD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863EAC-9B3A-4725-A244-6C57646D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81500"/>
            <a:ext cx="1034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Block patterns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60E370-96F6-488F-8E29-6512F55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72025"/>
            <a:ext cx="10344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scan for AprilTags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camera sees AprilTag with ID any / 0–586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center on AprilTag with power, center slack, angle slack, and lost-tag limit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67D14F-6F84-491D-AC0E-B5B965BD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9245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94F5C"/>
                </a:solidFill>
              </a:defRPr>
            </a:pPr>
            <a:r>
              <a:rPr sz="1425" b="1">
                <a:solidFill>
                  <a:srgbClr val="D94F5C"/>
                </a:solidFill>
              </a:rPr>
              <a:t>Hopper Studio provides a relative visual landmark—not global position, altitude, or collision avoidance.</a:t>
            </a:r>
          </a:p>
        </p:txBody>
      </p:sp>
    </p:spTree>
    <p:extLst>
      <p:ext uri="{BB962C8B-B14F-4D97-AF65-F5344CB8AC3E}">
        <p14:creationId xmlns:p14="http://schemas.microsoft.com/office/powerpoint/2010/main" val="55249065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b11b02d4148a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814A6-F2ED-48E9-AFEF-16B9067B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A81DC-0184-461E-BABB-36B8830B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APRILTAG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F7DCF7-E6CE-4A88-B4F3-995D87B0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587112-A8D0-4755-BD94-9E2E8C5A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10 / 10</a:t>
            </a:r>
          </a:p>
        </p:txBody>
      </p:sp>
    </p:spTree>
    <p:extLst>
      <p:ext uri="{BB962C8B-B14F-4D97-AF65-F5344CB8AC3E}">
        <p14:creationId xmlns:p14="http://schemas.microsoft.com/office/powerpoint/2010/main" val="20747655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2026-07-26T02:21:32.6140000Z</dcterms:created>
  <dcterms:modified xsi:type="dcterms:W3CDTF">2026-07-26T02:21:32.6140000Z</dcterms:modified>
</coreProperties>
</file>