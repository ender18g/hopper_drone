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d98ad0835942e3" /><Relationship Type="http://schemas.openxmlformats.org/officeDocument/2006/relationships/extended-properties" Target="/docProps/app.xml" Id="Rab7afb0aaa92444e" /><Relationship Type="http://schemas.openxmlformats.org/officeDocument/2006/relationships/officeDocument" Target="/ppt/presentation.xml" Id="Ra658f8edcef8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f87943aad43f6"/>
  </p:sldMasterIdLst>
  <p:notesMasterIdLst>
    <p:notesMasterId xmlns:r="http://schemas.openxmlformats.org/officeDocument/2006/relationships" r:id="Ra0038ff45cfa4a9f"/>
  </p:notesMasterIdLst>
  <p:sldIdLst>
    <p:sldId xmlns:r="http://schemas.openxmlformats.org/officeDocument/2006/relationships" id="256" r:id="R22598911114d42d3"/>
    <p:sldId xmlns:r="http://schemas.openxmlformats.org/officeDocument/2006/relationships" id="257" r:id="R9a4ac03141d34c76"/>
    <p:sldId xmlns:r="http://schemas.openxmlformats.org/officeDocument/2006/relationships" id="258" r:id="Rff2c1e747ed544ce"/>
    <p:sldId xmlns:r="http://schemas.openxmlformats.org/officeDocument/2006/relationships" id="259" r:id="R88f960cdbf254137"/>
    <p:sldId xmlns:r="http://schemas.openxmlformats.org/officeDocument/2006/relationships" id="260" r:id="Rb603d23b6688464e"/>
    <p:sldId xmlns:r="http://schemas.openxmlformats.org/officeDocument/2006/relationships" id="261" r:id="R04b179e4e74e4b2e"/>
    <p:sldId xmlns:r="http://schemas.openxmlformats.org/officeDocument/2006/relationships" id="262" r:id="Rdb31be0cf1e84e36"/>
    <p:sldId xmlns:r="http://schemas.openxmlformats.org/officeDocument/2006/relationships" id="263" r:id="R8cb7c064b2cc4d32"/>
    <p:sldId xmlns:r="http://schemas.openxmlformats.org/officeDocument/2006/relationships" id="264" r:id="R3923385534864a8a"/>
    <p:sldId xmlns:r="http://schemas.openxmlformats.org/officeDocument/2006/relationships" id="265" r:id="R5372fc92b98642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81c7b08b894bbf" /><Relationship Type="http://schemas.openxmlformats.org/officeDocument/2006/relationships/slideMaster" Target="/ppt/slideMasters/slideMaster1.xml" Id="Rb69f87943aad43f6" /><Relationship Type="http://schemas.openxmlformats.org/officeDocument/2006/relationships/notesMaster" Target="/ppt/notesMasters/notesMaster1.xml" Id="Ra0038ff45cfa4a9f" /><Relationship Type="http://schemas.openxmlformats.org/officeDocument/2006/relationships/presProps" Target="/ppt/presProps.xml" Id="R3f7980e58f63489e" /><Relationship Type="http://schemas.openxmlformats.org/officeDocument/2006/relationships/tableStyles" Target="/ppt/tableStyles.xml" Id="Re4d765294cc7484b" /><Relationship Type="http://schemas.openxmlformats.org/officeDocument/2006/relationships/slide" Target="/ppt/slides/slide1.xml" Id="R22598911114d42d3" /><Relationship Type="http://schemas.openxmlformats.org/officeDocument/2006/relationships/slide" Target="/ppt/slides/slide2.xml" Id="R9a4ac03141d34c76" /><Relationship Type="http://schemas.openxmlformats.org/officeDocument/2006/relationships/slide" Target="/ppt/slides/slide3.xml" Id="Rff2c1e747ed544ce" /><Relationship Type="http://schemas.openxmlformats.org/officeDocument/2006/relationships/slide" Target="/ppt/slides/slide4.xml" Id="R88f960cdbf254137" /><Relationship Type="http://schemas.openxmlformats.org/officeDocument/2006/relationships/slide" Target="/ppt/slides/slide5.xml" Id="Rb603d23b6688464e" /><Relationship Type="http://schemas.openxmlformats.org/officeDocument/2006/relationships/slide" Target="/ppt/slides/slide6.xml" Id="R04b179e4e74e4b2e" /><Relationship Type="http://schemas.openxmlformats.org/officeDocument/2006/relationships/slide" Target="/ppt/slides/slide7.xml" Id="Rdb31be0cf1e84e36" /><Relationship Type="http://schemas.openxmlformats.org/officeDocument/2006/relationships/slide" Target="/ppt/slides/slide8.xml" Id="R8cb7c064b2cc4d32" /><Relationship Type="http://schemas.openxmlformats.org/officeDocument/2006/relationships/slide" Target="/ppt/slides/slide9.xml" Id="R3923385534864a8a" /><Relationship Type="http://schemas.openxmlformats.org/officeDocument/2006/relationships/slide" Target="/ppt/slides/slide10.xml" Id="R5372fc92b98642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d16140824c41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837e7ee204e03" /><Relationship Type="http://schemas.openxmlformats.org/officeDocument/2006/relationships/notesMaster" Target="/ppt/notesMasters/notesMaster1.xml" Id="Rfd46d35264fb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b9b4a9e82496c" /><Relationship Type="http://schemas.openxmlformats.org/officeDocument/2006/relationships/notesMaster" Target="/ppt/notesMasters/notesMaster1.xml" Id="R60760c6e7114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cb8afb0cb54089" /><Relationship Type="http://schemas.openxmlformats.org/officeDocument/2006/relationships/notesMaster" Target="/ppt/notesMasters/notesMaster1.xml" Id="R9e84582f494347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6c0c6a1366434b" /><Relationship Type="http://schemas.openxmlformats.org/officeDocument/2006/relationships/notesMaster" Target="/ppt/notesMasters/notesMaster1.xml" Id="R27d13f5d68f4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b61e07e534c09" /><Relationship Type="http://schemas.openxmlformats.org/officeDocument/2006/relationships/notesMaster" Target="/ppt/notesMasters/notesMaster1.xml" Id="R61c9ee19e0a44e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893f3e65e64b29" /><Relationship Type="http://schemas.openxmlformats.org/officeDocument/2006/relationships/notesMaster" Target="/ppt/notesMasters/notesMaster1.xml" Id="R122fd8340887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fe50a4dd90473b" /><Relationship Type="http://schemas.openxmlformats.org/officeDocument/2006/relationships/notesMaster" Target="/ppt/notesMasters/notesMaster1.xml" Id="Ra22c6e87defe41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4422f7ece4959" /><Relationship Type="http://schemas.openxmlformats.org/officeDocument/2006/relationships/notesMaster" Target="/ppt/notesMasters/notesMaster1.xml" Id="R959e8d6d75a7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26440d914413c" /><Relationship Type="http://schemas.openxmlformats.org/officeDocument/2006/relationships/notesMaster" Target="/ppt/notesMasters/notesMaster1.xml" Id="R2630b53a02cc4f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088e4aed0041d3" /><Relationship Type="http://schemas.openxmlformats.org/officeDocument/2006/relationships/notesMaster" Target="/ppt/notesMasters/notesMaster1.xml" Id="Rda33319c1d5e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AprilTags are designed visual landmarks. Hopper Studio uses tag36h11 and reports tag identity plus frame-relative center coordinates and 2D yaw.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high-resolution photograph: drone_photos/IMG_4476.jpeg</a:t>
            </a:r>
          </a:p>
          <a:p xmlns:a="http://schemas.openxmlformats.org/drawingml/2006/main">
            <a:r>
              <a:t>- https://april.eecs.umich.edu/software/apriltag.html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AprilTag was introduced by Edwin Olson of the University of Michigan APRIL Laboratory at ICRA 2011. The system provides tag identity and six-degree-of-freedom localization from a single image. AprilTag 2 redesigned the detector; AprilTag 3 added faster detection, improved small-tag performance, flexible layouts, and pose estimation.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https://april.eecs.umich.edu/papers/details.php?name=olson2011tags</a:t>
            </a:r>
          </a:p>
          <a:p xmlns:a="http://schemas.openxmlformats.org/drawingml/2006/main">
            <a:r>
              <a:t>- https://april.eecs.umich.edu/papers/details.php?name=wang2016iros</a:t>
            </a:r>
          </a:p>
          <a:p xmlns:a="http://schemas.openxmlformats.org/drawingml/2006/main">
            <a:r>
              <a:t>- https://github.com/AprilRobotics/apriltag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AprilTags are used for augmented reality, robotics, and camera calibration. The pose capability makes them useful in localization, docking, manipulation, and repeatable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https://april.eecs.umich.edu/software/apriltag.html</a:t>
            </a:r>
          </a:p>
          <a:p xmlns:a="http://schemas.openxmlformats.org/drawingml/2006/main">
            <a:r>
              <a:t>- https://github.com/AprilRobotics/apriltag_ros</a:t>
            </a:r>
          </a:p>
          <a:p xmlns:a="http://schemas.openxmlformats.org/drawingml/2006/main">
            <a:r>
              <a:t>- https://april.eecs.umich.edu/papers/details.php?name=olson2011tags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Tag anatomy: border, code cells, orientation, and quiet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https://april.eecs.umich.edu/software/apriltag.html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family names such as tag36h11, 36 indicates code/data bits and 11 indicates the minimum Hamming distance between valid codes. Hopper Studio deliberately uses tag36h11 and exposes IDs 0 through 586. The upstream AprilTag 3 repository recommends tagStandard41h12 for most new applications, but it is not the family implemented in Hopper Studio.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https://github.com/AprilRobotics/apriltag</a:t>
            </a:r>
          </a:p>
          <a:p xmlns:a="http://schemas.openxmlformats.org/drawingml/2006/main">
            <a:r>
              <a:t>- Hopper Studio implementation: local_site/lib/apriltags.ts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Detection pipeline: grayscale, threshold, quads, sample, match, 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https://april.eecs.umich.edu/papers/details.php?name=olson2011tags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Hopper Studio reports tag identity, frame-relative center coordinates, and 2D yaw.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local_site/lib/apriltags.ts and lib/vision.ts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tag36h11 markers cleanly and place them for the camera.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local_site/lib/apriltags.ts and components/HopperStudio.tsx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centering routine moves only horizontally and in yaw. It clamps arguments, gives up after the configured number of lost-tag searches, and has a 30-second overall timeout. It does not control altitude and does not land, so the calling mission owns the landing boundary. scanAprilTags and seesAprilTag always perform fresh scans.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local_site/lib/apriltags.ts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- Hopper Studio implementation: local_site/lib/blockly.ts</a:t>
            </a:r>
          </a:p>
          <a:p xmlns:a="http://schemas.openxmlformats.org/drawingml/2006/main">
            <a:r>
              <a:t>- Hopper Studio flight API: local_site/lib/drone.ts.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Reliable tags require deliberate family, size, placement, lighting, timeout, and safety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https://github.com/AprilRobotics/apriltag</a:t>
            </a:r>
          </a:p>
          <a:p xmlns:a="http://schemas.openxmlformats.org/drawingml/2006/main">
            <a:r>
              <a:t>- Hopper Studio implementation: local_site/lib/apriltags.ts and lib/vision.ts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23d80f18841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6f3d9221f415d" /><Relationship Type="http://schemas.openxmlformats.org/officeDocument/2006/relationships/slideLayout" Target="/ppt/slideLayouts/slideLayout1.xml" Id="R40f2c5f4b05c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2c5f4b05c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5223939ea4b42" /><Relationship Type="http://schemas.openxmlformats.org/officeDocument/2006/relationships/image" Target="/ppt/media/image.jpeg" Id="R8a44f05dbabd4efb" /><Relationship Type="http://schemas.openxmlformats.org/officeDocument/2006/relationships/image" Target="/ppt/media/image.png" Id="R58ecdace765b4856" /><Relationship Type="http://schemas.openxmlformats.org/officeDocument/2006/relationships/notesSlide" Target="/ppt/notesSlides/notesSlide1.xml" Id="Rd393c87ff824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60a3bf40c41fe" /><Relationship Type="http://schemas.openxmlformats.org/officeDocument/2006/relationships/image" Target="/ppt/media/image2.png" Id="Rfcf2eff60afb42b6" /><Relationship Type="http://schemas.openxmlformats.org/officeDocument/2006/relationships/notesSlide" Target="/ppt/notesSlides/notesSlide2.xml" Id="R916facc534f546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65a1079bd4f97" /><Relationship Type="http://schemas.openxmlformats.org/officeDocument/2006/relationships/image" Target="/ppt/media/image3.png" Id="R825542cfb5714899" /><Relationship Type="http://schemas.openxmlformats.org/officeDocument/2006/relationships/notesSlide" Target="/ppt/notesSlides/notesSlide3.xml" Id="R846eb816d5b245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31afc32574d64" /><Relationship Type="http://schemas.openxmlformats.org/officeDocument/2006/relationships/image" Target="/ppt/media/image4.png" Id="Rcae9433a672d4dec" /><Relationship Type="http://schemas.openxmlformats.org/officeDocument/2006/relationships/notesSlide" Target="/ppt/notesSlides/notesSlide4.xml" Id="Rab27e86e86f840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b3a0aa7314edb" /><Relationship Type="http://schemas.openxmlformats.org/officeDocument/2006/relationships/image" Target="/ppt/media/image5.png" Id="R0f1d7672899b420c" /><Relationship Type="http://schemas.openxmlformats.org/officeDocument/2006/relationships/notesSlide" Target="/ppt/notesSlides/notesSlide5.xml" Id="R1aeb90de6634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1a06a21af41a2" /><Relationship Type="http://schemas.openxmlformats.org/officeDocument/2006/relationships/image" Target="/ppt/media/image6.png" Id="Rf12cc8a4d1ee40e1" /><Relationship Type="http://schemas.openxmlformats.org/officeDocument/2006/relationships/notesSlide" Target="/ppt/notesSlides/notesSlide6.xml" Id="Re39ed8a8778c4d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fa9d1b3743f9" /><Relationship Type="http://schemas.openxmlformats.org/officeDocument/2006/relationships/image" Target="/ppt/media/image7.png" Id="R0adb6c8bd0a048e5" /><Relationship Type="http://schemas.openxmlformats.org/officeDocument/2006/relationships/notesSlide" Target="/ppt/notesSlides/notesSlide7.xml" Id="Rf417bcc3086f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8c814102d4ccc" /><Relationship Type="http://schemas.openxmlformats.org/officeDocument/2006/relationships/image" Target="/ppt/media/image8.png" Id="R620bbedc4b13487c" /><Relationship Type="http://schemas.openxmlformats.org/officeDocument/2006/relationships/notesSlide" Target="/ppt/notesSlides/notesSlide8.xml" Id="R128934f0e7274d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8e8726c0b4cb3" /><Relationship Type="http://schemas.openxmlformats.org/officeDocument/2006/relationships/image" Target="/ppt/media/image9.png" Id="R1923b34b823d4c36" /><Relationship Type="http://schemas.openxmlformats.org/officeDocument/2006/relationships/notesSlide" Target="/ppt/notesSlides/notesSlide9.xml" Id="Rd324527e1fdf46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feabe9b34392" /><Relationship Type="http://schemas.openxmlformats.org/officeDocument/2006/relationships/image" Target="/ppt/media/image10.png" Id="R01292c595475401e" /><Relationship Type="http://schemas.openxmlformats.org/officeDocument/2006/relationships/notesSlide" Target="/ppt/notesSlides/notesSlide10.xml" Id="Rf11d1b7f0025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4f05dbabd4efb"/>
          <a:srcRect xmlns:a="http://schemas.openxmlformats.org/drawingml/2006/main" l="0" t="10411" r="0" b="10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EB7A4-595D-43CF-ADB0-C707BA1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5905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855A3-8DEC-46C5-86F8-652B55BF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cdace765b4856"/>
          <a:stretch xmlns:a="http://schemas.openxmlformats.org/drawingml/2006/main"/>
        </p:blipFill>
        <p:spPr>
          <a:xfrm xmlns:a="http://schemas.openxmlformats.org/drawingml/2006/main">
            <a:off x="1115994" y="561975"/>
            <a:ext cx="1177963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9C38B-3D0A-4B67-969E-2356952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B8B4"/>
                </a:solidFill>
              </a:defRPr>
            </a:pPr>
            <a:r>
              <a:rPr sz="975" b="1">
                <a:solidFill>
                  <a:srgbClr val="14B8B4"/>
                </a:solidFill>
              </a:rPr>
              <a:t>HOPPER INFORMATION 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B922-27D3-46CB-8BF0-86A28BE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A227"/>
                </a:solidFill>
              </a:defRPr>
            </a:pPr>
            <a:r>
              <a:rPr sz="900" b="1">
                <a:solidFill>
                  <a:srgbClr val="C9A227"/>
                </a:solidFill>
              </a:rPr>
              <a:t>APRILTAGS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7A1F2-88B7-4868-BE9E-3710C4B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AprilTags with Hopper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448DC-E2BE-4FEF-8666-C6CCEB4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2E8"/>
                </a:solidFill>
              </a:defRPr>
            </a:pPr>
            <a:r>
              <a:rPr sz="1500">
                <a:solidFill>
                  <a:srgbClr val="D4E2E8"/>
                </a:solidFill>
              </a:rPr>
              <a:t>Use printed tag36h11 landmarks for identity, relative image position, orientation, and bounded centering.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B948E-64BF-4BD5-8DD4-08972F4C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TAG36H11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33376-CF8E-4A54-BB10-BC56C166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72100"/>
            <a:ext cx="1190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IDS 0–586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85208-65D7-4096-AAE3-71144B34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372100"/>
            <a:ext cx="15335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RELATIVE 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5324E-6609-4BE3-9210-50B29A9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E"/>
          </a:solidFill>
          <a:ln xmlns:a="http://schemas.openxmlformats.org/drawingml/2006/main" w="0">
            <a:solidFill>
              <a:srgbClr val="3355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E8FA1-1F98-4830-9D48-376591EB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FBC"/>
                </a:solidFill>
              </a:defRPr>
            </a:pPr>
            <a:r>
              <a:rPr sz="750">
                <a:solidFill>
                  <a:srgbClr val="94AFBC"/>
                </a:solidFill>
              </a:rPr>
              <a:t>DECK 08  |  APRILTAGS</a:t>
            </a:r>
          </a:p>
        </p:txBody>
      </p:sp>
    </p:spTree>
    <p:extLst>
      <p:ext uri="{BB962C8B-B14F-4D97-AF65-F5344CB8AC3E}">
        <p14:creationId xmlns:p14="http://schemas.microsoft.com/office/powerpoint/2010/main" val="1899979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0D1B6-3F7B-4EA1-8EB3-7105D907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6D92F-1340-40DE-96DA-A320C0FA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EC2E-93D4-4414-9187-E2740420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APRILTAG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68B62-B308-4168-9CDE-FDF899FA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ORIGINS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C35B4-DE91-449F-AB18-3EB2300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AprilTags were built to give robots reliable visual landmarks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2eff60afb42b6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9B67B-2F7F-4E2D-A2A9-8396CB7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75BAE-C9A7-48E9-9FF7-73399EF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726A-3C6F-4AAF-8E83-6DF060EE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2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AC1F8-A97C-45B8-BFAE-1ED008E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90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07BFC-8D4C-4DF8-8DB3-AAE9EB9A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6E04E-5357-436F-B3C3-61742E25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C95"/>
                </a:solidFill>
              </a:defRPr>
            </a:pPr>
            <a:r>
              <a:rPr sz="1800" b="1">
                <a:solidFill>
                  <a:srgbClr val="008C95"/>
                </a:solidFill>
              </a:rPr>
              <a:t>2011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0A08D-6482-4591-B3A9-84A0752E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AprilTag introduced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65191-24A5-4DD5-865E-67A1912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A7B"/>
                </a:solidFill>
              </a:defRPr>
            </a:pPr>
            <a:r>
              <a:rPr sz="1200">
                <a:solidFill>
                  <a:srgbClr val="536A7B"/>
                </a:solidFill>
              </a:rPr>
              <a:t>Edwin Olson, University of Michigan APRIL Lab; ICRA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61C68-5855-47A6-B9DA-CD6F58C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51FD0-5AE4-43F0-ADD4-74FE9AE2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A227"/>
                </a:solidFill>
              </a:defRPr>
            </a:pPr>
            <a:r>
              <a:rPr sz="1800" b="1">
                <a:solidFill>
                  <a:srgbClr val="C9A227"/>
                </a:solidFill>
              </a:rPr>
              <a:t>2016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F4699-3894-4BB0-8F8E-804CA937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AprilTag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699F0-B737-4A71-BECE-DD0953FA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337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A7B"/>
                </a:solidFill>
              </a:defRPr>
            </a:pPr>
            <a:r>
              <a:rPr sz="1200">
                <a:solidFill>
                  <a:srgbClr val="536A7B"/>
                </a:solidFill>
              </a:rPr>
              <a:t>A redesigned detector improved speed, detection rate, and false-positive behavior.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28ACE-673B-4049-AC60-1691FD05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AE5F8-33D1-4177-9965-E989079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C95"/>
                </a:solidFill>
              </a:defRPr>
            </a:pPr>
            <a:r>
              <a:rPr sz="1800" b="1">
                <a:solidFill>
                  <a:srgbClr val="008C95"/>
                </a:solidFill>
              </a:rPr>
              <a:t>AprilTag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051F4-AFD4-48A9-8145-338FBDC6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Faster + flexible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D1D3E-5E92-4FC3-9A59-ED9A5D8B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A7B"/>
                </a:solidFill>
              </a:defRPr>
            </a:pPr>
            <a:r>
              <a:rPr sz="1200">
                <a:solidFill>
                  <a:srgbClr val="536A7B"/>
                </a:solidFill>
              </a:rPr>
              <a:t>Small-tag detection, pose estimation, and more layouts/families.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93291-5DCB-4613-96E0-B09BBB10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2D912-242A-4C5B-8231-17BEF16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A227"/>
                </a:solidFill>
              </a:defRPr>
            </a:pPr>
            <a:r>
              <a:rPr sz="18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9A529-121A-46E7-B6E5-0DCA5B0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1B3A"/>
                </a:solidFill>
              </a:defRPr>
            </a:pPr>
            <a:r>
              <a:rPr sz="1425" b="1">
                <a:solidFill>
                  <a:srgbClr val="001B3A"/>
                </a:solidFill>
              </a:rPr>
              <a:t>Robotics standard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A5662-58FB-463D-97DD-77C3B30B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36A7B"/>
                </a:solidFill>
              </a:defRPr>
            </a:pPr>
            <a:r>
              <a:rPr sz="1200">
                <a:solidFill>
                  <a:srgbClr val="536A7B"/>
                </a:solidFill>
              </a:rPr>
              <a:t>Open implementations in research, ROS, calibration, navigation, and labs.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B15F5-8744-4654-B6C3-D5BEB090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62B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902B0-4D3A-4778-AA10-BBAD48B8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original goal: print an artificial feature that a camera can identify and localize—even when natural visual features are unreliable.</a:t>
            </a:r>
          </a:p>
        </p:txBody>
      </p:sp>
    </p:spTree>
    <p:extLst>
      <p:ext uri="{BB962C8B-B14F-4D97-AF65-F5344CB8AC3E}">
        <p14:creationId xmlns:p14="http://schemas.microsoft.com/office/powerpoint/2010/main" val="833818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4D810-6277-4E03-9EA3-B435090C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11DEF-8DBC-4C64-9CE8-F2DE158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980E0-B240-40C9-995A-79B371F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APRILTAG /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A1AA4-8E15-40E0-95E2-3D4F45D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ROBOTICS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9F93-87C7-476C-9404-1FF2136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A printed tag can become a shared coordinate reference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542cfb5714899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00B87-9CD7-4A0A-AFAE-D3AD0A20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B078C-3D55-4E32-B2B3-EDB97195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9493B-9F6E-47AC-8719-8E69B21B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3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D55FB-6350-4B89-8611-D9281B68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DE529-AADC-4A09-A36D-45F325D8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B5885-249E-43C5-B279-D865E687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LOCALIZATION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2F4C6-C398-4A1B-BEFB-3DE12C2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Estimate a robot or camera pose relative to a known landmark.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B58D1-A9A2-43FA-BBCF-8FDE7486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5A8BC-92BD-48A3-963B-075C8C9E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158A1-1EEA-4898-9AD8-3087C147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14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NAVIGATION + DOCKING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7177F-7787-44FF-9DFD-4FEE4E46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05025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Center on a landing pad, charging station, doorway, or work cell.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C530F-2EE3-446A-B063-21198EB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437BD-A481-4D25-A813-A966F12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65E6B-B126-4C0A-9E7F-D8339C2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5C0C1-F0A5-49AB-9250-B8EBFC5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Relate cameras, robot frames, and measurement rigs with known geometry.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C209F-8277-491F-82C7-AEF7CA2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D3FED-F07B-4AF4-B94F-CB95527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0">
            <a:solidFill>
              <a:srgbClr val="14B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8BC50-AF77-40DF-9A9D-D6FA622D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MANIPULATION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33A0B-0468-4CB0-8630-9E5ED32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Identify bins, tools, parts, or target objects for a robot arm.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A056F-4BE6-4AF8-8976-9CCF40DD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9153A-F69D-45E4-A220-0664729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BA7F0-03C6-4653-BBC3-8CB378F4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SLAM + GROUND TRUTH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D4199-376A-4DCD-826B-FE3A145F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Supply repeatable landmarks while testing perception and state estimation.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3515F-D079-4C8F-AFB9-FB214B5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67125"/>
            <a:ext cx="3429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01EA6-306F-491E-B6F0-883C1F32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6712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63D617-4E46-463E-A146-3448A81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AR + HUMAN INTERFACES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444315-6235-4589-802E-2E54B1F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3009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Anchor digital information to a physical place or object.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CE87A-D05A-4924-8E44-4A7D1CC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A tag is useful because its identity and geometry are designed—not discovered by chance.</a:t>
            </a:r>
          </a:p>
        </p:txBody>
      </p:sp>
    </p:spTree>
    <p:extLst>
      <p:ext uri="{BB962C8B-B14F-4D97-AF65-F5344CB8AC3E}">
        <p14:creationId xmlns:p14="http://schemas.microsoft.com/office/powerpoint/2010/main" val="3411836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9433a672d4d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28BE3-D761-4C52-99C0-FAE2B80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90781-31EB-46DC-9014-25EB57AA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APRILTAG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AE966-DE55-4D83-A84B-CD03C92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241E-C9CF-491F-BDD9-ACE1AD25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619806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016D4-378D-4B9F-9D26-B78B2B4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3157E-9E1F-4D0F-98BA-3023E730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4A6BA-55E2-44DC-B78E-75E5ADE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APRILTAG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0BBA5-34B0-49CE-8DCF-9AB347C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FAMILIES AND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BB7A0-F3A5-4DE9-8D8A-E648E99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Family chooses the codebook; ID chooses one tag inside it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d7672899b420c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077CF-3139-4BC2-B1F5-FA7E0ECC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03585-698C-4589-B570-21A570E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10D28-9F1D-40CC-95D7-F7DAD95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5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75D96-6E21-4A56-986F-0EF42C4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B4E14-E661-4A94-AE73-39334997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CODE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8E09E-06EE-4C94-AFFB-9738F40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WHEN IT 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D99B1-FEB4-4082-90C9-B299375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1001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8CCA5-697C-436F-B97B-0A11C0B7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tag16h5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1E27A-3607-4016-9DB0-097E380D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Small code, fewer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52C10-0EA8-4EAE-A4DD-5CFD5206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Legacy / compact demonstrations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39A9B-9ACB-45D6-8DC0-ED9EF759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11001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6095E-DDAC-451B-8A15-776E7FF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tag25h9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14321-4646-41D4-A4BD-9CB40AB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More bits and separation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847AF-0DB7-4C3D-B2FD-4711AE02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Legacy balance of size and robustness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D5E5F-5E23-452D-9772-D77DE026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11001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60A3B-6188-40E3-84F8-722785D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A227"/>
                </a:solidFill>
              </a:defRPr>
            </a:pPr>
            <a:r>
              <a:rPr sz="1500" b="1">
                <a:solidFill>
                  <a:srgbClr val="C9A227"/>
                </a:solidFill>
              </a:rPr>
              <a:t>tag36h11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4A650-3CF2-47B5-B3FC-C220883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36 data bits · minimum Hamming distance 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623E2-5CC0-497D-A2EB-5F4304C8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Hopper Studio: IDs 0–586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538BC-27EC-42F1-BC6E-44D193B2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1001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8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72426-1327-4C71-9AC1-70B7A25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tagStandard41h12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9312C-7CEB-470F-9EF0-D0D94717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Modern standard layout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250EA-E9CE-4D06-A256-33BC4F6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Upstream default for most new 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F514B-03B4-41DB-A7BF-4C47C0AE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1001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ACAE8C-9276-4B3F-B7D0-AA7A2D56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tagCircle49h12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1C367-1C3C-4276-8FF4-7583FC42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Circular, space-efficient layout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29613F-D412-4F50-B201-05CA36B2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Small circular objects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73E05-F4B4-43E8-934F-9B998EF7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4F5C"/>
                </a:solidFill>
              </a:defRPr>
            </a:pPr>
            <a:r>
              <a:rPr sz="1425" b="1">
                <a:solidFill>
                  <a:srgbClr val="D94F5C"/>
                </a:solidFill>
              </a:rPr>
              <a:t>Never mix families in one detector configuration: the same ID number in another family is a different code.</a:t>
            </a:r>
          </a:p>
        </p:txBody>
      </p:sp>
    </p:spTree>
    <p:extLst>
      <p:ext uri="{BB962C8B-B14F-4D97-AF65-F5344CB8AC3E}">
        <p14:creationId xmlns:p14="http://schemas.microsoft.com/office/powerpoint/2010/main" val="15010091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cc8a4d1ee40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CDB49-E6DC-486E-8262-033D379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845E3-10D2-492D-B339-07E0565D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APRILTAG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9C61E-9653-4BAC-8F43-268C448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7250D-6F74-49F0-A0FD-484872E1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715516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b6c8bd0a048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2BE37-E1C6-4E1B-8A69-099D8B2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33D72-11D8-4C4A-84CE-9C39B76E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APRILTAG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FE6B2-9E87-4DF8-A9E5-CBE355F9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1970A-8E7C-4CE4-9754-77712E3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8000792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bbedc4b1348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4AFCB-0417-4C9E-B110-36E189EB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058DE-4DFE-4D8F-9642-F654B8D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APRILTAG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4C8F4-F940-4795-9CA3-2B3FE76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F866-4248-4A8A-8156-202B9556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600485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A4B21-00CB-425A-81D7-B692463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E4B88-75F6-4AAD-973C-81AAA042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6C5AF-1A37-4757-8DB1-B95C827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APRILTAG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449F6-7F43-484D-AB6A-1AC80AA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HOPPER STUDIO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9A5F-FC0E-4F4F-90B1-7E7F550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Centering needs tolerances, timeouts, and landing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3b34b823d4c36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6E9C2-8C4D-440F-860A-BBC53CA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5B247-205F-41E4-8746-B5BED9A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1C9D6-62DE-417F-9148-B6B01E3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9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17F5F-0D0C-40C4-A3B4-954995C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33400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C36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CA3DE-DB49-443C-837F-EC3525CD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solidFill>
              <a:srgbClr val="071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C90CE-FB54-43A7-B91B-B215672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72"/>
          </a:solidFill>
          <a:ln xmlns:a="http://schemas.openxmlformats.org/drawingml/2006/main" w="0">
            <a:solidFill>
              <a:srgbClr val="F16B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39C03-9D94-4164-9AED-A2B0273E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BF48"/>
          </a:solidFill>
          <a:ln xmlns:a="http://schemas.openxmlformats.org/drawingml/2006/main" w="0">
            <a:solidFill>
              <a:srgbClr val="EABF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7BFBA-77FB-41C3-9DCC-BC2588D2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A8"/>
          </a:solidFill>
          <a:ln xmlns:a="http://schemas.openxmlformats.org/drawingml/2006/main" w="0">
            <a:solidFill>
              <a:srgbClr val="4CC2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54EED-C67E-48A3-BB9E-B2979D96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95425"/>
            <a:ext cx="441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2CF"/>
                </a:solidFill>
              </a:defRPr>
            </a:pPr>
            <a:r>
              <a:rPr sz="825" b="1">
                <a:solidFill>
                  <a:srgbClr val="A7C2CF"/>
                </a:solidFill>
              </a:rPr>
              <a:t>BOUNDED APRILTAG CENTERING · PROGRAM.JS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59DF3-8A34-45D8-984E-C6F1D651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9110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1 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12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takeOff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2 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try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3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const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centered 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12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centerOnAprilTag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4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drone,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5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12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7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6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12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10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7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12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5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8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12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5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9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125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3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10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11  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12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(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!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centered)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13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console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12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warn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125">
                <a:solidFill>
                  <a:srgbClr val="A8E6A1"/>
                </a:solidFill>
                <a:latin typeface="Aptos Mono"/>
                <a:ea typeface="Aptos Mono"/>
                <a:cs typeface="Aptos Mono"/>
              </a:rPr>
              <a:t>"Tag 7 was not centered."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14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15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finally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16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12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12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12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land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125"/>
            </a:pPr>
            <a:r>
              <a:rPr sz="1125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17  </a:t>
            </a:r>
            <a:r>
              <a:rPr sz="112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C430C-E23F-48E5-85AF-57F9BF9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53911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8820A-DBF0-4B43-A3C2-316D5A38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6667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AE7F8-6B4F-4966-A823-DA030648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43050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CENTER AND ALIGN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04CAB-1AAD-430C-B44A-9CD8EF93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4972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57150" rIns="76200" bIns="3810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975"/>
            </a:pPr>
            <a:r>
              <a:rPr sz="9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9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9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9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centerOnAprilTag</a:t>
            </a:r>
            <a:r>
              <a:rPr sz="9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
  drone, id, power, centerSlack, angleSlack, lostSearches)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C041C-A629-46FF-8174-6FCCB90D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933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drone — DroneController used for corrective motion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id — 0…586 or "any"; default "any"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power — translation 0…100%; default 10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centerSlack — 1…35% of frame; default 5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angleSlack — 1…45 degrees; default 5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lostSearches — 1…20 scans; default 3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returns — Promise&lt;boolean&gt;; also has a 30 s timeout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does not — control altitude or land the aircraft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87D30-F18E-4D63-8A1E-130D6E0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5391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9EA68-D469-4B43-8702-164E15B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7D21E-4F5D-4CB1-A978-8122493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52925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1B3A"/>
                </a:solidFill>
              </a:defRPr>
            </a:pPr>
            <a:r>
              <a:rPr sz="900" b="1">
                <a:solidFill>
                  <a:srgbClr val="001B3A"/>
                </a:solidFill>
              </a:rPr>
              <a:t>SCAN ALL TAGS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9C9D0-55F9-428F-A8E7-9D2F188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497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47625" rIns="76200" bIns="28575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938"/>
            </a:pPr>
            <a:r>
              <a:rPr sz="938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938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938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938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scanAprilTags</a:t>
            </a:r>
            <a:r>
              <a:rPr sz="938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(announceScan)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28527-6BC5-4C5F-BE52-5FB3F52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48225"/>
            <a:ext cx="493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D2843"/>
                </a:solidFill>
              </a:defRPr>
            </a:pPr>
            <a:r>
              <a:rPr sz="900">
                <a:solidFill>
                  <a:srgbClr val="0D2843"/>
                </a:solidFill>
              </a:rPr>
              <a:t>announceScan: boolean; default true · returns Promise&lt;AprilTagDetection[]&gt;</a:t>
            </a:r>
          </a:p>
          <a:p xmlns:a="http://schemas.openxmlformats.org/drawingml/2006/main">
            <a:pPr>
              <a:defRPr sz="900">
                <a:solidFill>
                  <a:srgbClr val="0D2843"/>
                </a:solidFill>
              </a:defRPr>
            </a:pPr>
            <a:r>
              <a:rPr sz="900">
                <a:solidFill>
                  <a:srgbClr val="0D2843"/>
                </a:solidFill>
              </a:rPr>
              <a:t>fields: id, bbox, corners, centerX/Y, yaw, hamming · throws on camera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CB50B-FF00-46DF-B499-EBD03E7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5391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B1288-0CD1-4BFE-8BBD-A91E8EB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E0004-C4C1-436E-A3B0-5CED3ED2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00675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4F5C"/>
                </a:solidFill>
              </a:defRPr>
            </a:pPr>
            <a:r>
              <a:rPr sz="900" b="1">
                <a:solidFill>
                  <a:srgbClr val="D94F5C"/>
                </a:solidFill>
              </a:rPr>
              <a:t>TEST ONE 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34768-BDE8-46F7-8371-63FB856E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7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47625" rIns="76200" bIns="28575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938"/>
            </a:pPr>
            <a:r>
              <a:rPr sz="938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938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938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938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seesAprilTag</a:t>
            </a:r>
            <a:r>
              <a:rPr sz="938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(id)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7E11A-9AD2-4171-97FB-ED0D944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95975"/>
            <a:ext cx="493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D2843"/>
                </a:solidFill>
              </a:defRPr>
            </a:pPr>
            <a:r>
              <a:rPr sz="900">
                <a:solidFill>
                  <a:srgbClr val="0D2843"/>
                </a:solidFill>
              </a:rPr>
              <a:t>id: 0…586 or "any"; default "any" · numeric IDs are rounded</a:t>
            </a:r>
          </a:p>
          <a:p xmlns:a="http://schemas.openxmlformats.org/drawingml/2006/main">
            <a:pPr>
              <a:defRPr sz="900">
                <a:solidFill>
                  <a:srgbClr val="0D2843"/>
                </a:solidFill>
              </a:defRPr>
            </a:pPr>
            <a:r>
              <a:rPr sz="900">
                <a:solidFill>
                  <a:srgbClr val="0D2843"/>
                </a:solidFill>
              </a:rPr>
              <a:t>returns Promise&lt;boolean&gt; after a fresh scan · throws on camera failure</a:t>
            </a:r>
          </a:p>
        </p:txBody>
      </p:sp>
    </p:spTree>
    <p:extLst>
      <p:ext uri="{BB962C8B-B14F-4D97-AF65-F5344CB8AC3E}">
        <p14:creationId xmlns:p14="http://schemas.microsoft.com/office/powerpoint/2010/main" val="2537600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92c59547540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1AA1C-2715-49CA-B1C0-1763FF79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9C892-2A10-44EE-B4B7-3FDB8C4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APRILTAG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8C07B-32FA-4B4F-972F-31718F5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60489-856D-4986-9F9F-EE2B4DF4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793781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2026-07-26T15:56:10.4000000Z</dcterms:created>
  <dcterms:modified xsi:type="dcterms:W3CDTF">2026-07-26T15:56:10.4000000Z</dcterms:modified>
</coreProperties>
</file>