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51cb539ee14cf2" /><Relationship Type="http://schemas.openxmlformats.org/officeDocument/2006/relationships/extended-properties" Target="/docProps/app.xml" Id="R276fb0693d804cec" /><Relationship Type="http://schemas.openxmlformats.org/officeDocument/2006/relationships/officeDocument" Target="/ppt/presentation.xml" Id="Rcbf087095fe145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961b7871e147e9"/>
  </p:sldMasterIdLst>
  <p:notesMasterIdLst>
    <p:notesMasterId xmlns:r="http://schemas.openxmlformats.org/officeDocument/2006/relationships" r:id="Rfd48c56551ee4e48"/>
  </p:notesMasterIdLst>
  <p:sldIdLst>
    <p:sldId xmlns:r="http://schemas.openxmlformats.org/officeDocument/2006/relationships" id="256" r:id="R41257b1243734548"/>
    <p:sldId xmlns:r="http://schemas.openxmlformats.org/officeDocument/2006/relationships" id="257" r:id="R72f10f483cc244b0"/>
    <p:sldId xmlns:r="http://schemas.openxmlformats.org/officeDocument/2006/relationships" id="258" r:id="Rc725012c1bac4deb"/>
    <p:sldId xmlns:r="http://schemas.openxmlformats.org/officeDocument/2006/relationships" id="259" r:id="R230db3c215cd4535"/>
    <p:sldId xmlns:r="http://schemas.openxmlformats.org/officeDocument/2006/relationships" id="260" r:id="R98d192487a08434e"/>
    <p:sldId xmlns:r="http://schemas.openxmlformats.org/officeDocument/2006/relationships" id="261" r:id="R90f8bb6873364dc7"/>
    <p:sldId xmlns:r="http://schemas.openxmlformats.org/officeDocument/2006/relationships" id="262" r:id="R899c6c792e83493e"/>
    <p:sldId xmlns:r="http://schemas.openxmlformats.org/officeDocument/2006/relationships" id="263" r:id="Ra619f58388e54d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3eac1500d1494a" /><Relationship Type="http://schemas.openxmlformats.org/officeDocument/2006/relationships/slideMaster" Target="/ppt/slideMasters/slideMaster1.xml" Id="R0c961b7871e147e9" /><Relationship Type="http://schemas.openxmlformats.org/officeDocument/2006/relationships/notesMaster" Target="/ppt/notesMasters/notesMaster1.xml" Id="Rfd48c56551ee4e48" /><Relationship Type="http://schemas.openxmlformats.org/officeDocument/2006/relationships/presProps" Target="/ppt/presProps.xml" Id="R2fd38158a3c44a2b" /><Relationship Type="http://schemas.openxmlformats.org/officeDocument/2006/relationships/tableStyles" Target="/ppt/tableStyles.xml" Id="R0bc6c15b8a6f41c4" /><Relationship Type="http://schemas.openxmlformats.org/officeDocument/2006/relationships/slide" Target="/ppt/slides/slide1.xml" Id="R41257b1243734548" /><Relationship Type="http://schemas.openxmlformats.org/officeDocument/2006/relationships/slide" Target="/ppt/slides/slide2.xml" Id="R72f10f483cc244b0" /><Relationship Type="http://schemas.openxmlformats.org/officeDocument/2006/relationships/slide" Target="/ppt/slides/slide3.xml" Id="Rc725012c1bac4deb" /><Relationship Type="http://schemas.openxmlformats.org/officeDocument/2006/relationships/slide" Target="/ppt/slides/slide4.xml" Id="R230db3c215cd4535" /><Relationship Type="http://schemas.openxmlformats.org/officeDocument/2006/relationships/slide" Target="/ppt/slides/slide5.xml" Id="R98d192487a08434e" /><Relationship Type="http://schemas.openxmlformats.org/officeDocument/2006/relationships/slide" Target="/ppt/slides/slide6.xml" Id="R90f8bb6873364dc7" /><Relationship Type="http://schemas.openxmlformats.org/officeDocument/2006/relationships/slide" Target="/ppt/slides/slide7.xml" Id="R899c6c792e83493e" /><Relationship Type="http://schemas.openxmlformats.org/officeDocument/2006/relationships/slide" Target="/ppt/slides/slide8.xml" Id="Ra619f58388e54d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3d6cd5c41248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2c8d5a75c54dc1" /><Relationship Type="http://schemas.openxmlformats.org/officeDocument/2006/relationships/notesMaster" Target="/ppt/notesMasters/notesMaster1.xml" Id="Rda34913dcdfb4c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1f81dfc52645fd" /><Relationship Type="http://schemas.openxmlformats.org/officeDocument/2006/relationships/notesMaster" Target="/ppt/notesMasters/notesMaster1.xml" Id="R953de0ba20c647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05ae469c8241d5" /><Relationship Type="http://schemas.openxmlformats.org/officeDocument/2006/relationships/notesMaster" Target="/ppt/notesMasters/notesMaster1.xml" Id="R28c9975b16e84b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e204cfaa684752" /><Relationship Type="http://schemas.openxmlformats.org/officeDocument/2006/relationships/notesMaster" Target="/ppt/notesMasters/notesMaster1.xml" Id="R7aa915f253334a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486ba967e447c4" /><Relationship Type="http://schemas.openxmlformats.org/officeDocument/2006/relationships/notesMaster" Target="/ppt/notesMasters/notesMaster1.xml" Id="Rdcf92c07f09241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8fe489f4534fd2" /><Relationship Type="http://schemas.openxmlformats.org/officeDocument/2006/relationships/notesMaster" Target="/ppt/notesMasters/notesMaster1.xml" Id="Rf8a05ae7e19247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37ff0b4e4a4136" /><Relationship Type="http://schemas.openxmlformats.org/officeDocument/2006/relationships/notesMaster" Target="/ppt/notesMasters/notesMaster1.xml" Id="R2e8d361ce77b44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056f6671624b9d" /><Relationship Type="http://schemas.openxmlformats.org/officeDocument/2006/relationships/notesMaster" Target="/ppt/notesMasters/notesMaster1.xml" Id="Rf3e35ac17b0c4b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translation and rotation as one coupled rigid-body problem. The deck uses the paper’s North-East-Down inertial frame and Forward-Right-Down body frame throughout.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high-resolution photograph: drone_photos/IMG_4479.jpeg</a:t>
            </a:r>
          </a:p>
          <a:p xmlns:a="http://schemas.openxmlformats.org/drawingml/2006/main">
            <a:r>
              <a:t>- Elsberry, Dawkins, and Whitcomb, ral_main.pdf, §III-A p.2.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paper defines the inertial frame as North-East-Down and the body frame as Forward-Right-Down. R_ab maps body coordinates into inertial coordinates. Euler angles are ZYX roll, pitch, and yaw.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Elsberry, Dawkins, and Whitcomb, ral_main.pdf, §III-A p.2, Fig. 1 and equations (5), (11)–(13).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paper uses u_i = omega_i |omega_i|. For normal one-direction rotor operation this becomes omega_i squared. Distinguish the quasi-steady square law from an actual first-order motor lag.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Elsberry, Dawkins, and Whitcomb, ral_main.pdf, §III-A p.2, equations (3)–(10).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At zero yaw, a nose-down pitch has phi_2 less than zero and produces positive forward acceleration. Both inertial z and body b_3 point down. Keeping altitude while tilted requires additional total thrust.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Elsberry, Dawkins, and Whitcomb, ral_main.pdf, §III-A p.2, equations (3), (12), and (13).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Rotor 1 is front-right, 2 rear-left, 3 front-left, and 4 rear-right in the attached paper. Roll and pitch come from thrust moments. Yaw comes from reaction/drag torque; increase one yaw-torque pair and decrease the other while approximately preserving total thrust.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Elsberry, Dawkins, and Whitcomb, ral_main.pdf, §III-A p.2, Fig. 1, Table I, and equations (6)–(10).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paper’s equations (1) through (4), with the translational force written using the positive total-thrust magnitude F_T. The gyroscopic cross product is part of the exact rotational dynamics; alpha equals I inverse tau is only a low-rate approximation.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Elsberry, Dawkins, and Whitcomb, ral_main.pdf, §III-A p.2, equations (1)–(13).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student's timed displacement is open-loop with respect to final position. The onboard flight controller still closes fast attitude and body-rate loops. The state estimator fuses the gyroscope, accelerometer, and any available aiding; an IMU alone does not provide absolute yaw.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flight API: local_site/lib/drone.ts.</a:t>
            </a:r>
          </a:p>
          <a:p xmlns:a="http://schemas.openxmlformats.org/drawingml/2006/main">
            <a:r>
              <a:t>- Elsberry, Dawkins, and Whitcomb, ral_main.pdf, controller context in §III-B.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interpret the simulator as the paper's NED plant. It deliberately uses positive-up altitude, a positive nose-down pitch display, a power-to-tilt mapping, g tan(tilt) horizontal acceleration, and simplified response dynamics. Fifteen-percent power maps to about 3.42 degrees; about 59.5 percent maps to 10 degrees.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Elsberry, Dawkins, and Whitcomb, ral_main.pdf, §III-A p.2 equations (1)–(13), Fig. 1, Table I; §III-B p.3 equations (21)–(29).</a:t>
            </a:r>
          </a:p>
          <a:p xmlns:a="http://schemas.openxmlformats.org/drawingml/2006/main">
            <a:r>
              <a:t>- Hopper Studio simulator: local_site/lib/simulation.ts, powerToTiltDegrees and step dynamics.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e783b6e25743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3588342d344357" /><Relationship Type="http://schemas.openxmlformats.org/officeDocument/2006/relationships/slideLayout" Target="/ppt/slideLayouts/slideLayout1.xml" Id="R5ad4f334cea04e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d4f334cea04e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79ae372b94ac4" /><Relationship Type="http://schemas.openxmlformats.org/officeDocument/2006/relationships/image" Target="/ppt/media/image.jpeg" Id="Rcc3fd36ed5394a3d" /><Relationship Type="http://schemas.openxmlformats.org/officeDocument/2006/relationships/image" Target="/ppt/media/image.png" Id="Rc6c524c7f2a74ecb" /><Relationship Type="http://schemas.openxmlformats.org/officeDocument/2006/relationships/notesSlide" Target="/ppt/notesSlides/notesSlide1.xml" Id="Rab3ea3fb1c4745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5d9cafcf4741dc" /><Relationship Type="http://schemas.openxmlformats.org/officeDocument/2006/relationships/image" Target="/ppt/media/image2.png" Id="Ra432147107114092" /><Relationship Type="http://schemas.openxmlformats.org/officeDocument/2006/relationships/image" Target="/ppt/media/image3.png" Id="Ra187c8bb07224450" /><Relationship Type="http://schemas.openxmlformats.org/officeDocument/2006/relationships/image" Target="/ppt/media/image.svg" Id="R7de0521c06ef46c1" /><Relationship Type="http://schemas.openxmlformats.org/officeDocument/2006/relationships/image" Target="/ppt/media/image4.png" Id="Rfd28d1a86af44aca" /><Relationship Type="http://schemas.openxmlformats.org/officeDocument/2006/relationships/image" Target="/ppt/media/image2.svg" Id="R5201ef03ad574737" /><Relationship Type="http://schemas.openxmlformats.org/officeDocument/2006/relationships/notesSlide" Target="/ppt/notesSlides/notesSlide2.xml" Id="Re5f73102a90f44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d2a97bab874229" /><Relationship Type="http://schemas.openxmlformats.org/officeDocument/2006/relationships/image" Target="/ppt/media/image5.png" Id="R1a6f357fa21647f0" /><Relationship Type="http://schemas.openxmlformats.org/officeDocument/2006/relationships/image" Target="/ppt/media/image6.png" Id="R414635e0c8ba4dc1" /><Relationship Type="http://schemas.openxmlformats.org/officeDocument/2006/relationships/image" Target="/ppt/media/image3.svg" Id="Re9ac86985c3f4dfb" /><Relationship Type="http://schemas.openxmlformats.org/officeDocument/2006/relationships/image" Target="/ppt/media/image7.png" Id="R8f535e473b35465a" /><Relationship Type="http://schemas.openxmlformats.org/officeDocument/2006/relationships/image" Target="/ppt/media/image4.svg" Id="Rdb5494795b734f9d" /><Relationship Type="http://schemas.openxmlformats.org/officeDocument/2006/relationships/image" Target="/ppt/media/image8.png" Id="R0e8343765ff348dc" /><Relationship Type="http://schemas.openxmlformats.org/officeDocument/2006/relationships/image" Target="/ppt/media/image5.svg" Id="Rd581648eab114fa8" /><Relationship Type="http://schemas.openxmlformats.org/officeDocument/2006/relationships/notesSlide" Target="/ppt/notesSlides/notesSlide3.xml" Id="Rb05b10ae13b347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4d5ebea3e4828" /><Relationship Type="http://schemas.openxmlformats.org/officeDocument/2006/relationships/image" Target="/ppt/media/image9.png" Id="Re6f4352b778d4532" /><Relationship Type="http://schemas.openxmlformats.org/officeDocument/2006/relationships/image" Target="/ppt/media/image10.png" Id="R512867073c024a5b" /><Relationship Type="http://schemas.openxmlformats.org/officeDocument/2006/relationships/image" Target="/ppt/media/image6.svg" Id="Rd0d188bffcc64600" /><Relationship Type="http://schemas.openxmlformats.org/officeDocument/2006/relationships/image" Target="/ppt/media/image11.png" Id="R44aacf48943f4d12" /><Relationship Type="http://schemas.openxmlformats.org/officeDocument/2006/relationships/image" Target="/ppt/media/image7.svg" Id="Rad4cdecdcbbb4dbb" /><Relationship Type="http://schemas.openxmlformats.org/officeDocument/2006/relationships/notesSlide" Target="/ppt/notesSlides/notesSlide4.xml" Id="Rf491aad2f1df4d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956c485d14b5e" /><Relationship Type="http://schemas.openxmlformats.org/officeDocument/2006/relationships/image" Target="/ppt/media/image12.png" Id="R27cf22f860b94f87" /><Relationship Type="http://schemas.openxmlformats.org/officeDocument/2006/relationships/image" Target="/ppt/media/image13.png" Id="R1534e92a4f4e403c" /><Relationship Type="http://schemas.openxmlformats.org/officeDocument/2006/relationships/image" Target="/ppt/media/image8.svg" Id="R181e076163ab4906" /><Relationship Type="http://schemas.openxmlformats.org/officeDocument/2006/relationships/notesSlide" Target="/ppt/notesSlides/notesSlide5.xml" Id="R7e7783b8b62a42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0c097f1c24aa8" /><Relationship Type="http://schemas.openxmlformats.org/officeDocument/2006/relationships/image" Target="/ppt/media/image14.png" Id="R81845b9d81934f62" /><Relationship Type="http://schemas.openxmlformats.org/officeDocument/2006/relationships/image" Target="/ppt/media/image15.png" Id="R67794b595e8a4761" /><Relationship Type="http://schemas.openxmlformats.org/officeDocument/2006/relationships/image" Target="/ppt/media/image9.svg" Id="Rbd1235201f5944c7" /><Relationship Type="http://schemas.openxmlformats.org/officeDocument/2006/relationships/image" Target="/ppt/media/image16.png" Id="R67665aca8afd414d" /><Relationship Type="http://schemas.openxmlformats.org/officeDocument/2006/relationships/image" Target="/ppt/media/image10.svg" Id="R005cddf20e5a4f19" /><Relationship Type="http://schemas.openxmlformats.org/officeDocument/2006/relationships/image" Target="/ppt/media/image17.png" Id="Rcd8618a6debd423a" /><Relationship Type="http://schemas.openxmlformats.org/officeDocument/2006/relationships/image" Target="/ppt/media/image11.svg" Id="R777f4d7227e744b8" /><Relationship Type="http://schemas.openxmlformats.org/officeDocument/2006/relationships/image" Target="/ppt/media/image18.png" Id="R442d97436172422c" /><Relationship Type="http://schemas.openxmlformats.org/officeDocument/2006/relationships/image" Target="/ppt/media/image12.svg" Id="R890177dcdc3f4d6c" /><Relationship Type="http://schemas.openxmlformats.org/officeDocument/2006/relationships/notesSlide" Target="/ppt/notesSlides/notesSlide6.xml" Id="R5df6b68540ab45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1cd1b2f534622" /><Relationship Type="http://schemas.openxmlformats.org/officeDocument/2006/relationships/image" Target="/ppt/media/image19.png" Id="Rb0c127a32a4c4b79" /><Relationship Type="http://schemas.openxmlformats.org/officeDocument/2006/relationships/notesSlide" Target="/ppt/notesSlides/notesSlide7.xml" Id="R964f129046fa43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774e040274f44" /><Relationship Type="http://schemas.openxmlformats.org/officeDocument/2006/relationships/image" Target="/ppt/media/image20.png" Id="R184fc130c60d4e26" /><Relationship Type="http://schemas.openxmlformats.org/officeDocument/2006/relationships/image" Target="/ppt/media/image21.png" Id="R0a35070b8bc94e15" /><Relationship Type="http://schemas.openxmlformats.org/officeDocument/2006/relationships/image" Target="/ppt/media/image13.svg" Id="R615975a779ce4152" /><Relationship Type="http://schemas.openxmlformats.org/officeDocument/2006/relationships/notesSlide" Target="/ppt/notesSlides/notesSlide8.xml" Id="R5f73543244184f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3fd36ed5394a3d"/>
          <a:srcRect xmlns:a="http://schemas.openxmlformats.org/drawingml/2006/main" l="0" t="10411" r="0" b="104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95950" y="0"/>
            <a:ext cx="6496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8EA0F7-ED7A-4CAA-8B60-F8420E3B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0"/>
            <a:ext cx="59055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5ADB9-8370-4698-8E89-E5FA17F2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23812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524c7f2a74ecb"/>
          <a:stretch xmlns:a="http://schemas.openxmlformats.org/drawingml/2006/main"/>
        </p:blipFill>
        <p:spPr>
          <a:xfrm xmlns:a="http://schemas.openxmlformats.org/drawingml/2006/main">
            <a:off x="1115994" y="561975"/>
            <a:ext cx="1177963" cy="5905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0CA220-77D5-4B1E-AFD8-8EFEE666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B8B4"/>
                </a:solidFill>
              </a:defRPr>
            </a:pPr>
            <a:r>
              <a:rPr sz="975" b="1">
                <a:solidFill>
                  <a:srgbClr val="14B8B4"/>
                </a:solidFill>
              </a:rPr>
              <a:t>HOPPER INFORMATION SERIES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545E76-01A4-42A3-8344-C5F1EC35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AERODYNAMICS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43BD0-2129-4651-945A-71AE2F09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7450"/>
            <a:ext cx="4572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Quadrotor aerodynamics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F7F13-D275-4933-BA45-57D56C37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4667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4E2E8"/>
                </a:solidFill>
              </a:defRPr>
            </a:pPr>
            <a:r>
              <a:rPr sz="1500">
                <a:solidFill>
                  <a:srgbClr val="D4E2E8"/>
                </a:solidFill>
              </a:rPr>
              <a:t>From rotor thrust to translation, attitude, and the feedback loops that stabilize every command.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B93CBE-7D5A-45C8-B8D2-B3CBF50F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190625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654"/>
          </a:solidFill>
          <a:ln xmlns:a="http://schemas.openxmlformats.org/drawingml/2006/main" w="14288">
            <a:solidFill>
              <a:srgbClr val="12365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NED / FRD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68E2B-F785-4F6E-8283-FC4846FE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372100"/>
            <a:ext cx="1362075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654"/>
          </a:solidFill>
          <a:ln xmlns:a="http://schemas.openxmlformats.org/drawingml/2006/main" w="14288">
            <a:solidFill>
              <a:srgbClr val="12365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6-DOF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336547-A9BC-43D1-858B-1425B75A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372100"/>
            <a:ext cx="1533525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CONTROL LOOPS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1F8F0F-C16D-4E45-8BA8-2D5C08A8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556E"/>
          </a:solidFill>
          <a:ln xmlns:a="http://schemas.openxmlformats.org/drawingml/2006/main" w="0">
            <a:solidFill>
              <a:srgbClr val="3355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4B663-5421-43E3-B349-C95D6404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04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94AFBC"/>
                </a:solidFill>
              </a:defRPr>
            </a:pPr>
            <a:r>
              <a:rPr sz="750">
                <a:solidFill>
                  <a:srgbClr val="94AFBC"/>
                </a:solidFill>
              </a:rPr>
              <a:t>DECK 02  |  AERODYNAMICS</a:t>
            </a:r>
          </a:p>
        </p:txBody>
      </p:sp>
    </p:spTree>
    <p:extLst>
      <p:ext uri="{BB962C8B-B14F-4D97-AF65-F5344CB8AC3E}">
        <p14:creationId xmlns:p14="http://schemas.microsoft.com/office/powerpoint/2010/main" val="14956447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7B7E0D-CA55-474A-96B2-C172B128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AA342-C846-4E3C-B804-E956C4F4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CD2339-6E3B-41C6-84AF-4FE3B17F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000DC-CDF7-4BC3-86CB-8574273A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COORDINATE CONVENTION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5257A-DDBA-4EB5-ADCB-1F6CB808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Signs only make sense after the frames are declared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2147107114092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F01CF-DF29-4923-B3BE-99C93DD2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99A6E0-1573-4678-B0DF-4B1AF6F9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818255-6749-4C66-A4B4-8FE47323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2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8C53B-6B44-4AD9-8351-BC1A46A9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095875" cy="31623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7FB271-C6D9-46CD-B190-36227A65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2190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INERTIAL FRAME · NED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E7053-0C98-4CAC-A2C8-ED7CB778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0956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9AB338-B580-495D-BB32-B4786677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08597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61" name=""/>
          <p:cNvCxnSpPr>
            <a:stCxn xmlns:a="http://schemas.openxmlformats.org/drawingml/2006/main" id="12" idx="0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2495550" y="2105025"/>
            <a:ext cx="0" cy="9906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C0882F-495B-46B2-B7ED-FB854A22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0956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53C392-54F1-482C-B858-1F3634E0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0956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64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2505075" y="3105150"/>
            <a:ext cx="1581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C9A227"/>
            </a:solidFill>
            <a:prstDash val="solid"/>
            <a:tailEnd type="triangle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A19053-4DF6-467B-AE70-F77E1788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0956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06E4D-0936-4B3E-8029-EC3F8A82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01955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67" name=""/>
          <p:cNvCxnSpPr>
            <a:stCxn xmlns:a="http://schemas.openxmlformats.org/drawingml/2006/main" id="18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 flipH="1">
            <a:off x="1695450" y="3114675"/>
            <a:ext cx="800100" cy="90487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94F5C"/>
            </a:solidFill>
            <a:prstDash val="solid"/>
            <a:tailEnd type="triangle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C5A615-EBF4-4E11-B919-C0B3E51E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574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C95"/>
                </a:solidFill>
              </a:defRPr>
            </a:pPr>
            <a:r>
              <a:rPr sz="1350" b="1">
                <a:solidFill>
                  <a:srgbClr val="008C95"/>
                </a:solidFill>
              </a:rPr>
              <a:t>a₁ · north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D94BA7-9EBC-49DD-9935-B532FE98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2099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A227"/>
                </a:solidFill>
              </a:defRPr>
            </a:pPr>
            <a:r>
              <a:rPr sz="1350" b="1">
                <a:solidFill>
                  <a:srgbClr val="C9A227"/>
                </a:solidFill>
              </a:rPr>
              <a:t>a₂ · east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B0F3AA-5E1E-4E90-98FD-242E8CBD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4F5C"/>
                </a:solidFill>
              </a:defRPr>
            </a:pPr>
            <a:r>
              <a:rPr sz="1350" b="1">
                <a:solidFill>
                  <a:srgbClr val="D94F5C"/>
                </a:solidFill>
              </a:rPr>
              <a:t>a₃ · down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D02BA6-67ED-4B4B-99C8-5713A92A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424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36A7B"/>
                </a:solidFill>
              </a:defRPr>
            </a:pPr>
            <a:r>
              <a:rPr sz="1125">
                <a:solidFill>
                  <a:srgbClr val="536A7B"/>
                </a:solidFill>
              </a:rPr>
              <a:t>ξₐ and vₐ are inertial-frame vectors.</a:t>
            </a:r>
          </a:p>
          <a:p xmlns:a="http://schemas.openxmlformats.org/drawingml/2006/main">
            <a:pPr algn="ctr">
              <a:defRPr sz="1125">
                <a:solidFill>
                  <a:srgbClr val="536A7B"/>
                </a:solidFill>
              </a:defRPr>
            </a:pPr>
            <a:r>
              <a:rPr sz="1125">
                <a:solidFill>
                  <a:srgbClr val="536A7B"/>
                </a:solidFill>
              </a:rPr>
              <a:t>Positive z points down.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BDC22B-1F43-448B-AC18-62BD76EF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466850"/>
            <a:ext cx="5438775" cy="31623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C55E79-362C-4423-854D-04C7EA59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1676400"/>
            <a:ext cx="2000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A227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1B3A"/>
                </a:solidFill>
              </a:defRPr>
            </a:pPr>
            <a:r>
              <a:rPr sz="1050" b="1">
                <a:solidFill>
                  <a:srgbClr val="001B3A"/>
                </a:solidFill>
              </a:rPr>
              <a:t>BODY FRAME · FRD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05C05D-2429-4151-8687-D0243C45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12382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28575">
            <a:solidFill>
              <a:srgbClr val="14B8B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C1201E-1D90-4C7C-9D59-78FC05DC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718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A3E241-0FAB-497C-90BF-2FE47271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08597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77" name=""/>
          <p:cNvCxnSpPr>
            <a:stCxn xmlns:a="http://schemas.openxmlformats.org/drawingml/2006/main" id="28" idx="0"/>
            <a:endCxn xmlns:a="http://schemas.openxmlformats.org/drawingml/2006/main" id="29" idx="2"/>
          </p:cNvCxnSpPr>
          <p:nvPr/>
        </p:nvCxnSpPr>
        <p:spPr>
          <a:xfrm xmlns:a="http://schemas.openxmlformats.org/drawingml/2006/main" flipV="1">
            <a:off x="8715375" y="2105025"/>
            <a:ext cx="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BA60DC-4474-49D9-AAE2-A41E4871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718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7CB5A7-13E7-4E9A-A071-D2280786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718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80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724900" y="3181350"/>
            <a:ext cx="16002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C9A227"/>
            </a:solidFill>
            <a:prstDash val="solid"/>
            <a:tailEnd type="triangle" w="med" len="med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6D321D-C89B-4E43-BF39-31884882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575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5B97C4-0299-4E3E-B047-C64C8D51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02895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AC7B08-3567-480C-AA21-AE1E79A6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574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C95"/>
                </a:solidFill>
              </a:defRPr>
            </a:pPr>
            <a:r>
              <a:rPr sz="1350" b="1">
                <a:solidFill>
                  <a:srgbClr val="008C95"/>
                </a:solidFill>
              </a:rPr>
              <a:t>b₁ · forward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DB15AD-F5D8-4EAD-B7D6-30B92C97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32861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A227"/>
                </a:solidFill>
              </a:defRPr>
            </a:pPr>
            <a:r>
              <a:rPr sz="1350" b="1">
                <a:solidFill>
                  <a:srgbClr val="C9A227"/>
                </a:solidFill>
              </a:rPr>
              <a:t>b₂ · right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AFBB6-421C-48D8-A957-5BF3E36B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71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4F5C"/>
                </a:solidFill>
              </a:defRPr>
            </a:pPr>
            <a:r>
              <a:rPr sz="1350" b="1">
                <a:solidFill>
                  <a:srgbClr val="D94F5C"/>
                </a:solidFill>
              </a:rPr>
              <a:t>b₃ · down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62B810-1E93-4CE8-8462-4E3739BE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38625"/>
            <a:ext cx="401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36A7B"/>
                </a:solidFill>
              </a:defRPr>
            </a:pPr>
            <a:r>
              <a:rPr sz="1200">
                <a:solidFill>
                  <a:srgbClr val="536A7B"/>
                </a:solidFill>
              </a:rPr>
              <a:t>Rₐᵦ maps body-frame vectors into the inertial frame.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28020E-132F-4FF1-9038-F08C14E6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66103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5BF5C8-00A8-4048-8A67-0ED94A3B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B34F50-4F60-4481-A7C9-03A7ADC8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615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ZYX EULER ANGLES</a:t>
            </a:r>
          </a:p>
        </p:txBody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7c8bb07224450">
            <a:extLst>
              <a:ext uri="{96DAC541-7B7A-43D3-8B79-37D633B846F1}">
                <asvg:svgBlip xmlns:asvg="http://schemas.microsoft.com/office/drawing/2016/SVG/main" r:embed="R7de0521c06ef46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979900" y="5491101"/>
            <a:ext cx="3869750" cy="295397"/>
          </a:xfrm>
          <a:prstGeom xmlns:a="http://schemas.openxmlformats.org/drawingml/2006/main" prst="rect">
            <a:avLst/>
          </a:prstGeom>
        </p:spPr>
      </p:pic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5FC574-1AE7-4C3C-9B75-F83E3E4D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76800"/>
            <a:ext cx="4095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1687647-1876-4998-A4CF-5BA8A8B8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768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29D321-B4C3-45B6-B984-D321C714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048250"/>
            <a:ext cx="3638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BODY → INERTIAL ROTATION</a:t>
            </a:r>
          </a:p>
        </p:txBody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8d1a86af44aca">
            <a:extLst>
              <a:ext uri="{96DAC541-7B7A-43D3-8B79-37D633B846F1}">
                <asvg:svgBlip xmlns:asvg="http://schemas.microsoft.com/office/drawing/2016/SVG/main" r:embed="R5201ef03ad57473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103628" y="5502261"/>
            <a:ext cx="2861794" cy="2730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547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C74FD7-24D2-443B-B69B-02FD8B26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7CE74-6038-4264-AB15-C3042CD30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DA7A06-F033-4D7D-A576-CC9BC7AC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466B2-C726-4FED-882F-BBB9CBEC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ROTOR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D13737-8D46-4689-A411-92261231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Rotor speed creates thrust; collective thrust sets height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6f357fa21647f0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DE817-C2CA-4AF3-9839-4962131C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2984A3-AD42-4189-B405-4FFBE242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D7ECB-3008-4FC9-BDBB-44E91E28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3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170144-85AD-43DD-AA17-6CC50557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4953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60A9E-A8FE-4ADE-906A-253D9DFA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85837B-C2C3-4868-AF47-BA276D92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449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QUASI-STEADY ROTOR THRUST LAW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4635e0c8ba4dc1">
            <a:extLst>
              <a:ext uri="{96DAC541-7B7A-43D3-8B79-37D633B846F1}">
                <asvg:svgBlip xmlns:asvg="http://schemas.microsoft.com/office/drawing/2016/SVG/main" r:embed="Re9ac86985c3f4d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28413" y="2421493"/>
            <a:ext cx="2715375" cy="262414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75A811-D544-417E-BEE7-A0407DD5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81150"/>
            <a:ext cx="56388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2843AF-A705-4E76-80B3-63373B55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811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440810-6ED0-4A36-9B45-B7198FB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518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POSITIVE TOTAL-THRUST MAGNITUDE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35e473b35465a">
            <a:extLst>
              <a:ext uri="{96DAC541-7B7A-43D3-8B79-37D633B846F1}">
                <asvg:svgBlip xmlns:asvg="http://schemas.microsoft.com/office/drawing/2016/SVG/main" r:embed="Rdb5494795b734f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007798" y="2156268"/>
            <a:ext cx="1510405" cy="792863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37DDE1-87B9-4DED-9256-8E4E69C4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953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DAA107-C704-486B-871F-EFE8B309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97F8D5-9760-44BF-9CA6-C25E5E36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449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A TRUE FIRST-ORDER MOTOR MODEL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343765ff348dc">
            <a:extLst>
              <a:ext uri="{96DAC541-7B7A-43D3-8B79-37D633B846F1}">
                <asvg:svgBlip xmlns:asvg="http://schemas.microsoft.com/office/drawing/2016/SVG/main" r:embed="Rd581648eab114fa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231961" y="4324701"/>
            <a:ext cx="1708279" cy="246949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8A987E-AD38-4CF5-AA1D-362296B1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600450"/>
            <a:ext cx="56388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03076-7DFE-421C-835E-37CF558B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60045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661DB2-6531-4D98-B3DE-27127940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0950"/>
            <a:ext cx="521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Hover is an attitude-qualified condition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8BC20D-2B67-4782-8364-2129B7E4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81475"/>
            <a:ext cx="521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Level hover: F_T = mg.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Tilted hover: F_T cos φ₁ cos φ₂ = mg.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For one-way rotors, uᵢ = ωᵢ²; the square law is static, not a motor time response.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42A4E6-643D-458B-8109-2776CEBC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96774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7E9C89-A4EB-47D2-9442-B3C3ADF6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86425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1B3A"/>
                </a:solidFill>
              </a:defRPr>
            </a:pPr>
            <a:r>
              <a:rPr sz="1350" b="1">
                <a:solidFill>
                  <a:srgbClr val="001B3A"/>
                </a:solidFill>
              </a:rPr>
              <a:t>Students command direction, time, and power; the controller allocates motor commands.</a:t>
            </a:r>
          </a:p>
        </p:txBody>
      </p:sp>
    </p:spTree>
    <p:extLst>
      <p:ext uri="{BB962C8B-B14F-4D97-AF65-F5344CB8AC3E}">
        <p14:creationId xmlns:p14="http://schemas.microsoft.com/office/powerpoint/2010/main" val="14949130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0D0F6A-831A-448A-BEE5-F4D0446C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64FA9-0EAE-49D7-8FF9-D4020000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DAEA4-65E7-4B54-842E-2B853138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8260A8-50D7-4CB0-B5BF-1C28ACB4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TRANSLATION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8BC2F-3B1B-4DE7-B5FF-23760553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Tilting the body redirects thrust horizontally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f4352b778d4532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5FE29B-FCEF-44F2-AE55-14AF3D30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A8F05-856B-42F7-996F-C978DB31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6360D-48AE-4F78-BF15-1C2C5347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4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B2767-68BD-451E-AAF6-8464968C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600700" cy="42100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062B4D"/>
          </a:solidFill>
          <a:ln xmlns:a="http://schemas.openxmlformats.org/drawingml/2006/main" w="14288">
            <a:solidFill>
              <a:srgbClr val="062B4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837DA7-5D70-4BFF-99B6-CFAB321A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286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SIDE VIEW · ZERO YAW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1EA9B7-ED36-408E-AB7E-E5F6448F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1477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6A39E7-206F-4A88-A233-BD0C21D4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861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 flipV="1">
            <a:off x="1714500" y="3295650"/>
            <a:ext cx="3124200" cy="62865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FFFFFF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BDD8CE-A0FA-4E03-BFB2-7346C403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7052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09BBAB-7B28-4CEB-ACEB-56AF6D3F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765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2CF990-60EB-488A-8F47-6BA0CF8E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5909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BA2A30-2A3A-46A5-8B11-A35181C0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1050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57" name=""/>
          <p:cNvCxnSpPr>
            <a:stCxn xmlns:a="http://schemas.openxmlformats.org/drawingml/2006/main" id="17" idx="0"/>
            <a:endCxn xmlns:a="http://schemas.openxmlformats.org/drawingml/2006/main" id="18" idx="2"/>
          </p:cNvCxnSpPr>
          <p:nvPr/>
        </p:nvCxnSpPr>
        <p:spPr>
          <a:xfrm xmlns:a="http://schemas.openxmlformats.org/drawingml/2006/main" flipV="1">
            <a:off x="3267075" y="2124075"/>
            <a:ext cx="590550" cy="14668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14B8B4"/>
            </a:solidFill>
            <a:prstDash val="solid"/>
            <a:tailEnd type="triangl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24263C-18EF-4A18-95D4-A6C3CC83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5909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7FBBF-58DF-4129-94D4-E3CCA7F1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1017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60" name=""/>
          <p:cNvCxnSpPr>
            <a:stCxn xmlns:a="http://schemas.openxmlformats.org/drawingml/2006/main" id="2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3267075" y="3609975"/>
            <a:ext cx="0" cy="16002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D94F5C"/>
            </a:solidFill>
            <a:prstDash val="solid"/>
            <a:tailEnd type="triangle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A1F6B8-6708-4F83-BD49-8A19038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5909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1700B5-AFD8-4221-A5E3-40B8F916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5909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63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3276600" y="3600450"/>
            <a:ext cx="1933575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C9A227"/>
            </a:solidFill>
            <a:prstDash val="solid"/>
            <a:tailEnd type="triangle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C4A30F-C7BF-4853-91AC-90E6C6BC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526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B8B4"/>
                </a:solidFill>
              </a:defRPr>
            </a:pPr>
            <a:r>
              <a:rPr sz="1350" b="1">
                <a:solidFill>
                  <a:srgbClr val="14B8B4"/>
                </a:solidFill>
              </a:rPr>
              <a:t>thrust −F_T b₃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C405C-25CD-471D-9541-A3D639AB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9530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4F5C"/>
                </a:solidFill>
              </a:defRPr>
            </a:pPr>
            <a:r>
              <a:rPr sz="1350" b="1">
                <a:solidFill>
                  <a:srgbClr val="D94F5C"/>
                </a:solidFill>
              </a:rPr>
              <a:t>gravity +mg a₃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C76984-DBC8-43E9-B199-1D60CE26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1475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A227"/>
                </a:solidFill>
              </a:defRPr>
            </a:pPr>
            <a:r>
              <a:rPr sz="1350" b="1">
                <a:solidFill>
                  <a:srgbClr val="C9A227"/>
                </a:solidFill>
              </a:rPr>
              <a:t>forward +a₁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1A57A8-172D-4A85-AA4B-EF6BF522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768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Nose-down pitch is φ₂ &lt; 0 in this NED/FRD convention.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A78476-6A6E-4677-81DB-1B716D5F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38300"/>
            <a:ext cx="49911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8EC1FC-B788-46C2-94BF-AC2295FA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3830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830534-CBCC-4641-80E0-A04D2ECD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FORWARD ACCELERATION · φ₃ = 0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2867073c024a5b">
            <a:extLst>
              <a:ext uri="{96DAC541-7B7A-43D3-8B79-37D633B846F1}">
                <asvg:svgBlip xmlns:asvg="http://schemas.microsoft.com/office/drawing/2016/SVG/main" r:embed="Rd0d188bffcc646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00745" y="2359472"/>
            <a:ext cx="3372210" cy="538856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E4570DF-7A4B-4512-9001-191BBFD4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49911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C21387-4BE6-45D7-B8FF-0271379E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4050BA-C46D-4908-ADB0-D5B030BB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VERTICAL ACCELERATION · z POSITIVE DOWN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aacf48943f4d12">
            <a:extLst>
              <a:ext uri="{96DAC541-7B7A-43D3-8B79-37D633B846F1}">
                <asvg:svgBlip xmlns:asvg="http://schemas.microsoft.com/office/drawing/2016/SVG/main" r:embed="Rad4cdecdcbbb4db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18179" y="4359722"/>
            <a:ext cx="2537341" cy="538856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31CAB3-E86C-4031-8BE5-1D420D5E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667375"/>
            <a:ext cx="468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Tilt reduces the vertical thrust component, so altitude hold needs more F_T.</a:t>
            </a:r>
          </a:p>
        </p:txBody>
      </p:sp>
    </p:spTree>
    <p:extLst>
      <p:ext uri="{BB962C8B-B14F-4D97-AF65-F5344CB8AC3E}">
        <p14:creationId xmlns:p14="http://schemas.microsoft.com/office/powerpoint/2010/main" val="7449108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FBF296E-241E-473C-A004-C92CE4F9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F4788-CC1A-471E-9F1D-D4639F7A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5C21D2-D89D-4F69-8890-2CFA6EDC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315BA-27FE-49A9-9879-D84EEC19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ROTOR ALLOCATION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E56BB4-0012-4F9E-84B4-7340BC3A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Differential rotor forces create roll, pitch, and yaw moments</a:t>
            </a:r>
          </a:p>
        </p:txBody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cf22f860b94f87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74441-3637-4BFD-BF36-D030B663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D7E8F3-1BCA-4939-A877-BF5B77AC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5EFFDA-E12D-4F6B-8983-E0F2F2E0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5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4DBC7D-3741-4481-97A2-967DB9F6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46291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DAF63-0A33-4EEC-8EB7-ECA8E82C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2343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PAPER ROTOR NUMBERING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34CA21-5D1A-49F7-B18C-E3186A67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85750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BDAFAC-7259-4679-9EB4-70C8F290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3360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15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 flipV="1">
            <a:off x="2905125" y="2143125"/>
            <a:ext cx="1000125" cy="723900"/>
          </a:xfrm>
          <a:prstGeom xmlns:a="http://schemas.openxmlformats.org/drawingml/2006/main" prst="straightConnector1">
            <a:avLst/>
          </a:prstGeom>
          <a:ln xmlns:a="http://schemas.openxmlformats.org/drawingml/2006/main" w="66675">
            <a:solidFill>
              <a:srgbClr val="7E98A7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260B5A-9614-4120-9D6E-3CF7A57E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4785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7771E1-7EF2-42D8-82B4-34645E4A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5E5E87-7DF0-461E-B478-192DFCE0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7650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D94F5C"/>
                </a:solidFill>
              </a:defRPr>
            </a:pPr>
            <a:r>
              <a:rPr sz="975" b="1">
                <a:solidFill>
                  <a:srgbClr val="D94F5C"/>
                </a:solidFill>
              </a:rPr>
              <a:t>+τz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C65B5-52AA-4413-A76E-748C32BB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85750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20A7B9-38A1-482B-8F25-B0D7DFBF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54330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21" name=""/>
          <p:cNvCxnSpPr>
            <a:stCxn xmlns:a="http://schemas.openxmlformats.org/drawingml/2006/main" id="18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1885950" y="2867025"/>
            <a:ext cx="1000125" cy="685800"/>
          </a:xfrm>
          <a:prstGeom xmlns:a="http://schemas.openxmlformats.org/drawingml/2006/main" prst="straightConnector1">
            <a:avLst/>
          </a:prstGeom>
          <a:ln xmlns:a="http://schemas.openxmlformats.org/drawingml/2006/main" w="66675">
            <a:solidFill>
              <a:srgbClr val="7E98A7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C998EB-01DA-42ED-9911-C00790E9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5755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004DF3-F8AC-4A43-85D2-FDAC5490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909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82A003-6262-4074-8DC2-B7621B85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670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D94F5C"/>
                </a:solidFill>
              </a:defRPr>
            </a:pPr>
            <a:r>
              <a:rPr sz="975" b="1">
                <a:solidFill>
                  <a:srgbClr val="D94F5C"/>
                </a:solidFill>
              </a:rPr>
              <a:t>+τz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0417F6-76C7-4BF6-A0EE-2B6D705E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85750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B83F52-E360-46D1-AC57-343F5E42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3360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27" name=""/>
          <p:cNvCxnSpPr>
            <a:stCxn xmlns:a="http://schemas.openxmlformats.org/drawingml/2006/main" id="24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 flipV="1">
            <a:off x="1885950" y="2143125"/>
            <a:ext cx="1000125" cy="723900"/>
          </a:xfrm>
          <a:prstGeom xmlns:a="http://schemas.openxmlformats.org/drawingml/2006/main" prst="straightConnector1">
            <a:avLst/>
          </a:prstGeom>
          <a:ln xmlns:a="http://schemas.openxmlformats.org/drawingml/2006/main" w="66675">
            <a:solidFill>
              <a:srgbClr val="7E98A7"/>
            </a:solidFill>
            <a:prstDash val="soli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60B038-8282-4C44-AA40-60E9AD70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84785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927433-7F97-4B65-AB7D-7586C969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812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333228-ECBB-4311-A85B-DA1C62D1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47650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08C95"/>
                </a:solidFill>
              </a:defRPr>
            </a:pPr>
            <a:r>
              <a:rPr sz="975" b="1">
                <a:solidFill>
                  <a:srgbClr val="008C95"/>
                </a:solidFill>
              </a:rPr>
              <a:t>−τz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0C7B8D-01B1-4F4E-8B16-464651DA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85750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3BD420-CF7B-44E1-939B-4C7C77C0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4330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33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2905125" y="2867025"/>
            <a:ext cx="1000125" cy="685800"/>
          </a:xfrm>
          <a:prstGeom xmlns:a="http://schemas.openxmlformats.org/drawingml/2006/main" prst="straightConnector1">
            <a:avLst/>
          </a:prstGeom>
          <a:ln xmlns:a="http://schemas.openxmlformats.org/drawingml/2006/main" w="66675">
            <a:solidFill>
              <a:srgbClr val="7E98A7"/>
            </a:solidFill>
            <a:prstDash val="soli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BEEF97-90D7-4D8B-BFF9-ABE97C95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5755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457DBC-DA41-4B4E-BFA7-B1F4FDD8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909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AC01E4-72A1-4BEA-913E-2FE13608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670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08C95"/>
                </a:solidFill>
              </a:defRPr>
            </a:pPr>
            <a:r>
              <a:rPr sz="975" b="1">
                <a:solidFill>
                  <a:srgbClr val="008C95"/>
                </a:solidFill>
              </a:rPr>
              <a:t>−τz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B86272-CA67-4EE5-A2E4-A262FE01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28900"/>
            <a:ext cx="6286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9C2F9C-FE1D-4907-B0A1-BAC3FEA5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4797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5C5B47-CCEC-46CB-8319-E71D8889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002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40" name=""/>
          <p:cNvCxnSpPr>
            <a:stCxn xmlns:a="http://schemas.openxmlformats.org/drawingml/2006/main" id="37" idx="0"/>
            <a:endCxn xmlns:a="http://schemas.openxmlformats.org/drawingml/2006/main" id="38" idx="2"/>
          </p:cNvCxnSpPr>
          <p:nvPr/>
        </p:nvCxnSpPr>
        <p:spPr>
          <a:xfrm xmlns:a="http://schemas.openxmlformats.org/drawingml/2006/main" flipV="1">
            <a:off x="2886075" y="1819275"/>
            <a:ext cx="0" cy="1028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8C95"/>
            </a:solidFill>
            <a:prstDash val="solid"/>
            <a:tailEnd type="triangle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4BE342-FF1D-45B2-A007-A172D77C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4797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CEE845-98B2-472D-AEE1-C497BB90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84797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43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2895600" y="2857500"/>
            <a:ext cx="15716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A227"/>
            </a:solidFill>
            <a:prstDash val="solid"/>
            <a:tailEnd type="triangle" w="med" len="med"/>
          </a:ln>
        </p:spPr>
      </p:cxn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BC09DED-EECC-49F9-A76B-363761D6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2038350"/>
            <a:ext cx="1219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2F1"/>
          </a:solidFill>
          <a:ln xmlns:a="http://schemas.openxmlformats.org/drawingml/2006/main" w="14288">
            <a:solidFill>
              <a:srgbClr val="DDF2F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b₁ · forward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4AC477-F030-45A8-8450-34793274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62275"/>
            <a:ext cx="904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A227"/>
                </a:solidFill>
              </a:defRPr>
            </a:pPr>
            <a:r>
              <a:rPr sz="1050" b="1">
                <a:solidFill>
                  <a:srgbClr val="C9A227"/>
                </a:solidFill>
              </a:rPr>
              <a:t>b₂ right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074372-23C3-4446-B3D8-825DDBD8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447800"/>
            <a:ext cx="60198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3634A4-F376-42FD-A705-3D19DC35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57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SIGN PATTERN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205AAE8-44E7-459F-9609-2B3E1191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240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9247D0-34FA-4C43-8F3B-2B3ED2B2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962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46B8212-95B1-420B-A09E-41391037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240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0509DED-9DC7-4F45-8583-94E77743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962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B7DB11-47C3-4954-B5E9-22F3FAA5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240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5F6841D-C5FE-432B-BF00-7F19BB59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62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A2F3D59-5AFB-42C9-804B-CB19D5EC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9240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1170F8-EDE8-480C-8ACB-07866394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62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7A31F51-9246-4A35-AD23-9C381390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9240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4711D4C-9A3F-459A-B253-C114C163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962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17F1B3-3800-4F2D-A3C1-7C8CFA19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7647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33A5B5D-1410-45BA-9078-FAE03735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3145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F_T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BF81192-5A2B-4480-BAE4-A9989285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7647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56DCB6F-82AC-4AF1-8D72-C9C78DE6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145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7133D6-2DA5-4290-86B3-517E724C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7647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856D0C1-8875-41CA-920A-1F20C691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145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3FA3D4F-1E54-487F-842F-A2F96B15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7647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AFFD90A-4C06-44CE-9EBB-B495A36D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145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8D2D712-5D68-43EF-95CF-5FD19521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27647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4153833-A0C3-44AC-9850-0C23D4C0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145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335BE26-FF32-4259-9FFE-049A3E4E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2890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C78B839-36D7-413A-BC8B-B70580C8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66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τ_x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31B3162-32A2-4AB2-B5F6-F0D14701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2890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F4F21CF-5BAA-429B-8ADD-D3F9E398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6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−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1714C91-805A-4817-A094-6EB7CEC4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2890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7F61F6E-BBB1-461B-9419-8A4AC952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B49B590-D8C6-4716-A6B1-40947467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2890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93BEA68-11A5-47A9-AD25-96154D23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6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240E24D-FD50-403B-BBD1-B809AF1A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2890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83AB70-B78F-4DF0-B2B3-E0F6C0FD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66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−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8895B07-7ED1-4F74-97BF-592E3FC4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8132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C8EFD1F-B7A7-4929-A223-7FE963F6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01942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τ_y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0AECEBD-33F7-43E2-AEF2-E60CFD2F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98132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FB0E543-98C7-4E89-B121-5D3CF3E1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1942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DD0D8AE-453E-444B-853C-EB97905B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98132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22A1EF1-A5CA-4C54-B28E-7785634E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1942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−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866F5F9-515B-4121-B01B-8CCC27F7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8132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92D8467-98FA-481A-9192-C79828D7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1942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FC90647-B716-4F18-953F-7DAF1C8F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981325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6F7B337-B4B6-4792-A07A-66B51204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01942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−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97ADAAB-6536-4F10-9FA4-7F862B16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337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5E42A60-8887-4BA6-975F-C09C6312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718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τ_z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1D06D7D-CE6D-4991-A0A6-77BD8757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3337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E9D9410-FE47-4228-AA1D-1385D737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718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A7640CF-EFFA-4BD2-9CE1-38238E2A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3337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69D0BD5-CF34-4FAA-B689-B8C43AEE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718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+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ECE0BD4-2430-4A91-A745-42B33A0F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337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436B674-DAC7-4660-8FA7-36BD4CEF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718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−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AE95DF6-3C49-4781-B8EF-23FF4912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333750"/>
            <a:ext cx="9906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7812975-CC62-4B80-B884-51BC7B08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3718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−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0D78ED4-5C49-4E79-84F1-CAE6C956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705225"/>
            <a:ext cx="5219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36A7B"/>
                </a:solidFill>
              </a:defRPr>
            </a:pPr>
            <a:r>
              <a:rPr sz="975" b="1">
                <a:solidFill>
                  <a:srgbClr val="536A7B"/>
                </a:solidFill>
              </a:rPr>
              <a:t>Differential moments are added to the collective command.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0B0B2B9-6A32-4A55-8981-81C1F8E3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972800" cy="2085975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43BC10E-73D0-4F82-9843-E4CB20DD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76200" cy="2085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5D30FF6-E6C8-48A5-AC74-AB2B8491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THRUST / TORQUE ALLOCATION</a:t>
            </a:r>
          </a:p>
        </p:txBody>
      </p:sp>
      <p:pic>
        <p:nvPicPr>
          <p:cNvPr id="2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4e92a4f4e403c">
            <a:extLst>
              <a:ext uri="{96DAC541-7B7A-43D3-8B79-37D633B846F1}">
                <asvg:svgBlip xmlns:asvg="http://schemas.microsoft.com/office/drawing/2016/SVG/main" r:embed="R181e076163ab490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4354" y="4629150"/>
            <a:ext cx="4223291" cy="12477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64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D7FC39-DDB2-49CF-9ADC-482DDCA9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40FF95-2B26-42BC-84B9-34C8CC7F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771BA6-F54C-4DEA-B5B0-209EA297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6FBF9-3A4F-408F-9A3C-430DBE02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RIGID-BODY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20463C-9764-4168-B859-D0C00D08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The paper’s full 6-DOF model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45b9d81934f62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3F94C-6325-408D-8545-D336E110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B24CA8-D7F6-46E7-AFBB-738A6C07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3B132F-0E20-4843-B319-9AE1DC69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6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F1A4A4-FCDE-4AA9-BBFE-FA87F3E6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2197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241C6D-E88F-438B-A3E0-65B5E56F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859CA-D6DB-4C60-BB49-0859A2B9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POSITION KINEMATICS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94b595e8a4761">
            <a:extLst>
              <a:ext uri="{96DAC541-7B7A-43D3-8B79-37D633B846F1}">
                <asvg:svgBlip xmlns:asvg="http://schemas.microsoft.com/office/drawing/2016/SVG/main" r:embed="Rbd1235201f5944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812524" y="2219911"/>
            <a:ext cx="813852" cy="303628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067FE4-6419-40E7-BE5D-54309E2D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04950"/>
            <a:ext cx="52197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C47472-F06C-48E1-94FB-40BD2B0E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0495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A0D87-A70A-47C7-836F-1AC39E17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764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ATTITUDE KINEMATICS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665aca8afd414d">
            <a:extLst>
              <a:ext uri="{96DAC541-7B7A-43D3-8B79-37D633B846F1}">
                <asvg:svgBlip xmlns:asvg="http://schemas.microsoft.com/office/drawing/2016/SVG/main" r:embed="R005cddf20e5a4f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13746" y="2218088"/>
            <a:ext cx="1317608" cy="307274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8DE54C-9A00-43AA-ACA9-ABE7C944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9728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2F8C8B-72A0-429B-9FDD-551F37D5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8AC92-BCCE-48A4-9A72-F6C83D76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48050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TRANSLATIONAL DYNAMICS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618a6debd423a">
            <a:extLst>
              <a:ext uri="{96DAC541-7B7A-43D3-8B79-37D633B846F1}">
                <asvg:svgBlip xmlns:asvg="http://schemas.microsoft.com/office/drawing/2016/SVG/main" r:embed="R777f4d7227e744b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53616" y="3907524"/>
            <a:ext cx="3084768" cy="262152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133D37-CB47-4DFB-A584-BFC0DAF5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9728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8530E2-B4D2-4393-978C-A87F5444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B4"/>
          </a:solidFill>
          <a:ln xmlns:a="http://schemas.openxmlformats.org/drawingml/2006/main" w="0">
            <a:solidFill>
              <a:srgbClr val="14B8B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CECEA6-88EC-477A-B263-FE815BA8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0150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B8B4"/>
                </a:solidFill>
              </a:defRPr>
            </a:pPr>
            <a:r>
              <a:rPr sz="1275" b="1">
                <a:solidFill>
                  <a:srgbClr val="14B8B4"/>
                </a:solidFill>
              </a:rPr>
              <a:t>ROTATIONAL DYNAMICS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d97436172422c">
            <a:extLst>
              <a:ext uri="{96DAC541-7B7A-43D3-8B79-37D633B846F1}">
                <asvg:svgBlip xmlns:asvg="http://schemas.microsoft.com/office/drawing/2016/SVG/main" r:embed="R890177dcdc3f4d6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750234" y="5469624"/>
            <a:ext cx="2691531" cy="262152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2F6A59-A21A-45E0-B326-477CF2C5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172200"/>
            <a:ext cx="9982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36A7B"/>
                </a:solidFill>
              </a:defRPr>
            </a:pPr>
            <a:r>
              <a:rPr sz="1125" b="1">
                <a:solidFill>
                  <a:srgbClr val="536A7B"/>
                </a:solidFill>
              </a:rPr>
              <a:t>vₐ: inertial velocity  ·  ω_b = [p,q,r]ᵀ: body rate  ·  I_m: inertia  ·  τ = T u: applied torque</a:t>
            </a:r>
          </a:p>
        </p:txBody>
      </p:sp>
    </p:spTree>
    <p:extLst>
      <p:ext uri="{BB962C8B-B14F-4D97-AF65-F5344CB8AC3E}">
        <p14:creationId xmlns:p14="http://schemas.microsoft.com/office/powerpoint/2010/main" val="19208209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81A907-65AE-4E98-8B2F-F6EB5D76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BEEC19-B3D3-4966-A1A8-302B24F2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6B8A8-0F06-4E07-ADC7-5D2EAC8F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D1BAF-A04E-4F05-866D-1E23F3A3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COMMAND TO MOTORS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C87525-D785-44C6-8002-7F7425B3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Timed motion is stabilized—but not position-controlled</a:t>
            </a:r>
          </a:p>
        </p:txBody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127a32a4c4b79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79B3C-F9BA-45F8-A5CF-3FBE870D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B611FC-31BA-4D0E-88B1-79F44738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7D177-B447-4AEC-8B39-41E252BE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7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365D8-2609-4A00-9213-83B49310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5105400" cy="325755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62B4D"/>
          </a:solidFill>
          <a:ln xmlns:a="http://schemas.openxmlformats.org/drawingml/2006/main" w="14288">
            <a:solidFill>
              <a:srgbClr val="0C365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D1E03-5742-4A47-8F27-354AE3C3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solidFill>
              <a:srgbClr val="071A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2FFFB6-C03D-4851-BE64-82465A66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6B72"/>
          </a:solidFill>
          <a:ln xmlns:a="http://schemas.openxmlformats.org/drawingml/2006/main" w="0">
            <a:solidFill>
              <a:srgbClr val="F16B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01CD90-0BCE-4F51-BB24-3B9EC3DC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52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BF48"/>
          </a:solidFill>
          <a:ln xmlns:a="http://schemas.openxmlformats.org/drawingml/2006/main" w="0">
            <a:solidFill>
              <a:srgbClr val="EABF4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1776FA-EECB-4FA9-8C82-5EE4C383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52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A8"/>
          </a:solidFill>
          <a:ln xmlns:a="http://schemas.openxmlformats.org/drawingml/2006/main" w="0">
            <a:solidFill>
              <a:srgbClr val="4CC2A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600E8F-7A26-4410-9212-E1288B9E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14475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A7C2CF"/>
                </a:solidFill>
              </a:defRPr>
            </a:pPr>
            <a:r>
              <a:rPr sz="825" b="1">
                <a:solidFill>
                  <a:srgbClr val="A7C2CF"/>
                </a:solidFill>
              </a:rPr>
              <a:t>SAFE TIMED MOTION · PROGRAM.JS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47BDE5-B3B9-4C69-8EDE-BC1F965E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47625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75"/>
            </a:pPr>
            <a:r>
              <a:rPr sz="1275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1  </a:t>
            </a:r>
            <a:r>
              <a:rPr sz="1275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drone</a:t>
            </a:r>
            <a:r>
              <a:rPr sz="1275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275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takeOff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75"/>
            </a:pPr>
            <a:r>
              <a:rPr sz="1275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2  </a:t>
            </a:r>
            <a:r>
              <a:rPr sz="1275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try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{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75"/>
            </a:pPr>
            <a:r>
              <a:rPr sz="1275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3  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</a:t>
            </a:r>
            <a:r>
              <a:rPr sz="1275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drone</a:t>
            </a:r>
            <a:r>
              <a:rPr sz="1275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275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fly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</a:t>
            </a:r>
            <a:r>
              <a:rPr sz="1275">
                <a:solidFill>
                  <a:srgbClr val="A8E6A1"/>
                </a:solidFill>
                <a:latin typeface="Aptos Mono"/>
                <a:ea typeface="Aptos Mono"/>
                <a:cs typeface="Aptos Mono"/>
              </a:rPr>
              <a:t>"forward"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, </a:t>
            </a:r>
            <a:r>
              <a:rPr sz="1275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2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, </a:t>
            </a:r>
            <a:r>
              <a:rPr sz="1275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15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75"/>
            </a:pPr>
            <a:r>
              <a:rPr sz="1275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4  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</a:t>
            </a:r>
            <a:r>
              <a:rPr sz="1275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drone</a:t>
            </a:r>
            <a:r>
              <a:rPr sz="1275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275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wait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</a:t>
            </a:r>
            <a:r>
              <a:rPr sz="1275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1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75"/>
            </a:pPr>
            <a:r>
              <a:rPr sz="1275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5  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} </a:t>
            </a:r>
            <a:r>
              <a:rPr sz="1275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finally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{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75"/>
            </a:pPr>
            <a:r>
              <a:rPr sz="1275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6  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</a:t>
            </a:r>
            <a:r>
              <a:rPr sz="1275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drone</a:t>
            </a:r>
            <a:r>
              <a:rPr sz="1275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275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land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75"/>
            </a:pPr>
            <a:r>
              <a:rPr sz="1275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7  </a:t>
            </a:r>
            <a:r>
              <a:rPr sz="1275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C8DCE4-6C1E-4D66-9A9E-B94579CE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62500"/>
            <a:ext cx="51054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3D2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D3A666-9218-433C-86FD-87B814E6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62500"/>
            <a:ext cx="666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6DD6B4-00C1-488C-B27F-6BDB0CF7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468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C95"/>
                </a:solidFill>
              </a:defRPr>
            </a:pPr>
            <a:r>
              <a:rPr sz="975" b="1">
                <a:solidFill>
                  <a:srgbClr val="008C95"/>
                </a:solidFill>
              </a:rPr>
              <a:t>COMMAND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76E533-E849-47F1-841C-F954A189B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  <p:txBody>
          <a:bodyPr xmlns:a="http://schemas.openxmlformats.org/drawingml/2006/main" lIns="76200" tIns="57150" rIns="76200" bIns="3810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0"/>
              </a:spcAft>
              <a:defRPr sz="1050"/>
            </a:pPr>
            <a:r>
              <a:rPr sz="105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05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drone</a:t>
            </a:r>
            <a:r>
              <a:rPr sz="105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050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fly</a:t>
            </a:r>
            <a:r>
              <a:rPr sz="105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(direction, seconds </a:t>
            </a:r>
            <a:r>
              <a:rPr sz="105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=</a:t>
            </a:r>
            <a:r>
              <a:rPr sz="105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05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0</a:t>
            </a:r>
            <a:r>
              <a:rPr sz="105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, power </a:t>
            </a:r>
            <a:r>
              <a:rPr sz="105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=</a:t>
            </a:r>
            <a:r>
              <a:rPr sz="105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05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0</a:t>
            </a:r>
            <a:r>
              <a:rPr sz="105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77716C-2E64-43D6-9F55-0749DC43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4648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D2843"/>
                </a:solidFill>
              </a:defRPr>
            </a:pPr>
            <a:r>
              <a:rPr sz="975">
                <a:solidFill>
                  <a:srgbClr val="0D2843"/>
                </a:solidFill>
              </a:rPr>
              <a:t>direction — up / down / left / right / forward / backward</a:t>
            </a:r>
          </a:p>
          <a:p xmlns:a="http://schemas.openxmlformats.org/drawingml/2006/main">
            <a:pPr>
              <a:defRPr sz="975">
                <a:solidFill>
                  <a:srgbClr val="0D2843"/>
                </a:solidFill>
              </a:defRPr>
            </a:pPr>
            <a:r>
              <a:rPr sz="975">
                <a:solidFill>
                  <a:srgbClr val="0D2843"/>
                </a:solidFill>
              </a:rPr>
              <a:t>seconds — number ≥ 0 s; default 0</a:t>
            </a:r>
          </a:p>
          <a:p xmlns:a="http://schemas.openxmlformats.org/drawingml/2006/main">
            <a:pPr>
              <a:defRPr sz="975">
                <a:solidFill>
                  <a:srgbClr val="0D2843"/>
                </a:solidFill>
              </a:defRPr>
            </a:pPr>
            <a:r>
              <a:rPr sz="975">
                <a:solidFill>
                  <a:srgbClr val="0D2843"/>
                </a:solidFill>
              </a:rPr>
              <a:t>power — −100…100%; default 0</a:t>
            </a:r>
          </a:p>
          <a:p xmlns:a="http://schemas.openxmlformats.org/drawingml/2006/main">
            <a:pPr>
              <a:defRPr sz="975">
                <a:solidFill>
                  <a:srgbClr val="0D2843"/>
                </a:solidFill>
              </a:defRPr>
            </a:pPr>
            <a:r>
              <a:rPr sz="975">
                <a:solidFill>
                  <a:srgbClr val="0D2843"/>
                </a:solidFill>
              </a:rPr>
              <a:t>returns — Promise&lt;void&gt;; waits for stabilization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FB3C54-1BE0-4BDB-9A3B-3178E76E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14500"/>
            <a:ext cx="12001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9CCD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3D2B6D-00B9-4A54-817E-F06AB294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38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1B3A"/>
                </a:solidFill>
              </a:defRPr>
            </a:pPr>
            <a:r>
              <a:rPr sz="1200" b="1">
                <a:solidFill>
                  <a:srgbClr val="001B3A"/>
                </a:solidFill>
              </a:rPr>
              <a:t>Motion / velocity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AD2D30-9C9E-43A5-BFB9-4AE2E138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526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36A7B"/>
                </a:solidFill>
              </a:defRPr>
            </a:pPr>
            <a:r>
              <a:rPr sz="900">
                <a:solidFill>
                  <a:srgbClr val="536A7B"/>
                </a:solidFill>
              </a:rPr>
              <a:t>outer loop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F67FA4-3EF9-4499-B96D-25729FE6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14500"/>
            <a:ext cx="12001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9CCD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DCB1C9-5878-4CD8-B4BA-E969D2E2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838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1B3A"/>
                </a:solidFill>
              </a:defRPr>
            </a:pPr>
            <a:r>
              <a:rPr sz="1200" b="1">
                <a:solidFill>
                  <a:srgbClr val="001B3A"/>
                </a:solidFill>
              </a:rPr>
              <a:t>Attitude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74C2F0-9F89-46D8-9B42-C1CE5ECC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526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36A7B"/>
                </a:solidFill>
              </a:defRPr>
            </a:pPr>
            <a:r>
              <a:rPr sz="900">
                <a:solidFill>
                  <a:srgbClr val="536A7B"/>
                </a:solidFill>
              </a:rPr>
              <a:t>φ₁, φ₂, φ₃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741667-8840-4DAB-BDFF-C91EE985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07645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E50B99-0084-4DA1-A89A-AE36E265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07645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90" name=""/>
          <p:cNvCxnSpPr>
            <a:stCxn xmlns:a="http://schemas.openxmlformats.org/drawingml/2006/main" id="28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7324725" y="208597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8C95"/>
            </a:solidFill>
            <a:prstDash val="solid"/>
            <a:tailEnd type="triangle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F2EAA8-E773-488F-87A7-E4519C9B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12001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9CCD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DAAD8-C076-4705-ABFB-64E66CC8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38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1B3A"/>
                </a:solidFill>
              </a:defRPr>
            </a:pPr>
            <a:r>
              <a:rPr sz="1200" b="1">
                <a:solidFill>
                  <a:srgbClr val="001B3A"/>
                </a:solidFill>
              </a:rPr>
              <a:t>Body 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FA21F2-2402-46A8-A9B7-84720E36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526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36A7B"/>
                </a:solidFill>
              </a:defRPr>
            </a:pPr>
            <a:r>
              <a:rPr sz="900">
                <a:solidFill>
                  <a:srgbClr val="536A7B"/>
                </a:solidFill>
              </a:rPr>
              <a:t>p, q, 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72B917-8B07-4C84-8A8A-AD6E6CA4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07645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F58D0F-F56F-48B0-BB99-8BDA3952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7645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96" name=""/>
          <p:cNvCxnSpPr>
            <a:stCxn xmlns:a="http://schemas.openxmlformats.org/drawingml/2006/main" id="34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8696325" y="208597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8C95"/>
            </a:solidFill>
            <a:prstDash val="solid"/>
            <a:tailEnd type="triangle" w="med" len="med"/>
          </a:ln>
        </p:spPr>
      </p:cxn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C75D64-F6D3-46FF-BDED-BC1044BA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714500"/>
            <a:ext cx="13525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14288">
            <a:solidFill>
              <a:srgbClr val="001B3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412DB5-8238-4E58-B5A9-1BFB900B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18383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Mixer + motors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FB09223-D036-4A3A-88ED-EA4B500F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15265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CEE2E8"/>
                </a:solidFill>
              </a:defRPr>
            </a:pPr>
            <a:r>
              <a:rPr sz="900">
                <a:solidFill>
                  <a:srgbClr val="CEE2E8"/>
                </a:solidFill>
              </a:rPr>
              <a:t>4 ESC commands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ED3775-02E7-4495-80A1-43DE961F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07645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5D0987-EDEE-44DB-8FF3-4F9A64D6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076450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02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10067925" y="208597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8C95"/>
            </a:solidFill>
            <a:prstDash val="solid"/>
            <a:tailEnd type="triangle" w="med" len="med"/>
          </a:ln>
        </p:spPr>
      </p:cxn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1CA5AD0-8854-4AB1-9D5C-68B1024D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43250"/>
            <a:ext cx="2381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0A4549-B413-40F6-BE91-93A4D346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14700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1B3A"/>
                </a:solidFill>
              </a:defRPr>
            </a:pPr>
            <a:r>
              <a:rPr sz="1350" b="1">
                <a:solidFill>
                  <a:srgbClr val="001B3A"/>
                </a:solidFill>
              </a:rPr>
              <a:t>STATE ESTIMATOR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A4177AF-AD7D-475D-8ABE-54F4EFB3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195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gyro + accelerometer + available aiding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96B9AD-A38E-4167-A4BC-D7F56F6F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24479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7CA400-6E7E-41B2-A56E-9A786B03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337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08" name=""/>
          <p:cNvCxnSpPr>
            <a:stCxn xmlns:a="http://schemas.openxmlformats.org/drawingml/2006/main" id="46" idx="1"/>
            <a:endCxn xmlns:a="http://schemas.openxmlformats.org/drawingml/2006/main" id="47" idx="3"/>
          </p:cNvCxnSpPr>
          <p:nvPr/>
        </p:nvCxnSpPr>
        <p:spPr>
          <a:xfrm xmlns:a="http://schemas.openxmlformats.org/drawingml/2006/main" flipH="1">
            <a:off x="9239250" y="2457450"/>
            <a:ext cx="1647825" cy="6858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A227"/>
            </a:solidFill>
            <a:prstDash val="solid"/>
            <a:tailEnd type="triangle" w="med" len="med"/>
          </a:ln>
        </p:spPr>
      </p:cxn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CFA547-F394-4E9D-9759-E3564892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5909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7B84A08-BBDC-4D63-B7F6-41A37E5E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479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11" name=""/>
          <p:cNvCxnSpPr>
            <a:stCxn xmlns:a="http://schemas.openxmlformats.org/drawingml/2006/main" id="49" idx="1"/>
            <a:endCxn xmlns:a="http://schemas.openxmlformats.org/drawingml/2006/main" id="50" idx="3"/>
          </p:cNvCxnSpPr>
          <p:nvPr/>
        </p:nvCxnSpPr>
        <p:spPr>
          <a:xfrm xmlns:a="http://schemas.openxmlformats.org/drawingml/2006/main" flipH="1" flipV="1">
            <a:off x="6724650" y="2457450"/>
            <a:ext cx="1304925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A227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6CA2C38-0757-457A-B54F-04CA8842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1337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0DACE1A-D355-4AD6-A978-D89D31D9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4479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14" name=""/>
          <p:cNvCxnSpPr>
            <a:stCxn xmlns:a="http://schemas.openxmlformats.org/drawingml/2006/main" id="52" idx="1"/>
            <a:endCxn xmlns:a="http://schemas.openxmlformats.org/drawingml/2006/main" id="53" idx="3"/>
          </p:cNvCxnSpPr>
          <p:nvPr/>
        </p:nvCxnSpPr>
        <p:spPr>
          <a:xfrm xmlns:a="http://schemas.openxmlformats.org/drawingml/2006/main" flipH="1" flipV="1">
            <a:off x="8105775" y="2457450"/>
            <a:ext cx="781050" cy="6858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A227"/>
            </a:solidFill>
            <a:prstDash val="solid"/>
            <a:tailEnd type="triangle" w="med" len="med"/>
          </a:ln>
        </p:spPr>
      </p:cxn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BA7DD99-CB22-45CA-B43B-7041CBC3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1337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EB5E42C-4C99-4840-B4C6-34FF2720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47925"/>
            <a:ext cx="19050" cy="190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117" name=""/>
          <p:cNvCxnSpPr>
            <a:stCxn xmlns:a="http://schemas.openxmlformats.org/drawingml/2006/main" id="55" idx="0"/>
            <a:endCxn xmlns:a="http://schemas.openxmlformats.org/drawingml/2006/main" id="56" idx="2"/>
          </p:cNvCxnSpPr>
          <p:nvPr/>
        </p:nvCxnSpPr>
        <p:spPr>
          <a:xfrm xmlns:a="http://schemas.openxmlformats.org/drawingml/2006/main" flipH="1" flipV="1">
            <a:off x="9458325" y="2466975"/>
            <a:ext cx="428625" cy="6667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A227"/>
            </a:solidFill>
            <a:prstDash val="solid"/>
            <a:tailEnd type="triangle" w="med" len="med"/>
          </a:ln>
        </p:spPr>
      </p:cxn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2114310-2168-4815-A7C1-90AED202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76750"/>
            <a:ext cx="54673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BE4E7"/>
          </a:solidFill>
          <a:ln xmlns:a="http://schemas.openxmlformats.org/drawingml/2006/main" w="14288">
            <a:solidFill>
              <a:srgbClr val="D94F5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121E070-4045-4798-A938-B20F8DC7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863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94F5C"/>
                </a:solidFill>
              </a:defRPr>
            </a:pPr>
            <a:r>
              <a:rPr sz="1500" b="1">
                <a:solidFill>
                  <a:srgbClr val="D94F5C"/>
                </a:solidFill>
              </a:rPr>
              <a:t>What the timed command does—and does not do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7117EB9-2D42-45E2-90CA-17049DEF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67300"/>
            <a:ext cx="493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The aircraft stabilizes attitude and rate while the command runs. Without external position feedback, duration × power does not guarantee an exact final displacement.</a:t>
            </a:r>
          </a:p>
        </p:txBody>
      </p:sp>
    </p:spTree>
    <p:extLst>
      <p:ext uri="{BB962C8B-B14F-4D97-AF65-F5344CB8AC3E}">
        <p14:creationId xmlns:p14="http://schemas.microsoft.com/office/powerpoint/2010/main" val="599148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289858-1D77-4180-86E2-1F2E9A1E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7C8C93-B9B3-4DEA-B020-FE1D07FC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37D1A3-EE5E-44F7-B236-40C0F2C2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286C7-23FE-4103-AE6B-4BFFB9C9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MODEL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906F33-1967-4161-BEFD-39533046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Paper and simulator conventions are different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fc130c60d4e26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79AE0B-3691-4085-98B1-0D2B4181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0E3A24-3AA0-4564-96CF-C4FB612E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9EEB7-44E2-4039-B785-E2D43856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8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75258-FD3A-4994-A909-E4CE6733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2197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A201B-BC3B-447D-A8DE-D572C935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F3C727-CE5E-49CE-9689-64CBCFB3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ATTACHED PAPER · PHYSICAL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4407A3-6E2E-4A44-9EB3-5F6E9A7D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62175"/>
            <a:ext cx="48006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Inertial NED: z is positive down.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Body FRD: b₁ forward, b₂ right, b₃ down.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Full translational and rotational coupling.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Rotor allocation and gyroscopic cross-product term retained.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6D836F-F471-41B7-8333-162A6514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52197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24B103-BBBD-449C-B4AE-ED8D154D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FDB91E-8216-4555-A9BF-CD9D7D92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7165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SIMULATOR · CLASSROOM APPROXIMATION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D6797E-3458-4D87-AE12-5E1264BF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62175"/>
            <a:ext cx="48006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Altitude z is positive up.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Positive stored pitch means nose-down / forward.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Horizontal acceleration uses g tan(tilt).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Attitude and vertical response are simplified and damped.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B0DCDD-665A-4B92-B19B-405D66F2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69913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79EE3D-FE70-4382-9685-8594D930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E86B87-EAC8-4D40-81A4-30D6DCB7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653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SIMULATOR POWER → TILT MAPPING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35070b8bc94e15">
            <a:extLst>
              <a:ext uri="{96DAC541-7B7A-43D3-8B79-37D633B846F1}">
                <asvg:svgBlip xmlns:asvg="http://schemas.microsoft.com/office/drawing/2016/SVG/main" r:embed="R615975a779ce41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861705" y="5048250"/>
            <a:ext cx="2487139" cy="59055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705564-2B46-4428-A7FC-B3A6A71E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9580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14288">
            <a:solidFill>
              <a:srgbClr val="001B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386BE2-E4E3-4403-A40F-F13978FE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5772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3.42°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116CCA-C503-4ED7-AD5D-F307B3AB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133975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7EBEE"/>
                </a:solidFill>
              </a:defRPr>
            </a:pPr>
            <a:r>
              <a:rPr sz="900" b="1">
                <a:solidFill>
                  <a:srgbClr val="D7EBEE"/>
                </a:solidFill>
              </a:rPr>
              <a:t>AT 15% POWER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9F12AA-7076-4393-9CEE-8E182C68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9580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1FF621-9B2A-446B-9A69-8A623B66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5772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10°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EEE1E4-D44E-4A32-8CF2-649C7979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133975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7EBEE"/>
                </a:solidFill>
              </a:defRPr>
            </a:pPr>
            <a:r>
              <a:rPr sz="900" b="1">
                <a:solidFill>
                  <a:srgbClr val="D7EBEE"/>
                </a:solidFill>
              </a:rPr>
              <a:t>AT 59.5% POWER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E092C8-BD9F-4026-A503-55884045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076950"/>
            <a:ext cx="944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1B3A"/>
                </a:solidFill>
              </a:defRPr>
            </a:pPr>
            <a:r>
              <a:rPr sz="1350" b="1">
                <a:solidFill>
                  <a:srgbClr val="001B3A"/>
                </a:solidFill>
              </a:rPr>
              <a:t>Use the paper for signs and dynamics; use simulation.ts to predict the classroom simulator.</a:t>
            </a:r>
          </a:p>
        </p:txBody>
      </p:sp>
    </p:spTree>
    <p:extLst>
      <p:ext uri="{BB962C8B-B14F-4D97-AF65-F5344CB8AC3E}">
        <p14:creationId xmlns:p14="http://schemas.microsoft.com/office/powerpoint/2010/main" val="5895139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2026-07-26T15:58:32.9290000Z</dcterms:created>
  <dcterms:modified xsi:type="dcterms:W3CDTF">2026-07-26T15:58:32.9290000Z</dcterms:modified>
</coreProperties>
</file>