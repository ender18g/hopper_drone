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de940a2fd54952" /><Relationship Type="http://schemas.openxmlformats.org/officeDocument/2006/relationships/extended-properties" Target="/docProps/app.xml" Id="R5596f36d4dec49e1" /><Relationship Type="http://schemas.openxmlformats.org/officeDocument/2006/relationships/officeDocument" Target="/ppt/presentation.xml" Id="R78515d597d4b45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dafa0cc82c4b07"/>
  </p:sldMasterIdLst>
  <p:notesMasterIdLst>
    <p:notesMasterId xmlns:r="http://schemas.openxmlformats.org/officeDocument/2006/relationships" r:id="R6e8f00886259417c"/>
  </p:notesMasterIdLst>
  <p:sldIdLst>
    <p:sldId xmlns:r="http://schemas.openxmlformats.org/officeDocument/2006/relationships" id="256" r:id="R634cde9a10e34de7"/>
    <p:sldId xmlns:r="http://schemas.openxmlformats.org/officeDocument/2006/relationships" id="257" r:id="R26beb005dcec4f49"/>
    <p:sldId xmlns:r="http://schemas.openxmlformats.org/officeDocument/2006/relationships" id="258" r:id="R8e3eb42c28e04259"/>
    <p:sldId xmlns:r="http://schemas.openxmlformats.org/officeDocument/2006/relationships" id="259" r:id="R2e84a6f9328746f4"/>
    <p:sldId xmlns:r="http://schemas.openxmlformats.org/officeDocument/2006/relationships" id="260" r:id="Ra5ebfe1dfe0344d1"/>
    <p:sldId xmlns:r="http://schemas.openxmlformats.org/officeDocument/2006/relationships" id="261" r:id="R57ce7b44ce2740a9"/>
    <p:sldId xmlns:r="http://schemas.openxmlformats.org/officeDocument/2006/relationships" id="262" r:id="Rf3036908786841e8"/>
    <p:sldId xmlns:r="http://schemas.openxmlformats.org/officeDocument/2006/relationships" id="263" r:id="Ra42e45e12b7c4f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3c0b3b04fb444b" /><Relationship Type="http://schemas.openxmlformats.org/officeDocument/2006/relationships/slideMaster" Target="/ppt/slideMasters/slideMaster1.xml" Id="R91dafa0cc82c4b07" /><Relationship Type="http://schemas.openxmlformats.org/officeDocument/2006/relationships/notesMaster" Target="/ppt/notesMasters/notesMaster1.xml" Id="R6e8f00886259417c" /><Relationship Type="http://schemas.openxmlformats.org/officeDocument/2006/relationships/presProps" Target="/ppt/presProps.xml" Id="Re3e29018c3614c3d" /><Relationship Type="http://schemas.openxmlformats.org/officeDocument/2006/relationships/tableStyles" Target="/ppt/tableStyles.xml" Id="R26685c6bbde3496b" /><Relationship Type="http://schemas.openxmlformats.org/officeDocument/2006/relationships/slide" Target="/ppt/slides/slide1.xml" Id="R634cde9a10e34de7" /><Relationship Type="http://schemas.openxmlformats.org/officeDocument/2006/relationships/slide" Target="/ppt/slides/slide2.xml" Id="R26beb005dcec4f49" /><Relationship Type="http://schemas.openxmlformats.org/officeDocument/2006/relationships/slide" Target="/ppt/slides/slide3.xml" Id="R8e3eb42c28e04259" /><Relationship Type="http://schemas.openxmlformats.org/officeDocument/2006/relationships/slide" Target="/ppt/slides/slide4.xml" Id="R2e84a6f9328746f4" /><Relationship Type="http://schemas.openxmlformats.org/officeDocument/2006/relationships/slide" Target="/ppt/slides/slide5.xml" Id="Ra5ebfe1dfe0344d1" /><Relationship Type="http://schemas.openxmlformats.org/officeDocument/2006/relationships/slide" Target="/ppt/slides/slide6.xml" Id="R57ce7b44ce2740a9" /><Relationship Type="http://schemas.openxmlformats.org/officeDocument/2006/relationships/slide" Target="/ppt/slides/slide7.xml" Id="Rf3036908786841e8" /><Relationship Type="http://schemas.openxmlformats.org/officeDocument/2006/relationships/slide" Target="/ppt/slides/slide8.xml" Id="Ra42e45e12b7c4f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aa632a6cfd45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1041820c2142c9" /><Relationship Type="http://schemas.openxmlformats.org/officeDocument/2006/relationships/notesMaster" Target="/ppt/notesMasters/notesMaster1.xml" Id="R007c0e5fa94f42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d8a853624d4a34" /><Relationship Type="http://schemas.openxmlformats.org/officeDocument/2006/relationships/notesMaster" Target="/ppt/notesMasters/notesMaster1.xml" Id="R759004d612bb40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b5e0775fce247e5" /><Relationship Type="http://schemas.openxmlformats.org/officeDocument/2006/relationships/notesMaster" Target="/ppt/notesMasters/notesMaster1.xml" Id="R5171bcb8b7e24a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06168dc8674ef6" /><Relationship Type="http://schemas.openxmlformats.org/officeDocument/2006/relationships/notesMaster" Target="/ppt/notesMasters/notesMaster1.xml" Id="Reaf8a498ad1d49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41fd60bd5d4bef" /><Relationship Type="http://schemas.openxmlformats.org/officeDocument/2006/relationships/notesMaster" Target="/ppt/notesMasters/notesMaster1.xml" Id="Rfe0ef467cc704e4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ef853658e9454a" /><Relationship Type="http://schemas.openxmlformats.org/officeDocument/2006/relationships/notesMaster" Target="/ppt/notesMasters/notesMaster1.xml" Id="R9dcca6fc48e44f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a3bcd73def4201" /><Relationship Type="http://schemas.openxmlformats.org/officeDocument/2006/relationships/notesMaster" Target="/ppt/notesMasters/notesMaster1.xml" Id="Re92fb89ae1d94f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f2929db93047cd" /><Relationship Type="http://schemas.openxmlformats.org/officeDocument/2006/relationships/notesMaster" Target="/ppt/notesMasters/notesMaster1.xml" Id="Re60d4e6f30ca45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Aerodynamics lesson cover.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Equations are typeset from LaTeX. Emphasize that students command motion/power, not individual motor angular speeds.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Standard quadrotor rigid-body model; see Mobile Robotics and drone-control literature.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Existing aerodynamics lesson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Roll, pitch, and yaw symbols are LaTeX-rendered as φ, θ, and ψ.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Standard rigid-body attitude notation.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Existing aerodynamics lesson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equations are LaTeX-rendered. Define roll φ, pitch θ, mass m, total thrust T, gravity g, torque τ, inertia I, and angular acceleration α.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Standard Newton–Euler quadrotor model.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Existing aerodynamics lesson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Existing aerodynamics lesson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273ae5100343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cd21116fc04e14" /><Relationship Type="http://schemas.openxmlformats.org/officeDocument/2006/relationships/slideLayout" Target="/ppt/slideLayouts/slideLayout1.xml" Id="Rfaf552e76e6a42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f552e76e6a42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4e7e5c0ec492f" /><Relationship Type="http://schemas.openxmlformats.org/officeDocument/2006/relationships/image" Target="/ppt/media/image.png" Id="R947fcec028334c28" /><Relationship Type="http://schemas.openxmlformats.org/officeDocument/2006/relationships/notesSlide" Target="/ppt/notesSlides/notesSlide1.xml" Id="R1f6185cf869d4a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fa688b59346cd" /><Relationship Type="http://schemas.openxmlformats.org/officeDocument/2006/relationships/image" Target="/ppt/media/image2.png" Id="Rf01c3f0d433c4167" /><Relationship Type="http://schemas.openxmlformats.org/officeDocument/2006/relationships/image" Target="/ppt/media/image3.png" Id="Rf94f5994a8544b67" /><Relationship Type="http://schemas.openxmlformats.org/officeDocument/2006/relationships/image" Target="/ppt/media/image.svg" Id="R6d3dde6f48bb4ce8" /><Relationship Type="http://schemas.openxmlformats.org/officeDocument/2006/relationships/image" Target="/ppt/media/image4.png" Id="Rabc77195a8d542c5" /><Relationship Type="http://schemas.openxmlformats.org/officeDocument/2006/relationships/image" Target="/ppt/media/image2.svg" Id="Rbbefd1ce5d934f0b" /><Relationship Type="http://schemas.openxmlformats.org/officeDocument/2006/relationships/image" Target="/ppt/media/image5.png" Id="Rb9c00a3573744f65" /><Relationship Type="http://schemas.openxmlformats.org/officeDocument/2006/relationships/image" Target="/ppt/media/image3.svg" Id="Rd0efb37ee8744d02" /><Relationship Type="http://schemas.openxmlformats.org/officeDocument/2006/relationships/notesSlide" Target="/ppt/notesSlides/notesSlide2.xml" Id="R6cc50e128e8e46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398fcc5604fc2" /><Relationship Type="http://schemas.openxmlformats.org/officeDocument/2006/relationships/image" Target="/ppt/media/image6.png" Id="R86264294151548dc" /><Relationship Type="http://schemas.openxmlformats.org/officeDocument/2006/relationships/notesSlide" Target="/ppt/notesSlides/notesSlide3.xml" Id="Ra3e3dd1cb24f41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90c88e32245aa" /><Relationship Type="http://schemas.openxmlformats.org/officeDocument/2006/relationships/image" Target="/ppt/media/image7.png" Id="R3813f5d25f774e1e" /><Relationship Type="http://schemas.openxmlformats.org/officeDocument/2006/relationships/image" Target="/ppt/media/image8.png" Id="R7cf8dad4db834701" /><Relationship Type="http://schemas.openxmlformats.org/officeDocument/2006/relationships/image" Target="/ppt/media/image4.svg" Id="R7759bd939bf0469f" /><Relationship Type="http://schemas.openxmlformats.org/officeDocument/2006/relationships/image" Target="/ppt/media/image9.png" Id="R907d0ad043ef4c50" /><Relationship Type="http://schemas.openxmlformats.org/officeDocument/2006/relationships/image" Target="/ppt/media/image5.svg" Id="Rd14d4349a03f44fa" /><Relationship Type="http://schemas.openxmlformats.org/officeDocument/2006/relationships/image" Target="/ppt/media/image10.png" Id="Ra734061bce0f4ff7" /><Relationship Type="http://schemas.openxmlformats.org/officeDocument/2006/relationships/image" Target="/ppt/media/image6.svg" Id="R998cb5ffa03c41e1" /><Relationship Type="http://schemas.openxmlformats.org/officeDocument/2006/relationships/notesSlide" Target="/ppt/notesSlides/notesSlide4.xml" Id="Rfd25e4c4a99749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e48d5f263a48be" /><Relationship Type="http://schemas.openxmlformats.org/officeDocument/2006/relationships/image" Target="/ppt/media/image11.png" Id="R5f6fe94770944d59" /><Relationship Type="http://schemas.openxmlformats.org/officeDocument/2006/relationships/notesSlide" Target="/ppt/notesSlides/notesSlide5.xml" Id="R355d9678fbb8484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5a1e975a9b41e1" /><Relationship Type="http://schemas.openxmlformats.org/officeDocument/2006/relationships/image" Target="/ppt/media/image12.png" Id="Rf75a0c8ae5b6472e" /><Relationship Type="http://schemas.openxmlformats.org/officeDocument/2006/relationships/image" Target="/ppt/media/image13.png" Id="R63737a75b23e41f1" /><Relationship Type="http://schemas.openxmlformats.org/officeDocument/2006/relationships/image" Target="/ppt/media/image7.svg" Id="R5be24f1d44c24cbf" /><Relationship Type="http://schemas.openxmlformats.org/officeDocument/2006/relationships/image" Target="/ppt/media/image14.png" Id="R3272cf2845824012" /><Relationship Type="http://schemas.openxmlformats.org/officeDocument/2006/relationships/image" Target="/ppt/media/image8.svg" Id="R74a503ce05ae4e66" /><Relationship Type="http://schemas.openxmlformats.org/officeDocument/2006/relationships/image" Target="/ppt/media/image15.png" Id="R909b7f75cc1a4670" /><Relationship Type="http://schemas.openxmlformats.org/officeDocument/2006/relationships/image" Target="/ppt/media/image9.svg" Id="R264707f44e174286" /><Relationship Type="http://schemas.openxmlformats.org/officeDocument/2006/relationships/image" Target="/ppt/media/image16.png" Id="R3c15b897fea442ec" /><Relationship Type="http://schemas.openxmlformats.org/officeDocument/2006/relationships/image" Target="/ppt/media/image10.svg" Id="R846bb8056cc94680" /><Relationship Type="http://schemas.openxmlformats.org/officeDocument/2006/relationships/notesSlide" Target="/ppt/notesSlides/notesSlide6.xml" Id="R98414442a58f44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7304a9e16d45d0" /><Relationship Type="http://schemas.openxmlformats.org/officeDocument/2006/relationships/image" Target="/ppt/media/image17.png" Id="Rc18a6891e28f4e59" /><Relationship Type="http://schemas.openxmlformats.org/officeDocument/2006/relationships/notesSlide" Target="/ppt/notesSlides/notesSlide7.xml" Id="Rb39540033e544f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c0919441704753" /><Relationship Type="http://schemas.openxmlformats.org/officeDocument/2006/relationships/image" Target="/ppt/media/image18.png" Id="Rd028082b62cb405e" /><Relationship Type="http://schemas.openxmlformats.org/officeDocument/2006/relationships/notesSlide" Target="/ppt/notesSlides/notesSlide8.xml" Id="Rdbc954ea088f477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7fcec028334c2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294E36-0A83-4240-A1B8-65200D7D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9646ED-FB05-4A9E-A1AA-E0D1B418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2190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9EB4C0"/>
                </a:solidFill>
              </a:defRPr>
            </a:pPr>
            <a:r>
              <a:rPr sz="675">
                <a:solidFill>
                  <a:srgbClr val="9EB4C0"/>
                </a:solidFill>
              </a:rPr>
              <a:t>DECK 02  |  8 SLIDES</a:t>
            </a:r>
          </a:p>
        </p:txBody>
      </p:sp>
    </p:spTree>
    <p:extLst>
      <p:ext uri="{BB962C8B-B14F-4D97-AF65-F5344CB8AC3E}">
        <p14:creationId xmlns:p14="http://schemas.microsoft.com/office/powerpoint/2010/main" val="10569616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859EFC-090E-4415-A747-FE5D2EB0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1C2B02-DF59-4E85-8D11-7E8156F5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3860B9-26FC-4E81-B92C-2A2750C6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AERODYNAMICS /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046370-9FED-4B38-9D83-1003B101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FOUR ROTORS, ONE VEHICLE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1E604-31E3-451F-B6C2-10664007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Total thrust sets vertical acceleration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1c3f0d433c4167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E93CC-7C33-4E1B-A1BF-B32E2F40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4B8B8D-48A4-4494-982A-D9BC4DA6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54FC6F-1F5E-4FF5-878F-587F1A04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2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0947E2-D376-4788-90F4-52285A5B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5048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855A9-C79F-415E-852E-E060BF8A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1E6BD7-130D-4032-9516-07484B8C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459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TOTAL THRUST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4f5994a8544b67">
            <a:extLst>
              <a:ext uri="{96DAC541-7B7A-43D3-8B79-37D633B846F1}">
                <asvg:svgBlip xmlns:asvg="http://schemas.microsoft.com/office/drawing/2016/SVG/main" r:embed="R6d3dde6f48bb4ce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14400" y="2171700"/>
            <a:ext cx="4552950" cy="9334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CBC42A-A961-49FC-A69C-E43839EE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048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24D44C-8D05-4F7C-9301-94053FE3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3B4DB7-526D-49C3-B01A-191EDDFD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71900"/>
            <a:ext cx="459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HOVER CONDITION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c77195a8d542c5">
            <a:extLst>
              <a:ext uri="{96DAC541-7B7A-43D3-8B79-37D633B846F1}">
                <asvg:svgBlip xmlns:asvg="http://schemas.microsoft.com/office/drawing/2016/SVG/main" r:embed="Rbbefd1ce5d934f0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14400" y="4152900"/>
            <a:ext cx="4552950" cy="9334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0B47E4-FEEA-4E42-9149-1B3CE60B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3340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1ECC72-6C34-4372-9E42-A8BDB0B0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66675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C51D22-F05F-437B-A220-0BB85592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09750"/>
            <a:ext cx="491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Read the physics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0F9498-04C4-4F13-A324-CB770461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0275"/>
            <a:ext cx="49149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Every rotor contributes an upward thrust magnitude.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Hover requires total thrust to balance weight.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More total thrust accelerates up; less accelerates down.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B57BFD-A7C2-42FB-89E9-2908A3EC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71950"/>
            <a:ext cx="5334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A06DF8-27D5-4D19-AB7C-D9C2F7E40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71950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80AD8A-6C36-47C9-8222-FF22F667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43400"/>
            <a:ext cx="487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4F5C"/>
                </a:solidFill>
              </a:defRPr>
            </a:pPr>
            <a:r>
              <a:rPr sz="1275" b="1">
                <a:solidFill>
                  <a:srgbClr val="D94F5C"/>
                </a:solidFill>
              </a:rPr>
              <a:t>FIRST-ORDER PROPELLER MODEL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c00a3573744f65">
            <a:extLst>
              <a:ext uri="{96DAC541-7B7A-43D3-8B79-37D633B846F1}">
                <asvg:svgBlip xmlns:asvg="http://schemas.microsoft.com/office/drawing/2016/SVG/main" r:embed="Rd0efb37ee8744d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438900" y="4724400"/>
            <a:ext cx="4838700" cy="36195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2C1F9A-E9E7-428B-B098-69E38B34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33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A7B"/>
                </a:solidFill>
              </a:defRPr>
            </a:pPr>
            <a:r>
              <a:rPr sz="1275">
                <a:solidFill>
                  <a:srgbClr val="536A7B"/>
                </a:solidFill>
              </a:rPr>
              <a:t>The square-law model is useful for intuition; the onboard controller handles the real motor/propeller details.</a:t>
            </a:r>
          </a:p>
        </p:txBody>
      </p:sp>
    </p:spTree>
    <p:extLst>
      <p:ext uri="{BB962C8B-B14F-4D97-AF65-F5344CB8AC3E}">
        <p14:creationId xmlns:p14="http://schemas.microsoft.com/office/powerpoint/2010/main" val="147019473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64294151548d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BD012A-37FC-4DB2-8196-A7A6E1FF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1CB0F-CFDE-4775-A034-8863BA296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AERODYNAMICS /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05A55A-365C-4C58-AB15-5DD65445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FCD3C6-4023-4CED-877A-4A0DF2FB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3 / 8</a:t>
            </a:r>
          </a:p>
        </p:txBody>
      </p:sp>
    </p:spTree>
    <p:extLst>
      <p:ext uri="{BB962C8B-B14F-4D97-AF65-F5344CB8AC3E}">
        <p14:creationId xmlns:p14="http://schemas.microsoft.com/office/powerpoint/2010/main" val="206986857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13f5d25f774e1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DFAB04-1CB2-4E95-9A8E-F63AACD05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391025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20F87C-86D2-405F-A1C4-6F8C4CDE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862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ROLL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f8dad4db834701">
            <a:extLst>
              <a:ext uri="{96DAC541-7B7A-43D3-8B79-37D633B846F1}">
                <asvg:svgBlip xmlns:asvg="http://schemas.microsoft.com/office/drawing/2016/SVG/main" r:embed="R7759bd939bf0469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533650" y="4429125"/>
            <a:ext cx="457200" cy="400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73DECF-CF08-4856-9C07-20D63336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391025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190EA-9C49-48EE-8281-B5CF83CA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4862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PITCH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d0ad043ef4c50">
            <a:extLst>
              <a:ext uri="{96DAC541-7B7A-43D3-8B79-37D633B846F1}">
                <asvg:svgBlip xmlns:asvg="http://schemas.microsoft.com/office/drawing/2016/SVG/main" r:embed="Rd14d4349a03f44f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248400" y="4429125"/>
            <a:ext cx="457200" cy="400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99DA14-FD9B-4D66-95C4-72286A94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91025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CCAC5D-7045-4F42-A2BB-DEAA7E19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862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YAW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34061bce0f4ff7">
            <a:extLst>
              <a:ext uri="{96DAC541-7B7A-43D3-8B79-37D633B846F1}">
                <asvg:svgBlip xmlns:asvg="http://schemas.microsoft.com/office/drawing/2016/SVG/main" r:embed="R998cb5ffa03c41e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163050" y="4429125"/>
            <a:ext cx="457200" cy="4000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16C85-E95F-4902-BF44-F65DA6E6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C15367-AC0A-4B4A-8DF2-A6F3F330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AERODYNAMICS / 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9D660D-78BD-4825-981B-4E6B8C95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1A95B6-AA59-41B4-8C37-67C89CD2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4 / 8</a:t>
            </a:r>
          </a:p>
        </p:txBody>
      </p:sp>
    </p:spTree>
    <p:extLst>
      <p:ext uri="{BB962C8B-B14F-4D97-AF65-F5344CB8AC3E}">
        <p14:creationId xmlns:p14="http://schemas.microsoft.com/office/powerpoint/2010/main" val="24525677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6fe94770944d5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0B87E6-5C6B-4942-9802-6D56F2CB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9026D-6EEE-4331-B3A2-31FCF3D5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AERODYNAMICS /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40EFF7-D4E8-4067-A41F-4AC74161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7EAA3-AF62-4443-B058-F7746E68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5 / 8</a:t>
            </a:r>
          </a:p>
        </p:txBody>
      </p:sp>
    </p:spTree>
    <p:extLst>
      <p:ext uri="{BB962C8B-B14F-4D97-AF65-F5344CB8AC3E}">
        <p14:creationId xmlns:p14="http://schemas.microsoft.com/office/powerpoint/2010/main" val="1570219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B5366E-80F6-47AF-A0B0-1A1F451D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D29674-9D35-41A6-8EE7-0F87DBCD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572B83-06EA-46A7-961D-FE65D55D9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AERODYNAMICS /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4B8392-A932-4321-8923-C057A9CB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SMALL-ANGLE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243DD-D943-43F2-B467-7C62F242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A compact model links thrust, attitude, and acceleration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5a0c8ae5b6472e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99FCB2-87D3-49F6-8C38-C6B5790A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4192A7-2A57-4DD1-BB6E-EA687233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BB873-4BB8-422D-8977-8858D29C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6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66B145-B890-4BFE-B480-4D642F0C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50958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BD8971-F154-48F8-81E6-0581EE87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3B5DD7-6E9D-4D9B-AB68-65C7071B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43075"/>
            <a:ext cx="4638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VERTICAL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737a75b23e41f1">
            <a:extLst>
              <a:ext uri="{96DAC541-7B7A-43D3-8B79-37D633B846F1}">
                <asvg:svgBlip xmlns:asvg="http://schemas.microsoft.com/office/drawing/2016/SVG/main" r:embed="R5be24f1d44c24cb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14400" y="2124075"/>
            <a:ext cx="4600575" cy="9525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3CC0C6-C2BD-41CD-8354-9011B040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71625"/>
            <a:ext cx="50958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205089-C0EF-478A-9A08-5D908C52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71625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0868C5-E70D-43FE-9822-4924CAFF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743075"/>
            <a:ext cx="4638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PITCH → FORWARD / BACK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72cf2845824012">
            <a:extLst>
              <a:ext uri="{96DAC541-7B7A-43D3-8B79-37D633B846F1}">
                <asvg:svgBlip xmlns:asvg="http://schemas.microsoft.com/office/drawing/2016/SVG/main" r:embed="R74a503ce05ae4e6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77025" y="2124075"/>
            <a:ext cx="4600575" cy="9525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D7EDBD-C105-4FB6-A442-4CCB638D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50958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BD47A-0453-4AF1-B58C-789E68CC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D77822-1F12-4018-BAD8-D49B1684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38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4F5C"/>
                </a:solidFill>
              </a:defRPr>
            </a:pPr>
            <a:r>
              <a:rPr sz="1275" b="1">
                <a:solidFill>
                  <a:srgbClr val="D94F5C"/>
                </a:solidFill>
              </a:rPr>
              <a:t>ROLL → LEFT / RIGHT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9b7f75cc1a4670">
            <a:extLst>
              <a:ext uri="{96DAC541-7B7A-43D3-8B79-37D633B846F1}">
                <asvg:svgBlip xmlns:asvg="http://schemas.microsoft.com/office/drawing/2016/SVG/main" r:embed="R264707f44e17428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14400" y="4191000"/>
            <a:ext cx="4600575" cy="95250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22C572-6483-4003-8B0E-AF2FF70F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38550"/>
            <a:ext cx="50958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1A5D94-D8DD-4E23-91A3-66A859A4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38550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B4"/>
          </a:solidFill>
          <a:ln xmlns:a="http://schemas.openxmlformats.org/drawingml/2006/main" w="0">
            <a:solidFill>
              <a:srgbClr val="14B8B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5454D3-C716-400F-81B6-B256365F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810000"/>
            <a:ext cx="4638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B8B4"/>
                </a:solidFill>
              </a:defRPr>
            </a:pPr>
            <a:r>
              <a:rPr sz="1275" b="1">
                <a:solidFill>
                  <a:srgbClr val="14B8B4"/>
                </a:solidFill>
              </a:rPr>
              <a:t>TORQUE → ANGULAR ACCELERATION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5b897fea442ec">
            <a:extLst>
              <a:ext uri="{96DAC541-7B7A-43D3-8B79-37D633B846F1}">
                <asvg:svgBlip xmlns:asvg="http://schemas.microsoft.com/office/drawing/2016/SVG/main" r:embed="R846bb8056cc946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77025" y="4191000"/>
            <a:ext cx="4600575" cy="95250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636F77-A93C-441D-900F-E1B602E1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578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36A7B"/>
                </a:solidFill>
              </a:defRPr>
            </a:pPr>
            <a:r>
              <a:rPr sz="1275" b="1">
                <a:solidFill>
                  <a:srgbClr val="536A7B"/>
                </a:solidFill>
              </a:rPr>
              <a:t>Small-angle approximations are teaching models—not a promise that the aircraft stays linear during aggressive flight.</a:t>
            </a:r>
          </a:p>
        </p:txBody>
      </p:sp>
    </p:spTree>
    <p:extLst>
      <p:ext uri="{BB962C8B-B14F-4D97-AF65-F5344CB8AC3E}">
        <p14:creationId xmlns:p14="http://schemas.microsoft.com/office/powerpoint/2010/main" val="128870414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8a6891e28f4e5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A454DA-8259-4223-93DC-28FABDCD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1B9B7-5E6E-49B7-8A35-DF9E7F09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AERODYNAMICS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760ABD-DA9C-423E-A341-FEAFE295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1242F-0CB2-4E62-BB00-CD7E8AAF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7 / 8</a:t>
            </a:r>
          </a:p>
        </p:txBody>
      </p:sp>
    </p:spTree>
    <p:extLst>
      <p:ext uri="{BB962C8B-B14F-4D97-AF65-F5344CB8AC3E}">
        <p14:creationId xmlns:p14="http://schemas.microsoft.com/office/powerpoint/2010/main" val="1909674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28082b62cb405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D41289-F1E7-4934-9E9C-0C55E444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D9A9A6-D901-42B9-880D-F5E01639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AERODYNAMICS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57EAE4-76E7-4E32-B1EF-EF2ED2E1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597B74-EB52-4300-A6A9-AA97C65C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8 / 8</a:t>
            </a:r>
          </a:p>
        </p:txBody>
      </p:sp>
    </p:spTree>
    <p:extLst>
      <p:ext uri="{BB962C8B-B14F-4D97-AF65-F5344CB8AC3E}">
        <p14:creationId xmlns:p14="http://schemas.microsoft.com/office/powerpoint/2010/main" val="21326355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2026-07-26T02:21:29.1600000Z</dcterms:created>
  <dcterms:modified xsi:type="dcterms:W3CDTF">2026-07-26T02:21:29.1600000Z</dcterms:modified>
</coreProperties>
</file>