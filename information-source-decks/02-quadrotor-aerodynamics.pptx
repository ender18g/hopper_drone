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e9974ff4c94a48" /><Relationship Type="http://schemas.openxmlformats.org/officeDocument/2006/relationships/extended-properties" Target="/docProps/app.xml" Id="R99f62391d2034cbe" /><Relationship Type="http://schemas.openxmlformats.org/officeDocument/2006/relationships/officeDocument" Target="/ppt/presentation.xml" Id="R684a5b11ea234d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cd2eed41fb42bd"/>
  </p:sldMasterIdLst>
  <p:notesMasterIdLst>
    <p:notesMasterId xmlns:r="http://schemas.openxmlformats.org/officeDocument/2006/relationships" r:id="Rbaf92935ad704639"/>
  </p:notesMasterIdLst>
  <p:sldIdLst>
    <p:sldId xmlns:r="http://schemas.openxmlformats.org/officeDocument/2006/relationships" id="256" r:id="R027ddb682fba42f2"/>
    <p:sldId xmlns:r="http://schemas.openxmlformats.org/officeDocument/2006/relationships" id="257" r:id="R7766f0dcecba48b0"/>
    <p:sldId xmlns:r="http://schemas.openxmlformats.org/officeDocument/2006/relationships" id="258" r:id="R200773014c904ea5"/>
    <p:sldId xmlns:r="http://schemas.openxmlformats.org/officeDocument/2006/relationships" id="259" r:id="R271ac85d9db84523"/>
    <p:sldId xmlns:r="http://schemas.openxmlformats.org/officeDocument/2006/relationships" id="260" r:id="R1f5081a53d07400e"/>
    <p:sldId xmlns:r="http://schemas.openxmlformats.org/officeDocument/2006/relationships" id="261" r:id="R7dbf48c2af87463a"/>
    <p:sldId xmlns:r="http://schemas.openxmlformats.org/officeDocument/2006/relationships" id="262" r:id="R5e7e1b00a3c64b62"/>
    <p:sldId xmlns:r="http://schemas.openxmlformats.org/officeDocument/2006/relationships" id="263" r:id="R238608f4315747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22a43934b74b11" /><Relationship Type="http://schemas.openxmlformats.org/officeDocument/2006/relationships/slideMaster" Target="/ppt/slideMasters/slideMaster1.xml" Id="R3ccd2eed41fb42bd" /><Relationship Type="http://schemas.openxmlformats.org/officeDocument/2006/relationships/notesMaster" Target="/ppt/notesMasters/notesMaster1.xml" Id="Rbaf92935ad704639" /><Relationship Type="http://schemas.openxmlformats.org/officeDocument/2006/relationships/presProps" Target="/ppt/presProps.xml" Id="Ra801a5f7d22749dc" /><Relationship Type="http://schemas.openxmlformats.org/officeDocument/2006/relationships/tableStyles" Target="/ppt/tableStyles.xml" Id="R667ecfaf639f471a" /><Relationship Type="http://schemas.openxmlformats.org/officeDocument/2006/relationships/slide" Target="/ppt/slides/slide1.xml" Id="R027ddb682fba42f2" /><Relationship Type="http://schemas.openxmlformats.org/officeDocument/2006/relationships/slide" Target="/ppt/slides/slide2.xml" Id="R7766f0dcecba48b0" /><Relationship Type="http://schemas.openxmlformats.org/officeDocument/2006/relationships/slide" Target="/ppt/slides/slide3.xml" Id="R200773014c904ea5" /><Relationship Type="http://schemas.openxmlformats.org/officeDocument/2006/relationships/slide" Target="/ppt/slides/slide4.xml" Id="R271ac85d9db84523" /><Relationship Type="http://schemas.openxmlformats.org/officeDocument/2006/relationships/slide" Target="/ppt/slides/slide5.xml" Id="R1f5081a53d07400e" /><Relationship Type="http://schemas.openxmlformats.org/officeDocument/2006/relationships/slide" Target="/ppt/slides/slide6.xml" Id="R7dbf48c2af87463a" /><Relationship Type="http://schemas.openxmlformats.org/officeDocument/2006/relationships/slide" Target="/ppt/slides/slide7.xml" Id="R5e7e1b00a3c64b62" /><Relationship Type="http://schemas.openxmlformats.org/officeDocument/2006/relationships/slide" Target="/ppt/slides/slide8.xml" Id="R238608f43157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762816063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5badd49f54918" /><Relationship Type="http://schemas.openxmlformats.org/officeDocument/2006/relationships/notesMaster" Target="/ppt/notesMasters/notesMaster1.xml" Id="R5bcf3d99d80244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85f81222874644" /><Relationship Type="http://schemas.openxmlformats.org/officeDocument/2006/relationships/notesMaster" Target="/ppt/notesMasters/notesMaster1.xml" Id="R038b5d83925042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fd5961e26c4f7e" /><Relationship Type="http://schemas.openxmlformats.org/officeDocument/2006/relationships/notesMaster" Target="/ppt/notesMasters/notesMaster1.xml" Id="Rf41a4bb55bcf4f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6d4445e4443cf" /><Relationship Type="http://schemas.openxmlformats.org/officeDocument/2006/relationships/notesMaster" Target="/ppt/notesMasters/notesMaster1.xml" Id="R3f5a0e60e49e45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fa169eb8fa4892" /><Relationship Type="http://schemas.openxmlformats.org/officeDocument/2006/relationships/notesMaster" Target="/ppt/notesMasters/notesMaster1.xml" Id="R3522e401fb20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aed64b70094f54" /><Relationship Type="http://schemas.openxmlformats.org/officeDocument/2006/relationships/notesMaster" Target="/ppt/notesMasters/notesMaster1.xml" Id="R3855499265cc42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c7242c7f3a4d56" /><Relationship Type="http://schemas.openxmlformats.org/officeDocument/2006/relationships/notesMaster" Target="/ppt/notesMasters/notesMaster1.xml" Id="R01e86a7a238c44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83a1c608284f67" /><Relationship Type="http://schemas.openxmlformats.org/officeDocument/2006/relationships/notesMaster" Target="/ppt/notesMasters/notesMaster1.xml" Id="R6292a10d1c21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translation and rotation as one coupled rigid-body problem. The deck uses the paper’s North-East-Down inertial frame and Forward-Right-Down body frame throughout.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high-resolution photograph: drone_photos/IMG_4479.jpeg</a:t>
            </a:r>
          </a:p>
          <a:p xmlns:a="http://schemas.openxmlformats.org/drawingml/2006/main">
            <a:r>
              <a:t>- Elsberry, Dawkins, and Whitcomb, ral_main.pdf, §III-A p.2.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paper defines the inertial frame as North-East-Down and the body frame as Forward-Right-Down. R_ab maps body coordinates into inertial coordinates. Euler angles are ZYX roll, pitch, and yaw.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Elsberry, Dawkins, and Whitcomb, ral_main.pdf, §III-A p.2, Fig. 1 and equations (5), (11)–(13).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paper uses u_i = omega_i |omega_i|. For normal one-direction rotor operation this becomes omega_i squared. Distinguish the quasi-steady square law from an actual first-order motor lag.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Elsberry, Dawkins, and Whitcomb, ral_main.pdf, §III-A p.2, equations (3)–(10).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zero yaw, a nose-down pitch has phi_2 less than zero and produces positive forward acceleration. Both inertial z and body b_3 point down. Keeping altitude while tilted requires additional total thrust.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Elsberry, Dawkins, and Whitcomb, ral_main.pdf, §III-A p.2, equations (3), (12), and (13).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Rotor 1 is front-right, 2 rear-left, 3 front-left, and 4 rear-right in the attached paper. Roll and pitch come from thrust moments. Yaw comes from reaction/drag torque; increase one yaw-torque pair and decrease the other while approximately preserving total thrust.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Elsberry, Dawkins, and Whitcomb, ral_main.pdf, §III-A p.2, Fig. 1, Table I, and equations (6)–(10).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paper’s equations (1) through (4), with the translational force written using the positive total-thrust magnitude F_T. The gyroscopic cross product is part of the exact rotational dynamics; alpha equals I inverse tau is only a low-rate approximation.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Elsberry, Dawkins, and Whitcomb, ral_main.pdf, §III-A p.2, equations (1)–(13).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student's timed displacement is open-loop with respect to final position. The onboard flight controller still closes fast attitude and body-rate loops. The state estimator fuses the gyroscope, accelerometer, and any available aiding; an IMU alone does not provide absolute yaw.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flight API: local_site/lib/drone.ts.</a:t>
            </a:r>
          </a:p>
          <a:p xmlns:a="http://schemas.openxmlformats.org/drawingml/2006/main">
            <a:r>
              <a:t>- Elsberry, Dawkins, and Whitcomb, ral_main.pdf, controller context in §III-B.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interpret the simulator as the paper's NED plant. It deliberately uses positive-up altitude, a positive nose-down pitch display, a power-to-tilt mapping, g tan(tilt) horizontal acceleration, and simplified response dynamics. Fifteen-percent power maps to about 3.42 degrees; about 59.5 percent maps to 10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Elsberry, Dawkins, and Whitcomb, ral_main.pdf, §III-A p.2 equations (1)–(13), Fig. 1, Table I; §III-B p.3 equations (21)–(29).</a:t>
            </a:r>
          </a:p>
          <a:p xmlns:a="http://schemas.openxmlformats.org/drawingml/2006/main">
            <a:r>
              <a:t>- Hopper Studio simulator: local_site/lib/simulation.ts, powerToTiltDegrees and step dynamics.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b28603cdc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7f09df77c748fd" /><Relationship Type="http://schemas.openxmlformats.org/officeDocument/2006/relationships/slideLayout" Target="/ppt/slideLayouts/slideLayout1.xml" Id="R97ea299140d24e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a299140d24e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27e02609e4bfa" /><Relationship Type="http://schemas.openxmlformats.org/officeDocument/2006/relationships/image" Target="/ppt/media/image.jpeg" Id="Ra6037c721fda4e0a" /><Relationship Type="http://schemas.openxmlformats.org/officeDocument/2006/relationships/image" Target="/ppt/media/image.png" Id="R6d43829cfc0548bb" /><Relationship Type="http://schemas.openxmlformats.org/officeDocument/2006/relationships/notesSlide" Target="/ppt/notesSlides/notesSlide1.xml" Id="R62d22e37a54c45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01ace032a46ed" /><Relationship Type="http://schemas.openxmlformats.org/officeDocument/2006/relationships/image" Target="/ppt/media/image2.png" Id="R9a3fb1d088e94bc2" /><Relationship Type="http://schemas.openxmlformats.org/officeDocument/2006/relationships/image" Target="/ppt/media/image3.png" Id="R1da3c26c671f40a1" /><Relationship Type="http://schemas.openxmlformats.org/officeDocument/2006/relationships/image" Target="/ppt/media/image.svg" Id="Re3e4c7b3abb8413e" /><Relationship Type="http://schemas.openxmlformats.org/officeDocument/2006/relationships/image" Target="/ppt/media/image4.png" Id="Rb5c5d481d8694831" /><Relationship Type="http://schemas.openxmlformats.org/officeDocument/2006/relationships/image" Target="/ppt/media/image2.svg" Id="R80b4bbb7c8ce4f18" /><Relationship Type="http://schemas.openxmlformats.org/officeDocument/2006/relationships/notesSlide" Target="/ppt/notesSlides/notesSlide2.xml" Id="Rba301d72843b4f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ddd78869a4598" /><Relationship Type="http://schemas.openxmlformats.org/officeDocument/2006/relationships/image" Target="/ppt/media/image5.png" Id="R4ac6c9d6817b40ea" /><Relationship Type="http://schemas.openxmlformats.org/officeDocument/2006/relationships/image" Target="/ppt/media/image6.png" Id="R3f9b7a0701ae4773" /><Relationship Type="http://schemas.openxmlformats.org/officeDocument/2006/relationships/image" Target="/ppt/media/image3.svg" Id="R035860294dfd421f" /><Relationship Type="http://schemas.openxmlformats.org/officeDocument/2006/relationships/image" Target="/ppt/media/image7.png" Id="R044a1264f68c40d5" /><Relationship Type="http://schemas.openxmlformats.org/officeDocument/2006/relationships/image" Target="/ppt/media/image4.svg" Id="R2b3149b0aad74c63" /><Relationship Type="http://schemas.openxmlformats.org/officeDocument/2006/relationships/image" Target="/ppt/media/image8.png" Id="R99d2a8d5636b4fd4" /><Relationship Type="http://schemas.openxmlformats.org/officeDocument/2006/relationships/image" Target="/ppt/media/image5.svg" Id="R34502a139d164d8c" /><Relationship Type="http://schemas.openxmlformats.org/officeDocument/2006/relationships/notesSlide" Target="/ppt/notesSlides/notesSlide3.xml" Id="R9883d4faebee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8300521f745a5" /><Relationship Type="http://schemas.openxmlformats.org/officeDocument/2006/relationships/image" Target="/ppt/media/image9.png" Id="R560e3a97be5e4fd2" /><Relationship Type="http://schemas.openxmlformats.org/officeDocument/2006/relationships/image" Target="/ppt/media/image10.png" Id="R4f329a25d9a540ab" /><Relationship Type="http://schemas.openxmlformats.org/officeDocument/2006/relationships/image" Target="/ppt/media/image6.svg" Id="R741889ba1f114dba" /><Relationship Type="http://schemas.openxmlformats.org/officeDocument/2006/relationships/image" Target="/ppt/media/image11.png" Id="Rfbb3613883464e64" /><Relationship Type="http://schemas.openxmlformats.org/officeDocument/2006/relationships/image" Target="/ppt/media/image7.svg" Id="R6f198a39061342ba" /><Relationship Type="http://schemas.openxmlformats.org/officeDocument/2006/relationships/notesSlide" Target="/ppt/notesSlides/notesSlide4.xml" Id="Rab384cccc850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4f0b620694b12" /><Relationship Type="http://schemas.openxmlformats.org/officeDocument/2006/relationships/image" Target="/ppt/media/image12.png" Id="Rd9c73703edcf4b28" /><Relationship Type="http://schemas.openxmlformats.org/officeDocument/2006/relationships/image" Target="/ppt/media/image13.png" Id="R5b9ecca27f024090" /><Relationship Type="http://schemas.openxmlformats.org/officeDocument/2006/relationships/image" Target="/ppt/media/image8.svg" Id="R925587c25b07427c" /><Relationship Type="http://schemas.openxmlformats.org/officeDocument/2006/relationships/notesSlide" Target="/ppt/notesSlides/notesSlide5.xml" Id="Rdf87f89af2f5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6e4ad339e42b7" /><Relationship Type="http://schemas.openxmlformats.org/officeDocument/2006/relationships/image" Target="/ppt/media/image14.png" Id="R25911fa0b2cd444f" /><Relationship Type="http://schemas.openxmlformats.org/officeDocument/2006/relationships/image" Target="/ppt/media/image15.png" Id="R134d2a4e8a134f39" /><Relationship Type="http://schemas.openxmlformats.org/officeDocument/2006/relationships/image" Target="/ppt/media/image9.svg" Id="R59ad0b553c6744e4" /><Relationship Type="http://schemas.openxmlformats.org/officeDocument/2006/relationships/image" Target="/ppt/media/image16.png" Id="R6a5b6360b47e4164" /><Relationship Type="http://schemas.openxmlformats.org/officeDocument/2006/relationships/image" Target="/ppt/media/image10.svg" Id="Rbb6703445f79476c" /><Relationship Type="http://schemas.openxmlformats.org/officeDocument/2006/relationships/image" Target="/ppt/media/image17.png" Id="Rd46c52892eec4590" /><Relationship Type="http://schemas.openxmlformats.org/officeDocument/2006/relationships/image" Target="/ppt/media/image11.svg" Id="R1fb785fde2ff4213" /><Relationship Type="http://schemas.openxmlformats.org/officeDocument/2006/relationships/image" Target="/ppt/media/image18.png" Id="Reb50f539c7914066" /><Relationship Type="http://schemas.openxmlformats.org/officeDocument/2006/relationships/image" Target="/ppt/media/image12.svg" Id="R1c048d7ed4a54c03" /><Relationship Type="http://schemas.openxmlformats.org/officeDocument/2006/relationships/notesSlide" Target="/ppt/notesSlides/notesSlide6.xml" Id="Rcc6c26f402fc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bee0f664a4b8c" /><Relationship Type="http://schemas.openxmlformats.org/officeDocument/2006/relationships/image" Target="/ppt/media/image19.png" Id="R1912f06556f74345" /><Relationship Type="http://schemas.openxmlformats.org/officeDocument/2006/relationships/notesSlide" Target="/ppt/notesSlides/notesSlide7.xml" Id="Rf7a085a3b73843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d09c2d3074b34" /><Relationship Type="http://schemas.openxmlformats.org/officeDocument/2006/relationships/image" Target="/ppt/media/image20.png" Id="R86aae6e9b5a14982" /><Relationship Type="http://schemas.openxmlformats.org/officeDocument/2006/relationships/image" Target="/ppt/media/image21.png" Id="R12d351cab94f4dc6" /><Relationship Type="http://schemas.openxmlformats.org/officeDocument/2006/relationships/image" Target="/ppt/media/image13.svg" Id="R0c37820f54a54c15" /><Relationship Type="http://schemas.openxmlformats.org/officeDocument/2006/relationships/notesSlide" Target="/ppt/notesSlides/notesSlide8.xml" Id="R3c7a18fb067d4c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37c721fda4e0a"/>
          <a:srcRect xmlns:a="http://schemas.openxmlformats.org/drawingml/2006/main" l="0" t="10411" r="0" b="10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6496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2008D-FD07-4B25-8E53-AEB04F6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0"/>
            <a:ext cx="5905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620FC-5D89-48E6-B8F2-1CA839D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3829cfc0548bb"/>
          <a:stretch xmlns:a="http://schemas.openxmlformats.org/drawingml/2006/main"/>
        </p:blipFill>
        <p:spPr>
          <a:xfrm xmlns:a="http://schemas.openxmlformats.org/drawingml/2006/main">
            <a:off x="1115994" y="561975"/>
            <a:ext cx="1177963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47B9D-629D-4A12-A3F6-5EB789F1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B8B4"/>
                </a:solidFill>
              </a:defRPr>
            </a:pPr>
            <a:r>
              <a:rPr sz="975" b="1">
                <a:solidFill>
                  <a:srgbClr val="14B8B4"/>
                </a:solidFill>
              </a:rPr>
              <a:t>HOPPER INFORMATION 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FCD66-2407-4B7E-BD6F-9EA5478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A227"/>
                </a:solidFill>
              </a:defRPr>
            </a:pPr>
            <a:r>
              <a:rPr sz="900" b="1">
                <a:solidFill>
                  <a:srgbClr val="C9A227"/>
                </a:solidFill>
              </a:rPr>
              <a:t>AERODYNAMICS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5E479-A690-4B7A-A26F-EB47244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Quadrotor aerodynamics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D2A1C-7D79-458E-BCFD-61EDA09C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2E8"/>
                </a:solidFill>
              </a:defRPr>
            </a:pPr>
            <a:r>
              <a:rPr sz="1500">
                <a:solidFill>
                  <a:srgbClr val="D4E2E8"/>
                </a:solidFill>
              </a:rPr>
              <a:t>From rotor thrust to translation, attitude, and the feedback loops that stabilize every command.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BBB9E-0A03-4D14-A4E9-665350F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190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NED / FRD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2A537-DA57-4A5F-81DF-B4FB833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72100"/>
            <a:ext cx="13620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6-DOF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B633D-0F7E-43C3-A76C-71F95B76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15335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CONTROL LOOPS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6445C-B1D8-42A5-AFA3-BAD27ADF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E"/>
          </a:solidFill>
          <a:ln xmlns:a="http://schemas.openxmlformats.org/drawingml/2006/main" w="0">
            <a:solidFill>
              <a:srgbClr val="3355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6BB55-E630-4458-8761-CB556348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FBC"/>
                </a:solidFill>
              </a:defRPr>
            </a:pPr>
            <a:r>
              <a:rPr sz="750">
                <a:solidFill>
                  <a:srgbClr val="94AFBC"/>
                </a:solidFill>
              </a:rPr>
              <a:t>DECK 02  |  AERODYNAMICS</a:t>
            </a:r>
          </a:p>
        </p:txBody>
      </p:sp>
    </p:spTree>
    <p:extLst>
      <p:ext uri="{BB962C8B-B14F-4D97-AF65-F5344CB8AC3E}">
        <p14:creationId xmlns:p14="http://schemas.microsoft.com/office/powerpoint/2010/main" val="1286419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58DE27-6034-4813-AC9E-9F14C1A6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928DA-C598-4309-A4AF-5C5C370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2B1F9-1195-4F26-863E-6EC85E39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E7329-7DFB-4B20-89A0-92B300BD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COORDINATE CONVENTION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C38D6-83C7-40C0-BBCE-DA68B523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Signs only make sense after the frames are declared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fb1d088e94bc2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3E351-B427-4F69-9C57-54E7DEA2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AA2B6-929D-4401-902C-89D6B11C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890D7-398E-4670-BEA3-4D3A8D8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2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06B1F-76C4-433A-85E6-219F0DB1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095875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0FC3E-DE01-4D96-AECF-B4C9E311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INERTIAL FRAME · 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4E587-1394-4A5E-B79F-D03C56C0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956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616B2-5749-49E6-966B-25A2E414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0859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61" name=""/>
          <p:cNvCxnSpPr>
            <a:stCxn xmlns:a="http://schemas.openxmlformats.org/drawingml/2006/main" id="12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2495550" y="2105025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78BD1-4A81-479C-8AE3-E8F121A8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956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E79F3-45BC-447A-8812-81BDB50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956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64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505075" y="31051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8B318-58C6-44A2-A08F-3BB319E1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956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4C5EB-9938-4C9C-8BC8-4848753D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195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67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95450" y="3114675"/>
            <a:ext cx="8001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4F5C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63454-5103-40A3-B314-0B31DC4C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a₁ · north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B5688-A4E0-4313-8D7F-6A3F7F5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09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A227"/>
                </a:solidFill>
              </a:defRPr>
            </a:pPr>
            <a:r>
              <a:rPr sz="1350" b="1">
                <a:solidFill>
                  <a:srgbClr val="C9A227"/>
                </a:solidFill>
              </a:rPr>
              <a:t>a₂ · east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C18FD-E095-44D9-99A0-264F195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4F5C"/>
                </a:solidFill>
              </a:defRPr>
            </a:pPr>
            <a:r>
              <a:rPr sz="1350" b="1">
                <a:solidFill>
                  <a:srgbClr val="D94F5C"/>
                </a:solidFill>
              </a:rPr>
              <a:t>a₃ · 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AD90C-ADA8-4A74-82EF-A8FE19A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A7B"/>
                </a:solidFill>
              </a:defRPr>
            </a:pPr>
            <a:r>
              <a:rPr sz="1125">
                <a:solidFill>
                  <a:srgbClr val="536A7B"/>
                </a:solidFill>
              </a:rPr>
              <a:t>ξₐ and vₐ are inertial-frame vectors.</a:t>
            </a:r>
          </a:p>
          <a:p xmlns:a="http://schemas.openxmlformats.org/drawingml/2006/main">
            <a:pPr algn="ctr">
              <a:defRPr sz="1125">
                <a:solidFill>
                  <a:srgbClr val="536A7B"/>
                </a:solidFill>
              </a:defRPr>
            </a:pPr>
            <a:r>
              <a:rPr sz="1125">
                <a:solidFill>
                  <a:srgbClr val="536A7B"/>
                </a:solidFill>
              </a:rPr>
              <a:t>Positive z points down.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E0452-8A59-4796-88C8-D866E13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66850"/>
            <a:ext cx="5438775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1C009-5088-4B7F-8FCC-85747BD1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BODY FRAME · FRD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C93DE-80C6-4938-97B8-545E7D6D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238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28575">
            <a:solidFill>
              <a:srgbClr val="14B8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5CD31-5E27-42AF-B1FD-8215B5E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718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EAFC9-D27A-4772-9CA6-D7EF8F2C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859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77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8715375" y="21050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5615A-811E-402E-B22C-DDF3476D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718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92EDF-77B7-4032-A2A1-6C180512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718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8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724900" y="31813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E4A2A-167E-4844-9A0F-AA090A0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048A3F-724A-4052-A162-0D4ACC4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1B68C9-5C2A-436B-B7FB-D512B93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b₁ · forward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17B3A3-FEEB-4D15-AC49-0E96E783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86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A227"/>
                </a:solidFill>
              </a:defRPr>
            </a:pPr>
            <a:r>
              <a:rPr sz="1350" b="1">
                <a:solidFill>
                  <a:srgbClr val="C9A227"/>
                </a:solidFill>
              </a:rPr>
              <a:t>b₂ · right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68E86B-D448-4DCE-A398-491800AB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4F5C"/>
                </a:solidFill>
              </a:defRPr>
            </a:pPr>
            <a:r>
              <a:rPr sz="1350" b="1">
                <a:solidFill>
                  <a:srgbClr val="D94F5C"/>
                </a:solidFill>
              </a:rPr>
              <a:t>b₃ · down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9DBFE2-C672-4677-9928-445493C1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4010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A7B"/>
                </a:solidFill>
              </a:defRPr>
            </a:pPr>
            <a:r>
              <a:rPr sz="1200">
                <a:solidFill>
                  <a:srgbClr val="536A7B"/>
                </a:solidFill>
              </a:rPr>
              <a:t>Rₐᵦ maps body-frame vectors into the inertial frame.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B2467F-1817-4499-96FD-F9AE6AE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10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BB27A6-8E48-48C4-9876-2CB782C0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A93F67-CB0E-4479-8990-A5C00CE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ZYX EULER ANGLES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3c26c671f40a1">
            <a:extLst>
              <a:ext uri="{96DAC541-7B7A-43D3-8B79-37D633B846F1}">
                <asvg:svgBlip xmlns:asvg="http://schemas.microsoft.com/office/drawing/2016/SVG/main" r:embed="Re3e4c7b3abb841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9900" y="5491101"/>
            <a:ext cx="3869750" cy="295397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5797CE-4222-491D-961E-BCE3B15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00A93E-C849-425D-8888-7813ECC0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C0144F-3806-4929-B93B-03AF1D0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BODY → INERTIAL ROTATION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5d481d8694831">
            <a:extLst>
              <a:ext uri="{96DAC541-7B7A-43D3-8B79-37D633B846F1}">
                <asvg:svgBlip xmlns:asvg="http://schemas.microsoft.com/office/drawing/2016/SVG/main" r:embed="R80b4bbb7c8ce4f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03628" y="5502261"/>
            <a:ext cx="2861794" cy="2730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72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3AE41-2C85-45B3-BAF6-A459C25D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96943-9A67-40BC-BAF3-BB782488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CC9CB-502D-4E94-BAC7-7813477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CC6CB-CF84-4860-BB8F-6F68494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ROTOR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67DED-A541-45B3-9114-34F125A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Rotor speed creates thrust; collective thrust sets height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c9d6817b40ea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F86AD-08C1-4A30-9D37-63139260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05380-08F3-4FEF-9E93-C95BFDB8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2CDB0-69F4-4C41-80C8-07AC0130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3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5302D-E2AF-4195-AC43-5A76FCDA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AD6DB-C969-49B8-84AB-24E84A6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45705-0AA3-465B-B985-A280443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QUASI-STEADY ROTOR THRUST LAW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b7a0701ae4773">
            <a:extLst>
              <a:ext uri="{96DAC541-7B7A-43D3-8B79-37D633B846F1}">
                <asvg:svgBlip xmlns:asvg="http://schemas.microsoft.com/office/drawing/2016/SVG/main" r:embed="R035860294dfd42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28413" y="2421493"/>
            <a:ext cx="2715375" cy="26241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5409A-82D0-4710-A06D-12AC6E25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81150"/>
            <a:ext cx="56388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40433-54AE-4004-AF48-21CBC3E7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811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93FC7-9040-421E-907D-D7AEA16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POSITIVE TOTAL-THRUST MAGNITUDE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a1264f68c40d5">
            <a:extLst>
              <a:ext uri="{96DAC541-7B7A-43D3-8B79-37D633B846F1}">
                <asvg:svgBlip xmlns:asvg="http://schemas.microsoft.com/office/drawing/2016/SVG/main" r:embed="R2b3149b0aad74c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7798" y="2156268"/>
            <a:ext cx="1510405" cy="79286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17F93-77C3-4C43-91B2-31794946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9D7CA-6696-4A0E-8089-CA0C89AD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291C5-06FB-435C-B53D-6EA42A4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A TRUE FIRST-ORDER MOTOR MODEL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2a8d5636b4fd4">
            <a:extLst>
              <a:ext uri="{96DAC541-7B7A-43D3-8B79-37D633B846F1}">
                <asvg:svgBlip xmlns:asvg="http://schemas.microsoft.com/office/drawing/2016/SVG/main" r:embed="R34502a139d164d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31961" y="4324701"/>
            <a:ext cx="1708279" cy="246949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E0508-0DC9-4760-9BC2-29910FC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0450"/>
            <a:ext cx="56388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EE7FE-9BB6-4352-BF18-FB36C9B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04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E5FF8-502C-4406-B05A-F78CD8A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Hover is an attitude-qualified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C7CB2-F16F-4CD0-8534-D59AA9C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521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Level hover: F_T = mg.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Tilted hover: F_T cos φ₁ cos φ₂ = mg.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For one-way rotors, uᵢ = ωᵢ²; the square law is static, not a motor time response.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6CB1E-4F8E-4934-9D45-31D8A843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96774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23848-EA10-4E95-908A-FA0FC72C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Students command direction, time, and power; the controller allocates motor commands.</a:t>
            </a:r>
          </a:p>
        </p:txBody>
      </p:sp>
    </p:spTree>
    <p:extLst>
      <p:ext uri="{BB962C8B-B14F-4D97-AF65-F5344CB8AC3E}">
        <p14:creationId xmlns:p14="http://schemas.microsoft.com/office/powerpoint/2010/main" val="21419770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825309-ABDC-4CC2-88C8-266732F2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55D4D-2836-492E-B64B-3ED6307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0B1AB-3611-477D-9D15-7B1294C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5B8E-F3B4-4E82-9D77-D02BB03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25582-7E7C-444E-9959-15A4A81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Tilting the body redirects thrust horizontally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e3a97be5e4fd2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34423-457F-47D2-8844-51D9BEB2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AE5AC-E674-4C1F-B153-7790133F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07A78-FEDF-43C0-8AAD-334B25DC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4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B256A-0745-43B8-87D0-7ECEBB96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6007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62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F4636-EA9C-413D-89BA-B3C96E2D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2286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SIDE VIEW · ZERO YAW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9D630-F730-4217-8593-25F91FD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861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D5D0E-EE36-4D3E-A296-6457792A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147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714500" y="3295650"/>
            <a:ext cx="31242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95250">
            <a:solidFill>
              <a:srgbClr val="FFFFFF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C692A-9664-45EF-88A2-3E28598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76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6F7A3-95BD-4077-A1B7-FFFB1149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052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7AC22-5710-4CB0-AEDA-2A669FF0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90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A50DD-986C-4C56-9770-1FFACFA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050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7" name=""/>
          <p:cNvCxnSpPr>
            <a:stCxn xmlns:a="http://schemas.openxmlformats.org/drawingml/2006/main" id="1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3267075" y="2124075"/>
            <a:ext cx="59055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4B8B4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76B53-F814-41CD-A389-AADEDE1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90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1940B-730E-487C-A0C8-85D8D538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01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267075" y="3609975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D94F5C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C2910-6D8B-4838-AD00-8B7D59A7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90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D1D86-CB01-4D07-A35A-98A6EC8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90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276600" y="3600450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211FE-D12D-4A9A-9D3B-B66902B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526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B8B4"/>
                </a:solidFill>
              </a:defRPr>
            </a:pPr>
            <a:r>
              <a:rPr sz="1350" b="1">
                <a:solidFill>
                  <a:srgbClr val="14B8B4"/>
                </a:solidFill>
              </a:rPr>
              <a:t>thrust −F_T b₃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0758D-B475-47FA-AB7F-27E14B64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53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4F5C"/>
                </a:solidFill>
              </a:defRPr>
            </a:pPr>
            <a:r>
              <a:rPr sz="1350" b="1">
                <a:solidFill>
                  <a:srgbClr val="D94F5C"/>
                </a:solidFill>
              </a:rPr>
              <a:t>gravity +mg a₃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3124D-13B7-4657-9361-C692A9EB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A227"/>
                </a:solidFill>
              </a:defRPr>
            </a:pPr>
            <a:r>
              <a:rPr sz="1350" b="1">
                <a:solidFill>
                  <a:srgbClr val="C9A227"/>
                </a:solidFill>
              </a:rPr>
              <a:t>forward +a₁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748EA-261E-4D34-8405-75346B89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Nose-down pitch is φ₂ &lt; 0 in this NED/FRD convention.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93313A-07BD-4BDB-AC0B-0C7035B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4991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243DE-027E-4885-8D74-228E2112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39A7B-BA49-44DF-9EB9-1D0DD8C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FORWARD ACCELERATION · φ₃ = 0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9a25d9a540ab">
            <a:extLst>
              <a:ext uri="{96DAC541-7B7A-43D3-8B79-37D633B846F1}">
                <asvg:svgBlip xmlns:asvg="http://schemas.microsoft.com/office/drawing/2016/SVG/main" r:embed="R741889ba1f114d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00745" y="2359472"/>
            <a:ext cx="3372210" cy="538856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F7209-9171-452D-B5ED-30C38129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4991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FFDE77-26BD-41DE-A0AD-7524FBFC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8B116F-3A37-4936-BAE6-C112FF66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VERTICAL ACCELERATION · z POSITIVE DOWN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3613883464e64">
            <a:extLst>
              <a:ext uri="{96DAC541-7B7A-43D3-8B79-37D633B846F1}">
                <asvg:svgBlip xmlns:asvg="http://schemas.microsoft.com/office/drawing/2016/SVG/main" r:embed="R6f198a39061342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8179" y="4359722"/>
            <a:ext cx="2537341" cy="538856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4EA6B-EE47-4FCF-A3E6-4CB26D2D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67375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Tilt reduces the vertical thrust component, so altitude hold needs more F_T.</a:t>
            </a:r>
          </a:p>
        </p:txBody>
      </p:sp>
    </p:spTree>
    <p:extLst>
      <p:ext uri="{BB962C8B-B14F-4D97-AF65-F5344CB8AC3E}">
        <p14:creationId xmlns:p14="http://schemas.microsoft.com/office/powerpoint/2010/main" val="1122775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0A65DB3-5CED-479B-AC38-563061A8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81564-1A12-4AB5-922A-8CF9351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1DBBB-444A-4C51-80B3-D4C3A5D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EFD1C-B677-4DD0-BCBA-00B3629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ROTOR ALLOCATION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00E25-EE66-4324-BC21-762FCEA9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Differential rotor forces create roll, pitch, and yaw moments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73703edcf4b28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BD8CA-7DA5-4680-9E30-B7D0F0F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41AFA-9E89-421B-95F2-94BA680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947F7-F9D1-428F-85C1-6240F2C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5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DF388-6187-4BD0-8506-59A8F116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46291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8EA3D-9F4B-435F-B85B-CA48801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PAPER ROTOR NUMBERING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BF889-B87D-4030-9CC6-223239F6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5DB63-C039-49BD-9843-E79A95E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905125" y="2143125"/>
            <a:ext cx="100012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E98A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B0C50-23D5-4240-9001-BD268E00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9E640-2723-4F02-B50D-7C83B0A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81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8401F-4C3B-4AC8-AF02-8EBCF570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F5C"/>
                </a:solidFill>
              </a:defRPr>
            </a:pPr>
            <a:r>
              <a:rPr sz="975" b="1">
                <a:solidFill>
                  <a:srgbClr val="D94F5C"/>
                </a:solidFill>
              </a:rPr>
              <a:t>+τz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7880A-86D8-4994-B37D-234CDAD3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FF6A3-E375-4330-9876-2A7F1B76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433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21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1885950" y="2867025"/>
            <a:ext cx="100012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E98A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C8278-3919-422D-962B-79EBE97F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57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113B6-8CDA-4281-AF83-EFC6062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DB703-A4A7-4DF9-8B1B-9653F302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670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4F5C"/>
                </a:solidFill>
              </a:defRPr>
            </a:pPr>
            <a:r>
              <a:rPr sz="975" b="1">
                <a:solidFill>
                  <a:srgbClr val="D94F5C"/>
                </a:solidFill>
              </a:rPr>
              <a:t>+τz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E268D-B8B7-4D1C-806F-D34A17A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A4009-3A54-46D3-9639-1C0C62B1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336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 flipV="1">
            <a:off x="1885950" y="2143125"/>
            <a:ext cx="100012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E98A7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A41B0B-F487-484C-9CE8-5C1ACD99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478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D37F2-E080-42D7-ABD4-741EC466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81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06DBAE-6B8D-40DE-8702-7E72D2D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−τz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58BD4-89C3-4BF8-84FA-D87BE1E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CB9FD-DD1D-43E6-A4E5-076D6CFE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3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905125" y="2867025"/>
            <a:ext cx="100012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E98A7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4D5AE3-7E7F-4878-85AB-668407B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DA5240-175D-4885-93B7-52CE6D9A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6DFB8-07F2-48D1-AE4E-AC435ABE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−τz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0A4665-3967-448A-843B-1A8C22C6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28900"/>
            <a:ext cx="628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D98622-B7DC-47BF-8A02-E93AD84B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479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5C8851-FF12-4604-8659-B363E04B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02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40" name=""/>
          <p:cNvCxnSpPr>
            <a:stCxn xmlns:a="http://schemas.openxmlformats.org/drawingml/2006/main" id="37" idx="0"/>
            <a:endCxn xmlns:a="http://schemas.openxmlformats.org/drawingml/2006/main" id="38" idx="2"/>
          </p:cNvCxnSpPr>
          <p:nvPr/>
        </p:nvCxnSpPr>
        <p:spPr>
          <a:xfrm xmlns:a="http://schemas.openxmlformats.org/drawingml/2006/main" flipV="1">
            <a:off x="2886075" y="1819275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C1C359-C9C1-4CFB-94B8-ADC5095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479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CD9251-F4F7-40B7-ACD0-E2D73B47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4797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4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895600" y="2857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80AD14-B422-4E64-8877-786C33FF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383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F1"/>
          </a:solidFill>
          <a:ln xmlns:a="http://schemas.openxmlformats.org/drawingml/2006/main" w="14288">
            <a:solidFill>
              <a:srgbClr val="DDF2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b₁ · forward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D0D3CD-D576-42C8-BD97-C617EB29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6227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A227"/>
                </a:solidFill>
              </a:defRPr>
            </a:pPr>
            <a:r>
              <a:rPr sz="1050" b="1">
                <a:solidFill>
                  <a:srgbClr val="C9A227"/>
                </a:solidFill>
              </a:rPr>
              <a:t>b₂ right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873EB5-4ADB-4CB7-AEFF-E95B79D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47800"/>
            <a:ext cx="6019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987B7A-550F-42A6-9391-5D58E4FA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SIGN PATTERN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BCFD2F-7818-4EF2-8CE2-95C4A79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0D6391-93A0-46F0-A48A-B3B97DA1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62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94D778-0A1E-4CD2-AF48-DCD669B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69F62B-3185-49B8-B571-BD2FC2A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62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34E627-932A-46AF-ACEC-1FEFDDF1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9F120C-4D4F-4B89-B3A7-44D31D4D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F7D8AE-CC9A-42C7-BFA0-B966F59C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A91A38-8467-43A7-A60A-89D9421B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62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4B6F9A-E70D-4F3B-8D53-F4F33D40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240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16348E-05F9-4FAC-BB2D-AF801117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621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C41F76-2BF2-4D29-9222-3113315F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7647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276886-2F5D-4AE6-B0E5-B387B891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145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F_T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584B45-546C-467D-9245-44BBCEE3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7647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4514D3-F828-46AD-A66A-12221E69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145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25AF31-B609-4135-A71E-BD4EE3D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7647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23EC74-8E65-4F17-97D3-90E749C7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145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31D186-A783-41DA-AF3D-279C4397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7647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39C0E1-9498-42D6-9B8D-D4990902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145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682023-9241-4F8D-B863-1A46D3F5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7647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9A9C45-2FF8-4762-95E7-02B045B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145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B3C882-056C-466A-9A86-52F7F130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BD9116-E302-4CC0-97E7-CE50276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τ_x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BF8A7C-02F8-442A-881E-BE106448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5A3C75-E9BB-46BF-98A9-2E0CE462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078043-0C11-4139-8C7A-E97B37EE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2890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216240-BACE-481B-B679-16857938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3F390C-83B9-4933-8A1E-7905426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FE7094-7928-4922-B24C-E00C1E6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C9F007-EFCF-48FE-A812-50F89A2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2890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7F8786-DBB7-4A94-BDF0-1DCE497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−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450F78-ABAB-4B86-A197-026F7BF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8132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827C08-6371-43ED-B9B9-B600E72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194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τ_y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6FC3C3-8E1F-4543-AC3A-A85294E6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8132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EC206A-C71D-4040-ABD5-406ECD81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194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1E5758-24DA-4D82-A9B8-20CAB072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8132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5EFEF4-41A9-43AF-9FBA-1E47AE13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−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822015D-8442-48D1-8214-4780768C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8132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6386F8-7F32-4545-9D6F-D0883977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194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9B9DCD-E948-4FB5-9837-D6F22898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81325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C607B6-6861-4CF0-9A23-83FCF80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194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E57FC11-EC5B-44F0-BD35-424E6A1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2AB607-DC90-4177-A51E-EF165E2A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1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τ_z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58AC522-B44E-4D16-9B1F-7FDD6A3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D86AFC-525C-4977-A8EB-F9B789F0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2C0CD7C-F163-45C4-BBAE-B35A51F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70B72EA-A0F7-49D3-A442-64B0240E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+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68FA893-0792-48DE-ACDF-B19274B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BA5EB1-EFDE-4245-95AE-116CD648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−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19FB25-9E53-439C-B7AE-203A760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33750"/>
            <a:ext cx="99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DD0DE2F-8902-4740-902B-67FBE68D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718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−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58D435-7E7A-47EF-99BB-F7F1597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05225"/>
            <a:ext cx="521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6A7B"/>
                </a:solidFill>
              </a:defRPr>
            </a:pPr>
            <a:r>
              <a:rPr sz="975" b="1">
                <a:solidFill>
                  <a:srgbClr val="536A7B"/>
                </a:solidFill>
              </a:rPr>
              <a:t>Differential moments are added to the collective command.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4463B12-5B56-4717-8C00-97FB5140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88B81BE-7521-4F64-9240-E06C09E6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62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4193C3F-0756-443D-AF92-D8E5184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THRUST / TORQUE ALLOCATION</a:t>
            </a:r>
          </a:p>
        </p:txBody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ecca27f024090">
            <a:extLst>
              <a:ext uri="{96DAC541-7B7A-43D3-8B79-37D633B846F1}">
                <asvg:svgBlip xmlns:asvg="http://schemas.microsoft.com/office/drawing/2016/SVG/main" r:embed="R925587c25b0742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84354" y="4629150"/>
            <a:ext cx="4223291" cy="1247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3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E77BD-95EE-4051-BFA7-EB2B4BB0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A7046-7C2B-4CFA-B364-DE0C5357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AB45-6D9F-440D-8327-DAE47A7F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41193-0CDF-488A-A31C-9638DE9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RIGID-BODY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F1C3F-F064-49C0-BEB9-C11FADE1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The paper’s full 6-DOF model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11fa0b2cd444f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20894-383E-4326-9CD4-93A790DF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EA35E-EA5B-4E76-98AE-7184F1EE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C7057-F4F0-41DD-A5C1-9B7B5DB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6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48C0D-74CB-42ED-9C0C-03073AB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CDB48-A032-47BE-9F47-385B2846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3FCF1-4F92-435D-BDA4-A5A1233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POSITION KINEMATICS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d2a4e8a134f39">
            <a:extLst>
              <a:ext uri="{96DAC541-7B7A-43D3-8B79-37D633B846F1}">
                <asvg:svgBlip xmlns:asvg="http://schemas.microsoft.com/office/drawing/2016/SVG/main" r:embed="R59ad0b553c6744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12524" y="2219911"/>
            <a:ext cx="813852" cy="30362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BABF7-19E7-4554-A283-CAD3D4BF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CDCBA-D24F-4CFC-8185-7D6CF8E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D578D-4908-42D9-8655-63056835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76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1B3A"/>
                </a:solidFill>
              </a:defRPr>
            </a:pPr>
            <a:r>
              <a:rPr sz="1275" b="1">
                <a:solidFill>
                  <a:srgbClr val="001B3A"/>
                </a:solidFill>
              </a:rPr>
              <a:t>ATTITUDE KINEMATICS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b6360b47e4164">
            <a:extLst>
              <a:ext uri="{96DAC541-7B7A-43D3-8B79-37D633B846F1}">
                <asvg:svgBlip xmlns:asvg="http://schemas.microsoft.com/office/drawing/2016/SVG/main" r:embed="Rbb6703445f7947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13746" y="2218088"/>
            <a:ext cx="1317608" cy="307274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58C73-DD56-4746-8BD0-BE518FB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B892A-6613-4855-A65D-6945717C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69BAB-50FB-49DC-8F26-36186E5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TRANSLATIONAL DYNAMICS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c52892eec4590">
            <a:extLst>
              <a:ext uri="{96DAC541-7B7A-43D3-8B79-37D633B846F1}">
                <asvg:svgBlip xmlns:asvg="http://schemas.microsoft.com/office/drawing/2016/SVG/main" r:embed="R1fb785fde2ff42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53616" y="3907524"/>
            <a:ext cx="3084768" cy="26215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917A8-9185-4779-B744-3357EE5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41EED-7893-4B8B-9C76-6BCE2B6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0">
            <a:solidFill>
              <a:srgbClr val="14B8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C8033-4863-450C-B5BE-F8EFCE36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B8B4"/>
                </a:solidFill>
              </a:defRPr>
            </a:pPr>
            <a:r>
              <a:rPr sz="1275" b="1">
                <a:solidFill>
                  <a:srgbClr val="14B8B4"/>
                </a:solidFill>
              </a:rPr>
              <a:t>ROTATIONAL DYNAMICS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0f539c7914066">
            <a:extLst>
              <a:ext uri="{96DAC541-7B7A-43D3-8B79-37D633B846F1}">
                <asvg:svgBlip xmlns:asvg="http://schemas.microsoft.com/office/drawing/2016/SVG/main" r:embed="R1c048d7ed4a54c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50234" y="5469624"/>
            <a:ext cx="2691531" cy="262152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E814D-6833-4A58-AB04-6AD9F4A0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72200"/>
            <a:ext cx="998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A7B"/>
                </a:solidFill>
              </a:defRPr>
            </a:pPr>
            <a:r>
              <a:rPr sz="1125" b="1">
                <a:solidFill>
                  <a:srgbClr val="536A7B"/>
                </a:solidFill>
              </a:rPr>
              <a:t>vₐ: inertial velocity  ·  ω_b = [p,q,r]ᵀ: body rate  ·  I_m: inertia  ·  τ = T u: applied torque</a:t>
            </a:r>
          </a:p>
        </p:txBody>
      </p:sp>
    </p:spTree>
    <p:extLst>
      <p:ext uri="{BB962C8B-B14F-4D97-AF65-F5344CB8AC3E}">
        <p14:creationId xmlns:p14="http://schemas.microsoft.com/office/powerpoint/2010/main" val="13326776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104182-2D61-40B8-917C-D10F7A6F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E8F68-4AB5-4A44-9C50-E38F87F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2A802-B942-4104-BEB4-4283704A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8183-B60A-43D4-979E-6BDD8BB0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COMMAND TO MOTORS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43848-4FFF-42E1-80E9-FA84D7E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Timed motion is stabilized—but not position-controlled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2f06556f74345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47348-E604-421F-96D5-65393BD7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A5C1E-E099-48E0-B71E-487AFFC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AA1C9-65BA-419D-8619-9E94AFA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7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3FC72-0752-4871-B606-A600C2E0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054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C36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94897-BAFA-4FA0-9114-79D9AD97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solidFill>
              <a:srgbClr val="071A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9470D-B261-4EDF-BE9C-8A05BA47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B72"/>
          </a:solidFill>
          <a:ln xmlns:a="http://schemas.openxmlformats.org/drawingml/2006/main" w="0">
            <a:solidFill>
              <a:srgbClr val="F16B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20FD8-8C30-4F6C-AE1E-B32EAED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BF48"/>
          </a:solidFill>
          <a:ln xmlns:a="http://schemas.openxmlformats.org/drawingml/2006/main" w="0">
            <a:solidFill>
              <a:srgbClr val="EABF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3730B-51FF-4507-B243-32B2236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52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A8"/>
          </a:solidFill>
          <a:ln xmlns:a="http://schemas.openxmlformats.org/drawingml/2006/main" w="0">
            <a:solidFill>
              <a:srgbClr val="4CC2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5DD4A-364D-4D12-8650-49A2EA19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144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2CF"/>
                </a:solidFill>
              </a:defRPr>
            </a:pPr>
            <a:r>
              <a:rPr sz="825" b="1">
                <a:solidFill>
                  <a:srgbClr val="A7C2CF"/>
                </a:solidFill>
              </a:rPr>
              <a:t>SAFE TIMED MOTION · PROGRAM.JS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B2D10-DCA8-4D09-B863-89405F52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762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  </a:t>
            </a:r>
            <a:r>
              <a:rPr sz="12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7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7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takeOff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2  </a:t>
            </a:r>
            <a:r>
              <a:rPr sz="12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try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3  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7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7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fly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275">
                <a:solidFill>
                  <a:srgbClr val="A8E6A1"/>
                </a:solidFill>
                <a:latin typeface="Aptos Mono"/>
                <a:ea typeface="Aptos Mono"/>
                <a:cs typeface="Aptos Mono"/>
              </a:rPr>
              <a:t>"forward"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127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2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127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15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4  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7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7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wait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27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1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5  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} </a:t>
            </a:r>
            <a:r>
              <a:rPr sz="12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finally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6  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7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7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land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75"/>
            </a:pPr>
            <a:r>
              <a:rPr sz="127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7  </a:t>
            </a:r>
            <a:r>
              <a:rPr sz="12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D49F3-6389-479B-A9CB-65B0203A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51054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EC9D1-9A2F-4382-A0DF-6C8C3FC5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023B6-DB61-4D98-AF66-BB18C330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COMMAND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1D459-F3C5-4261-BF38-B7E7E21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  <p:txBody>
          <a:bodyPr xmlns:a="http://schemas.openxmlformats.org/drawingml/2006/main" lIns="76200" tIns="57150" rIns="76200" bIns="3810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defRPr sz="1050"/>
            </a:pPr>
            <a:r>
              <a:rPr sz="105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05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05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fly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(direction, seconds </a:t>
            </a:r>
            <a:r>
              <a:rPr sz="105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050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0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 power </a:t>
            </a:r>
            <a:r>
              <a:rPr sz="105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050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0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4D737-7A07-4809-B75A-42D78C02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D2843"/>
                </a:solidFill>
              </a:defRPr>
            </a:pPr>
            <a:r>
              <a:rPr sz="975">
                <a:solidFill>
                  <a:srgbClr val="0D2843"/>
                </a:solidFill>
              </a:rPr>
              <a:t>direction — up / down / left / right / forward / backward</a:t>
            </a:r>
          </a:p>
          <a:p xmlns:a="http://schemas.openxmlformats.org/drawingml/2006/main">
            <a:pPr>
              <a:defRPr sz="975">
                <a:solidFill>
                  <a:srgbClr val="0D2843"/>
                </a:solidFill>
              </a:defRPr>
            </a:pPr>
            <a:r>
              <a:rPr sz="975">
                <a:solidFill>
                  <a:srgbClr val="0D2843"/>
                </a:solidFill>
              </a:rPr>
              <a:t>seconds — number ≥ 0 s; default 0</a:t>
            </a:r>
          </a:p>
          <a:p xmlns:a="http://schemas.openxmlformats.org/drawingml/2006/main">
            <a:pPr>
              <a:defRPr sz="975">
                <a:solidFill>
                  <a:srgbClr val="0D2843"/>
                </a:solidFill>
              </a:defRPr>
            </a:pPr>
            <a:r>
              <a:rPr sz="975">
                <a:solidFill>
                  <a:srgbClr val="0D2843"/>
                </a:solidFill>
              </a:rPr>
              <a:t>power — −100…100%; default 0</a:t>
            </a:r>
          </a:p>
          <a:p xmlns:a="http://schemas.openxmlformats.org/drawingml/2006/main">
            <a:pPr>
              <a:defRPr sz="975">
                <a:solidFill>
                  <a:srgbClr val="0D2843"/>
                </a:solidFill>
              </a:defRPr>
            </a:pPr>
            <a:r>
              <a:rPr sz="975">
                <a:solidFill>
                  <a:srgbClr val="0D2843"/>
                </a:solidFill>
              </a:rPr>
              <a:t>returns — Promise&lt;void&gt;; waits for stabilization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B2DEB-BFF0-4F42-9905-3570362B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1200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1279F-2711-40A7-9EF3-A36E8BD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38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1B3A"/>
                </a:solidFill>
              </a:defRPr>
            </a:pPr>
            <a:r>
              <a:rPr sz="1200" b="1">
                <a:solidFill>
                  <a:srgbClr val="001B3A"/>
                </a:solidFill>
              </a:rPr>
              <a:t>Motion / velocity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54705-0419-4B7C-89C0-E7747A83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outer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1CB06-BCA8-4899-9AC6-8FCC5837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14500"/>
            <a:ext cx="1200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CE26C-4E29-44E0-BD57-7BD90BA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38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1B3A"/>
                </a:solidFill>
              </a:defRPr>
            </a:pPr>
            <a:r>
              <a:rPr sz="1200" b="1">
                <a:solidFill>
                  <a:srgbClr val="001B3A"/>
                </a:solidFill>
              </a:rPr>
              <a:t>Attitude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1E61F-F133-4333-94E4-65C91F8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52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φ₁, φ₂, φ₃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A2B7C-24C6-479A-93AA-89417A5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764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3B97C-C158-4F18-A23F-51C50B4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9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324725" y="2085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A7C1D-1472-4D08-8ACF-379E038D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200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C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BCE5F5-D27F-4AF2-B818-F63ABD78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383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1B3A"/>
                </a:solidFill>
              </a:defRPr>
            </a:pPr>
            <a:r>
              <a:rPr sz="1200" b="1">
                <a:solidFill>
                  <a:srgbClr val="001B3A"/>
                </a:solidFill>
              </a:rPr>
              <a:t>Body 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F6E1B-B023-441E-9B47-6AA2ACD4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52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p, q, 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1F307-9FBD-458C-8324-028A2D2D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7647CB-62DC-4E57-8AE6-A1D8991E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764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96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8696325" y="2085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DACFC-7F4D-400B-9569-BF3ED869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0"/>
            <a:ext cx="13525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8D8A7-4B54-4AD5-9291-86F718D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383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Mixer + motors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F09CE6-0680-458A-948D-D3E38288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526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CEE2E8"/>
                </a:solidFill>
              </a:defRPr>
            </a:pPr>
            <a:r>
              <a:rPr sz="900">
                <a:solidFill>
                  <a:srgbClr val="CEE2E8"/>
                </a:solidFill>
              </a:rPr>
              <a:t>4 ESC commands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E2FF59-E960-43C2-8500-A2D4EB13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764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40086C-5D3E-4540-A733-82639BDF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07645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0067925" y="2085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CEE762-7AF5-47DE-92FA-EB070ABD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3D0F37-A19C-4528-9054-516D853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STATE ESTIMATOR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477CDE-C968-4520-B416-5510A1A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36A7B"/>
                </a:solidFill>
              </a:defRPr>
            </a:pPr>
            <a:r>
              <a:rPr sz="1050">
                <a:solidFill>
                  <a:srgbClr val="536A7B"/>
                </a:solidFill>
              </a:rPr>
              <a:t>gyro + accelerometer + available aiding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3BD174-4BAD-41A4-BB12-1178A81C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447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2E8561-5CB3-4885-9467-FCBB5BF8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9239250" y="2457450"/>
            <a:ext cx="1647825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22C23F-6BF2-4A4B-8A9E-D076DA25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90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8466A3-04F8-474F-A547-0992FAB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47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 flipV="1">
            <a:off x="6724650" y="2457450"/>
            <a:ext cx="13049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16E304-C087-412F-B4BD-DD815AEB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337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02B4BE-1E26-482A-A220-70A3955A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47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14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 flipV="1">
            <a:off x="8105775" y="2457450"/>
            <a:ext cx="78105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BCBC7A-CA0E-470C-BE5A-214ACC4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337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844391-2327-47CD-88FF-F91155E4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47925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117" name=""/>
          <p:cNvCxnSpPr>
            <a:stCxn xmlns:a="http://schemas.openxmlformats.org/drawingml/2006/main" id="55" idx="0"/>
            <a:endCxn xmlns:a="http://schemas.openxmlformats.org/drawingml/2006/main" id="56" idx="2"/>
          </p:cNvCxnSpPr>
          <p:nvPr/>
        </p:nvCxnSpPr>
        <p:spPr>
          <a:xfrm xmlns:a="http://schemas.openxmlformats.org/drawingml/2006/main" flipH="1" flipV="1">
            <a:off x="9458325" y="2466975"/>
            <a:ext cx="4286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A227"/>
            </a:solidFill>
            <a:prstDash val="solid"/>
            <a:tailEnd type="triangle" w="med" len="me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A5C449-04FB-4DD5-9482-ACF9771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54673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4E7"/>
          </a:solidFill>
          <a:ln xmlns:a="http://schemas.openxmlformats.org/drawingml/2006/main" w="14288">
            <a:solidFill>
              <a:srgbClr val="D94F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05F59E-1BA6-49BE-92D5-4284AFA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493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4F5C"/>
                </a:solidFill>
              </a:defRPr>
            </a:pPr>
            <a:r>
              <a:rPr sz="1500" b="1">
                <a:solidFill>
                  <a:srgbClr val="D94F5C"/>
                </a:solidFill>
              </a:rPr>
              <a:t>What the timed command does—and does not do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B0089E-DCE5-4703-966A-E131714D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67300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The aircraft stabilizes attitude and rate while the command runs. Without external position feedback, duration × power does not guarantee an exact final displacement.</a:t>
            </a:r>
          </a:p>
        </p:txBody>
      </p:sp>
    </p:spTree>
    <p:extLst>
      <p:ext uri="{BB962C8B-B14F-4D97-AF65-F5344CB8AC3E}">
        <p14:creationId xmlns:p14="http://schemas.microsoft.com/office/powerpoint/2010/main" val="745810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B82F0-0938-45FA-BE01-63762CC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300C8-7B38-4159-B375-A55A216B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97F43-3085-4C37-BF84-B3072CD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AERODYNAMICS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5CB12-BA2E-46D9-B1D0-BBD7295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MODEL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095E0-1906-4688-9F62-F6E4BB85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Paper and simulator conventions are different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ae6e9b5a14982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3ED48-2298-4460-A17A-4EAC0B52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B5EE0-55E7-4CBD-BB96-79D1AAF2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E4799-5521-48C6-AB95-D89107FA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8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4BF84-F04B-4B61-8741-A517EC3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197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ACE7A-CEC6-4C66-A342-50FCD95E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7709D-8123-4CC0-831F-F70C576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ATTACHED PAPER · PHYSICAL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A3C3E-7E09-46F3-B1D2-337417B6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4800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Inertial NED: z is positive down.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Body FRD: b₁ forward, b₂ right, b₃ down.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Full translational and rotational coupling.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Rotor allocation and gyroscopic cross-product term retained.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BA13F-96B8-4509-89F2-E691C570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52197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4A672-D810-451E-B0B6-8AB9AD7E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3EBE6-89CA-49A6-86C9-31D1AD4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SIMULATOR · CLASSROOM APPROXIMATION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F0A8B-5319-4B31-A88F-EB4B4E10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62175"/>
            <a:ext cx="48006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Altitude z is positive up.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Positive stored pitch means nose-down / forward.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Horizontal acceleration uses g tan(tilt).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Attitude and vertical response are simplified and damped.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72596-FC3E-4E09-A277-CB87266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991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D3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4F722-A259-4F6E-B85D-CD2A7BB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BB462-90B1-4A6C-B165-E6F38B1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SIMULATOR POWER → TILT MAPPING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351cab94f4dc6">
            <a:extLst>
              <a:ext uri="{96DAC541-7B7A-43D3-8B79-37D633B846F1}">
                <asvg:svgBlip xmlns:asvg="http://schemas.microsoft.com/office/drawing/2016/SVG/main" r:embed="R0c37820f54a54c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1705" y="5048250"/>
            <a:ext cx="2487139" cy="5905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F8DC6-E548-418C-ADFD-9DB60B0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5A377-CE82-44C1-BC93-74BA2F29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577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3.42°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5F169-F8FB-4B04-85DF-C9D8DC40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339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AT 15% POWER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7791BA-DD61-4D0E-87F8-6A552FC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9580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D773E-BE16-4561-8CB5-8114C881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577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10°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AFD1AF-EE87-475C-A967-9C00F23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1339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AT 59.5% POWER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61A0B-E020-4AB8-BD5B-1651584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76950"/>
            <a:ext cx="944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B3A"/>
                </a:solidFill>
              </a:defRPr>
            </a:pPr>
            <a:r>
              <a:rPr sz="1350" b="1">
                <a:solidFill>
                  <a:srgbClr val="001B3A"/>
                </a:solidFill>
              </a:rPr>
              <a:t>Use the paper for signs and dynamics; use simulation.ts to predict the classroom simulator.</a:t>
            </a:r>
          </a:p>
        </p:txBody>
      </p:sp>
    </p:spTree>
    <p:extLst>
      <p:ext uri="{BB962C8B-B14F-4D97-AF65-F5344CB8AC3E}">
        <p14:creationId xmlns:p14="http://schemas.microsoft.com/office/powerpoint/2010/main" val="1809045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2026-07-27T01:50:01.0130000Z</dcterms:created>
  <dcterms:modified xsi:type="dcterms:W3CDTF">2026-07-27T01:50:01.0130000Z</dcterms:modified>
</coreProperties>
</file>