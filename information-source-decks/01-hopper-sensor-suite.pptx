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8f9b96f3454628" /><Relationship Type="http://schemas.openxmlformats.org/officeDocument/2006/relationships/extended-properties" Target="/docProps/app.xml" Id="R0b9bb15b45124cf2" /><Relationship Type="http://schemas.openxmlformats.org/officeDocument/2006/relationships/officeDocument" Target="/ppt/presentation.xml" Id="Ra3a67c7171f747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c5097a733c427f"/>
  </p:sldMasterIdLst>
  <p:notesMasterIdLst>
    <p:notesMasterId xmlns:r="http://schemas.openxmlformats.org/officeDocument/2006/relationships" r:id="R4584b62e95cc4fb4"/>
  </p:notesMasterIdLst>
  <p:sldIdLst>
    <p:sldId xmlns:r="http://schemas.openxmlformats.org/officeDocument/2006/relationships" id="256" r:id="R160b98ccacf24f25"/>
    <p:sldId xmlns:r="http://schemas.openxmlformats.org/officeDocument/2006/relationships" id="257" r:id="Raa70b1a1eb7f43b3"/>
    <p:sldId xmlns:r="http://schemas.openxmlformats.org/officeDocument/2006/relationships" id="258" r:id="R1916e9b479ca44bf"/>
    <p:sldId xmlns:r="http://schemas.openxmlformats.org/officeDocument/2006/relationships" id="259" r:id="Rf41af5e12b604753"/>
    <p:sldId xmlns:r="http://schemas.openxmlformats.org/officeDocument/2006/relationships" id="260" r:id="R297f45006d7b4e94"/>
    <p:sldId xmlns:r="http://schemas.openxmlformats.org/officeDocument/2006/relationships" id="261" r:id="R33f3ac944ad84ebc"/>
    <p:sldId xmlns:r="http://schemas.openxmlformats.org/officeDocument/2006/relationships" id="262" r:id="R367cf0e465cd4b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71c86e03394e5f" /><Relationship Type="http://schemas.openxmlformats.org/officeDocument/2006/relationships/slideMaster" Target="/ppt/slideMasters/slideMaster1.xml" Id="R6cc5097a733c427f" /><Relationship Type="http://schemas.openxmlformats.org/officeDocument/2006/relationships/notesMaster" Target="/ppt/notesMasters/notesMaster1.xml" Id="R4584b62e95cc4fb4" /><Relationship Type="http://schemas.openxmlformats.org/officeDocument/2006/relationships/presProps" Target="/ppt/presProps.xml" Id="R49936fe278dd4e4f" /><Relationship Type="http://schemas.openxmlformats.org/officeDocument/2006/relationships/tableStyles" Target="/ppt/tableStyles.xml" Id="Rbe2cb18608c9481c" /><Relationship Type="http://schemas.openxmlformats.org/officeDocument/2006/relationships/slide" Target="/ppt/slides/slide1.xml" Id="R160b98ccacf24f25" /><Relationship Type="http://schemas.openxmlformats.org/officeDocument/2006/relationships/slide" Target="/ppt/slides/slide2.xml" Id="Raa70b1a1eb7f43b3" /><Relationship Type="http://schemas.openxmlformats.org/officeDocument/2006/relationships/slide" Target="/ppt/slides/slide3.xml" Id="R1916e9b479ca44bf" /><Relationship Type="http://schemas.openxmlformats.org/officeDocument/2006/relationships/slide" Target="/ppt/slides/slide4.xml" Id="Rf41af5e12b604753" /><Relationship Type="http://schemas.openxmlformats.org/officeDocument/2006/relationships/slide" Target="/ppt/slides/slide5.xml" Id="R297f45006d7b4e94" /><Relationship Type="http://schemas.openxmlformats.org/officeDocument/2006/relationships/slide" Target="/ppt/slides/slide6.xml" Id="R33f3ac944ad84ebc" /><Relationship Type="http://schemas.openxmlformats.org/officeDocument/2006/relationships/slide" Target="/ppt/slides/slide7.xml" Id="R367cf0e465cd4b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7f24b7506f4f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392ea122e74f3a" /><Relationship Type="http://schemas.openxmlformats.org/officeDocument/2006/relationships/notesMaster" Target="/ppt/notesMasters/notesMaster1.xml" Id="Rbe3ff1775f3f4e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c1f2c872014728" /><Relationship Type="http://schemas.openxmlformats.org/officeDocument/2006/relationships/notesMaster" Target="/ppt/notesMasters/notesMaster1.xml" Id="Rb2510f4c2fff45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2d51c0933d436b" /><Relationship Type="http://schemas.openxmlformats.org/officeDocument/2006/relationships/notesMaster" Target="/ppt/notesMasters/notesMaster1.xml" Id="R1f3daf0435334e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c5c8c2014b4495" /><Relationship Type="http://schemas.openxmlformats.org/officeDocument/2006/relationships/notesMaster" Target="/ppt/notesMasters/notesMaster1.xml" Id="R581c72165e624f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717e72e3904105" /><Relationship Type="http://schemas.openxmlformats.org/officeDocument/2006/relationships/notesMaster" Target="/ppt/notesMasters/notesMaster1.xml" Id="Rc4766870ef924d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2577e876014a0e" /><Relationship Type="http://schemas.openxmlformats.org/officeDocument/2006/relationships/notesMaster" Target="/ppt/notesMasters/notesMaster1.xml" Id="R816d8ae29b9d4d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791927c42b4b17" /><Relationship Type="http://schemas.openxmlformats.org/officeDocument/2006/relationships/notesMaster" Target="/ppt/notesMasters/notesMaster1.xml" Id="R00d8c64e86fc48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real Hopper and separate visible external sensors from internal flight electronics.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high-resolution photograph: drone_photos/IMG_4476.jpeg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low-resolution sensor-map reference is intentionally not used. The new layout uses the authentic high-resolution underside photograph and distinguishes visible modules from internal sensors. Exact internal component placement is not inferred from the photograph.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high-resolution photograph: drone_photos/IMG_4476.jpeg</a:t>
            </a:r>
          </a:p>
          <a:p xmlns:a="http://schemas.openxmlformats.org/drawingml/2006/main">
            <a:r>
              <a:t>- Existing Hopper sensor lesson: local_site/scripts/generate-information-pdfs.py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Existing sensor-suite lesson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Hopper Studio project README and sensor lesson.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onboard controller combines inertial, optical-flow, range, pressure, and magnetic cues into an estimated state. The state estimate—not any one raw sensor—feeds the controller, which continually updates the motor command.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Hopper Studio project README and sensor lesson.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Existing sensor-suite lesson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Hopper Studio project README and sensor lesson.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Bluetooth controls flight and reports limited state. Wi-Fi/HTTP transports the camera stream. The paths are independent, so a green Bluetooth connection does not prove that browser-readable pixels are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Hopper Studio implementation: local_site/lib/drone.ts</a:t>
            </a:r>
          </a:p>
          <a:p xmlns:a="http://schemas.openxmlformats.org/drawingml/2006/main">
            <a:r>
              <a:t>- Hopper Studio implementation: local_site/lib/vision.ts</a:t>
            </a:r>
          </a:p>
          <a:p xmlns:a="http://schemas.openxmlformats.org/drawingml/2006/main">
            <a:r>
              <a:t>- Hopper Studio camera proxy: local_site/desktop/server.mjs and app/api/camera/route.ts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Existing sensor-suite preflight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Hopper Studio project README and sensor lesson.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ffdb912e3044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95cb58da234709" /><Relationship Type="http://schemas.openxmlformats.org/officeDocument/2006/relationships/slideLayout" Target="/ppt/slideLayouts/slideLayout1.xml" Id="R716b79eebd924b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6b79eebd924b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4741596514dbe" /><Relationship Type="http://schemas.openxmlformats.org/officeDocument/2006/relationships/image" Target="/ppt/media/image.jpeg" Id="R0968157d555641d7" /><Relationship Type="http://schemas.openxmlformats.org/officeDocument/2006/relationships/image" Target="/ppt/media/image.png" Id="Rbc9bdc2a0f3a4dc6" /><Relationship Type="http://schemas.openxmlformats.org/officeDocument/2006/relationships/notesSlide" Target="/ppt/notesSlides/notesSlide1.xml" Id="R1db1aedd51c745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daa2d5d3e4406" /><Relationship Type="http://schemas.openxmlformats.org/officeDocument/2006/relationships/image" Target="/ppt/media/image2.png" Id="R19e955d03d9047ba" /><Relationship Type="http://schemas.openxmlformats.org/officeDocument/2006/relationships/image" Target="/ppt/media/image2.jpeg" Id="R2c8beecaa38449d1" /><Relationship Type="http://schemas.openxmlformats.org/officeDocument/2006/relationships/notesSlide" Target="/ppt/notesSlides/notesSlide2.xml" Id="R2ada89c93a5b45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9a43f7a1c4103" /><Relationship Type="http://schemas.openxmlformats.org/officeDocument/2006/relationships/image" Target="/ppt/media/image3.png" Id="Rcd008439b19c4eb3" /><Relationship Type="http://schemas.openxmlformats.org/officeDocument/2006/relationships/notesSlide" Target="/ppt/notesSlides/notesSlide3.xml" Id="R1de40f26045d4f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25e33f0384afd" /><Relationship Type="http://schemas.openxmlformats.org/officeDocument/2006/relationships/image" Target="/ppt/media/image4.png" Id="Rd32cdaf49cd8486c" /><Relationship Type="http://schemas.openxmlformats.org/officeDocument/2006/relationships/notesSlide" Target="/ppt/notesSlides/notesSlide4.xml" Id="R0f07a92fc46d4a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5b3f2a9324ad4" /><Relationship Type="http://schemas.openxmlformats.org/officeDocument/2006/relationships/image" Target="/ppt/media/image5.png" Id="R65eef3fccc3f49fe" /><Relationship Type="http://schemas.openxmlformats.org/officeDocument/2006/relationships/notesSlide" Target="/ppt/notesSlides/notesSlide5.xml" Id="R4506eba17e544d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f44732e35445c" /><Relationship Type="http://schemas.openxmlformats.org/officeDocument/2006/relationships/image" Target="/ppt/media/image6.png" Id="Rf57d0932dc8743c0" /><Relationship Type="http://schemas.openxmlformats.org/officeDocument/2006/relationships/notesSlide" Target="/ppt/notesSlides/notesSlide6.xml" Id="Rcbc9b9c9919446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c44910cc5423d" /><Relationship Type="http://schemas.openxmlformats.org/officeDocument/2006/relationships/image" Target="/ppt/media/image7.png" Id="Rc163aa75bd5a42b7" /><Relationship Type="http://schemas.openxmlformats.org/officeDocument/2006/relationships/notesSlide" Target="/ppt/notesSlides/notesSlide7.xml" Id="R9364ccfb34ee4d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8157d555641d7"/>
          <a:srcRect xmlns:a="http://schemas.openxmlformats.org/drawingml/2006/main" l="0" t="10411" r="0" b="104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950" y="0"/>
            <a:ext cx="64960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EA98C-7AD8-44FC-9875-EF024128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0"/>
            <a:ext cx="5905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D5316-B03F-459A-A346-8C43600B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bdc2a0f3a4dc6"/>
          <a:stretch xmlns:a="http://schemas.openxmlformats.org/drawingml/2006/main"/>
        </p:blipFill>
        <p:spPr>
          <a:xfrm xmlns:a="http://schemas.openxmlformats.org/drawingml/2006/main">
            <a:off x="1115994" y="561975"/>
            <a:ext cx="1177963" cy="590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290BE-8B86-42B6-8936-8C44A852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B8B4"/>
                </a:solidFill>
              </a:defRPr>
            </a:pPr>
            <a:r>
              <a:rPr sz="975" b="1">
                <a:solidFill>
                  <a:srgbClr val="14B8B4"/>
                </a:solidFill>
              </a:rPr>
              <a:t>HOPPER INFORMATION SERIES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7BAE4-5592-46D0-91D9-AC109CB7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9A227"/>
                </a:solidFill>
              </a:defRPr>
            </a:pPr>
            <a:r>
              <a:rPr sz="900" b="1">
                <a:solidFill>
                  <a:srgbClr val="C9A227"/>
                </a:solidFill>
              </a:rPr>
              <a:t>SENSOR SUITE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3304F-4365-4FEC-B61D-983D0DC2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Hopper sensor suite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24D01-8BDB-46E4-A92B-245C37D9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25"/>
            <a:ext cx="466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4E2E8"/>
                </a:solidFill>
              </a:defRPr>
            </a:pPr>
            <a:r>
              <a:rPr sz="1500">
                <a:solidFill>
                  <a:srgbClr val="D4E2E8"/>
                </a:solidFill>
              </a:rPr>
              <a:t>How an indoor quadrotor measures motion, sees the room, and stays stable without GPS.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6391C-F8A5-4679-A1AD-79D132A6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72100"/>
            <a:ext cx="952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54"/>
          </a:solidFill>
          <a:ln xmlns:a="http://schemas.openxmlformats.org/drawingml/2006/main" w="14288">
            <a:solidFill>
              <a:srgbClr val="1236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NO GPS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A7874-4500-4850-8561-FC3A9A16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72100"/>
            <a:ext cx="1600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54"/>
          </a:solidFill>
          <a:ln xmlns:a="http://schemas.openxmlformats.org/drawingml/2006/main" w="14288">
            <a:solidFill>
              <a:srgbClr val="1236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INDOOR SENSING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D0460-73D9-4523-AFBC-69993C71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72100"/>
            <a:ext cx="15335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14288">
            <a:solidFill>
              <a:srgbClr val="008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SENSOR FUSION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4410B-F499-4688-BA37-9A87BDB2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56E"/>
          </a:solidFill>
          <a:ln xmlns:a="http://schemas.openxmlformats.org/drawingml/2006/main" w="0">
            <a:solidFill>
              <a:srgbClr val="3355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7D072-6F65-481F-9EC4-9C153CC4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04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4AFBC"/>
                </a:solidFill>
              </a:defRPr>
            </a:pPr>
            <a:r>
              <a:rPr sz="750">
                <a:solidFill>
                  <a:srgbClr val="94AFBC"/>
                </a:solidFill>
              </a:rPr>
              <a:t>DECK 01  |  SENSOR SUITE</a:t>
            </a:r>
          </a:p>
        </p:txBody>
      </p:sp>
    </p:spTree>
    <p:extLst>
      <p:ext uri="{BB962C8B-B14F-4D97-AF65-F5344CB8AC3E}">
        <p14:creationId xmlns:p14="http://schemas.microsoft.com/office/powerpoint/2010/main" val="9078259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0E6CA9-AF61-4BF2-BB9E-92B476A1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139A9-D558-461C-8DB9-C0C7BBBE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B39BD-1960-46B4-940C-5278376F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SENSOR SUITE /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C3438-024D-4B31-9AF4-BE8E7726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9A227"/>
                </a:solidFill>
              </a:defRPr>
            </a:pPr>
            <a:r>
              <a:rPr sz="750" b="1">
                <a:solidFill>
                  <a:srgbClr val="C9A227"/>
                </a:solidFill>
              </a:rPr>
              <a:t>REAL HARDWARE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B9BD7-9D48-443D-91E2-56AD3C5B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04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1B3A"/>
                </a:solidFill>
              </a:defRPr>
            </a:pPr>
            <a:r>
              <a:rPr sz="2700" b="1">
                <a:solidFill>
                  <a:srgbClr val="001B3A"/>
                </a:solidFill>
              </a:rPr>
              <a:t>External sensors see the room; internal sensors track motion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955d03d9047ba"/>
          <a:stretch xmlns:a="http://schemas.openxmlformats.org/drawingml/2006/main"/>
        </p:blipFill>
        <p:spPr>
          <a:xfrm xmlns:a="http://schemas.openxmlformats.org/drawingml/2006/main">
            <a:off x="11258550" y="399746"/>
            <a:ext cx="457200" cy="2292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85FD8-9832-4D58-9D0A-73CE2D7F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F"/>
          </a:solidFill>
          <a:ln xmlns:a="http://schemas.openxmlformats.org/drawingml/2006/main" w="0">
            <a:solidFill>
              <a:srgbClr val="B8C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B9411-DDFE-4FB1-AE96-C9AE956A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WRC | HOPPER STUDIO | INFORMATION 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509AE-A3D8-4BFE-881C-4137C9E4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23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2 / 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93178-E68D-44C8-8870-35C635BE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333500"/>
            <a:ext cx="3810000" cy="476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D5DB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beecaa38449d1"/>
          <a:stretch xmlns:a="http://schemas.openxmlformats.org/drawingml/2006/main"/>
        </p:blipFill>
        <p:spPr>
          <a:xfrm xmlns:a="http://schemas.openxmlformats.org/drawingml/2006/main">
            <a:off x="4248150" y="1428750"/>
            <a:ext cx="3429000" cy="4572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EFB42-68FC-4843-8A91-5FCD7052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76600"/>
            <a:ext cx="1714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17F23A-6EDB-46DF-8A7E-F652FB92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67150"/>
            <a:ext cx="1714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4CFB3-CF9D-430C-A1B6-AE51F7C7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857500" cy="11906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46914D-8C98-4004-BA57-DC3F9636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2857500" cy="14287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52" name=""/>
          <p:cNvCxnSpPr>
            <a:stCxn xmlns:a="http://schemas.openxmlformats.org/drawingml/2006/main" id="14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524250" y="2386013"/>
            <a:ext cx="2266950" cy="9763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C95"/>
            </a:solidFill>
            <a:prstDash val="solid"/>
            <a:tailEnd type="triangle" w="med" len="med"/>
          </a:ln>
        </p:spPr>
      </p:cxnSp>
      <p:cxnSp>
        <p:nvCxnSpPr>
          <p:cNvPr id="53" name=""/>
          <p:cNvCxnSpPr>
            <a:stCxn xmlns:a="http://schemas.openxmlformats.org/drawingml/2006/main" id="1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3524250" y="3952875"/>
            <a:ext cx="2266950" cy="571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A227"/>
            </a:solidFill>
            <a:prstDash val="solid"/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A2397F-AF56-48DA-83C3-257247BF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76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FDDB1-B1B9-4D01-AED2-B4F6B77D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67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3A88AC-C96B-491C-BF5A-4AF6F3D6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028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D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1BA149-7798-44AE-93ED-9B3FEEAB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BDEA54-DEBE-4937-88A4-A4E3388C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FORWARD RGB CAMERA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033260-8016-494E-A349-7DB03C8E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2609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Supplies the Wi-Fi video stream used by Hopper Studio vision.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It is not part of the Bluetooth flight-control link.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2231F8-B8D8-4EFD-998C-60EC7244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0289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EFCF"/>
          </a:solidFill>
          <a:ln xmlns:a="http://schemas.openxmlformats.org/drawingml/2006/main" w="14288">
            <a:solidFill>
              <a:srgbClr val="C6D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0CDC6D-9A86-4DFA-BCED-D6294C08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B712D9-FD9C-4A03-8712-CE86419B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DOWNWARD SENSING MODULE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1D587D-4FC5-46EB-80AA-EE47C820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14775"/>
            <a:ext cx="2609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Optical flow estimates motion over the floor.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Time-of-flight range provides a short-range floor-distance cue.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9B1B7B-BAF4-4AF8-9C44-CB33B71F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19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C95"/>
                </a:solidFill>
              </a:defRPr>
            </a:pPr>
            <a:r>
              <a:rPr sz="1350" b="1">
                <a:solidFill>
                  <a:srgbClr val="008C95"/>
                </a:solidFill>
              </a:rPr>
              <a:t>Visible hardware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931BF2-9183-4A75-8FD2-D512136E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36A7B"/>
                </a:solidFill>
              </a:defRPr>
            </a:pPr>
            <a:r>
              <a:rPr sz="1125">
                <a:solidFill>
                  <a:srgbClr val="536A7B"/>
                </a:solidFill>
              </a:rPr>
              <a:t>The exposed underside makes the camera and downward sensor cluster easy to inspect.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73BB00-D1DA-4EBD-9733-2057B693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3909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D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165072-C430-4245-983C-C3F396AB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666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188C86-1A11-41C4-9C32-BF17CD8B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145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INSIDE THE BODY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95DA62-8F20-4888-BF13-E3BB0CDB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05025"/>
            <a:ext cx="29718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IMU: accelerometers + gyroscopes.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Barometer: air-pressure change.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Magnetometer: heading cue.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Temperature sensing and the flight controller support compensation and fusion.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D8E4CA-A134-4DCF-9823-63CF6F6B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57700"/>
            <a:ext cx="33909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BE4E7"/>
          </a:solidFill>
          <a:ln xmlns:a="http://schemas.openxmlformats.org/drawingml/2006/main" w="14288">
            <a:solidFill>
              <a:srgbClr val="D94F5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5A4F74-98AB-4483-8243-79C0499E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8630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4F5C"/>
                </a:solidFill>
              </a:defRPr>
            </a:pPr>
            <a:r>
              <a:rPr sz="2100" b="1">
                <a:solidFill>
                  <a:srgbClr val="D94F5C"/>
                </a:solidFill>
              </a:rPr>
              <a:t>NO GPS / GNSS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8EC7BA-D1FC-4F90-8386-90546707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5780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001B3A"/>
                </a:solidFill>
              </a:defRPr>
            </a:pPr>
            <a:r>
              <a:rPr sz="1200">
                <a:solidFill>
                  <a:srgbClr val="001B3A"/>
                </a:solidFill>
              </a:rPr>
              <a:t>No latitude/longitude, global waypoint position, or GPS-derived speed.</a:t>
            </a:r>
          </a:p>
        </p:txBody>
      </p:sp>
    </p:spTree>
    <p:extLst>
      <p:ext uri="{BB962C8B-B14F-4D97-AF65-F5344CB8AC3E}">
        <p14:creationId xmlns:p14="http://schemas.microsoft.com/office/powerpoint/2010/main" val="2597515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08439b19c4e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24A1D-3943-4311-BE63-10E43E70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717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FFA9F-C73C-402F-B9A2-2C8AD1B3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</a:defRPr>
            </a:pPr>
            <a:r>
              <a:rPr sz="750" b="1">
                <a:solidFill>
                  <a:srgbClr val="008C95"/>
                </a:solidFill>
              </a:rPr>
              <a:t>SENSOR SUITE /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D0A4E-9D54-4B5E-8D43-645B0C11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96050"/>
            <a:ext cx="914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A8D84-4638-4D83-8D7C-D1CA1CB8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72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3 / 7</a:t>
            </a:r>
          </a:p>
        </p:txBody>
      </p:sp>
    </p:spTree>
    <p:extLst>
      <p:ext uri="{BB962C8B-B14F-4D97-AF65-F5344CB8AC3E}">
        <p14:creationId xmlns:p14="http://schemas.microsoft.com/office/powerpoint/2010/main" val="6256072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45CE0B0-9AD7-4A65-8F8D-BEF4F24A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BA4E4-C20F-4F86-A9B3-6048CE27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3FF67-738E-47DC-A4AF-DE5027A1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SENSOR SUITE /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1B754-1C1A-4DAB-A45D-313E085E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9A227"/>
                </a:solidFill>
              </a:defRPr>
            </a:pPr>
            <a:r>
              <a:rPr sz="750" b="1">
                <a:solidFill>
                  <a:srgbClr val="C9A227"/>
                </a:solidFill>
              </a:rPr>
              <a:t>FROM MEASUREMENT TO MOTOR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DFBA4-DBC0-43A2-90BB-B21E4E93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04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1B3A"/>
                </a:solidFill>
              </a:defRPr>
            </a:pPr>
            <a:r>
              <a:rPr sz="2700" b="1">
                <a:solidFill>
                  <a:srgbClr val="001B3A"/>
                </a:solidFill>
              </a:rPr>
              <a:t>Sensor fusion closes the control loop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cdaf49cd8486c"/>
          <a:stretch xmlns:a="http://schemas.openxmlformats.org/drawingml/2006/main"/>
        </p:blipFill>
        <p:spPr>
          <a:xfrm xmlns:a="http://schemas.openxmlformats.org/drawingml/2006/main">
            <a:off x="11258550" y="399746"/>
            <a:ext cx="457200" cy="2292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94F20-BCAA-4069-9698-315E275A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F"/>
          </a:solidFill>
          <a:ln xmlns:a="http://schemas.openxmlformats.org/drawingml/2006/main" w="0">
            <a:solidFill>
              <a:srgbClr val="B8C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05887-DC3D-4534-A2C8-72FA0460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WRC | HOPPER STUDIO | INFORMATION 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3529C-9818-4341-979C-EA10C74E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23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4 / 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3558E-FE78-411A-B239-3852DA1A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400300" cy="14668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0B3F5-3A12-4AFE-A501-4DA29462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81150"/>
            <a:ext cx="2400300" cy="14668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CDB38-3B03-4422-941C-7B98C4A6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81150"/>
            <a:ext cx="2400300" cy="14668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21A9E-99BA-42EC-B5CA-2F703B74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81150"/>
            <a:ext cx="2400300" cy="14668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73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009900" y="23145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C95"/>
            </a:solidFill>
            <a:prstDash val="solid"/>
            <a:tailEnd type="triangle" w="med" len="med"/>
          </a:ln>
        </p:spPr>
      </p:cxnSp>
      <p:cxnSp>
        <p:nvCxnSpPr>
          <p:cNvPr id="74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29300" y="23145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C95"/>
            </a:solidFill>
            <a:prstDash val="solid"/>
            <a:tailEnd type="triangle" w="med" len="med"/>
          </a:ln>
        </p:spPr>
      </p:cxnSp>
      <p:cxnSp>
        <p:nvCxnSpPr>
          <p:cNvPr id="75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48700" y="23145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C95"/>
            </a:solidFill>
            <a:prstDash val="solid"/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0505D-4D81-4FB9-8BE0-4322EEB6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4003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D2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3DB94-5F27-42A8-95A3-EA3ACC88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14288">
            <a:solidFill>
              <a:srgbClr val="008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2FAFAF-A8ED-4B62-8A2B-82D5C11B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907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1B3A"/>
                </a:solidFill>
              </a:defRPr>
            </a:pPr>
            <a:r>
              <a:rPr sz="1425" b="1">
                <a:solidFill>
                  <a:srgbClr val="001B3A"/>
                </a:solidFill>
              </a:rPr>
              <a:t>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2C51E3-DEAE-478A-89D6-9BBF3542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201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A7B"/>
                </a:solidFill>
              </a:defRPr>
            </a:pPr>
            <a:r>
              <a:rPr sz="1050">
                <a:solidFill>
                  <a:srgbClr val="536A7B"/>
                </a:solidFill>
              </a:rPr>
              <a:t>Blocks or JavaScript request a motion.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6DB96D-1746-4565-9852-F29A6407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81150"/>
            <a:ext cx="24003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D2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EDFED4-83D7-40E6-92C4-96C67C8D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5260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14288">
            <a:solidFill>
              <a:srgbClr val="008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EBD36C-D315-4D39-B6B0-A56DAE7C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907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1B3A"/>
                </a:solidFill>
              </a:defRPr>
            </a:pPr>
            <a:r>
              <a:rPr sz="1425" b="1">
                <a:solidFill>
                  <a:srgbClr val="001B3A"/>
                </a:solidFill>
              </a:rPr>
              <a:t>Controller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C4739D-5610-42A5-82A7-4643176E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47900"/>
            <a:ext cx="201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A7B"/>
                </a:solidFill>
              </a:defRPr>
            </a:pPr>
            <a:r>
              <a:rPr sz="1050">
                <a:solidFill>
                  <a:srgbClr val="536A7B"/>
                </a:solidFill>
              </a:rPr>
              <a:t>Target thrust and attitude are calculated.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D6016D-353A-46D4-BCCB-7AF1C7EF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81150"/>
            <a:ext cx="24003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D2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ED9911-F91C-4F6A-8B03-E220241F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5260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14288">
            <a:solidFill>
              <a:srgbClr val="008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C5C9E1-83B2-4204-BC4E-6C82A72D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907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1B3A"/>
                </a:solidFill>
              </a:defRPr>
            </a:pPr>
            <a:r>
              <a:rPr sz="1425" b="1">
                <a:solidFill>
                  <a:srgbClr val="001B3A"/>
                </a:solidFill>
              </a:rPr>
              <a:t>Motors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667647-4D98-4F9F-93EB-C4375916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201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A7B"/>
                </a:solidFill>
              </a:defRPr>
            </a:pPr>
            <a:r>
              <a:rPr sz="1050">
                <a:solidFill>
                  <a:srgbClr val="536A7B"/>
                </a:solidFill>
              </a:rPr>
              <a:t>Four rotor speeds create force and torque.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48B3FF-CF19-401B-9EBB-3C3EBD00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81150"/>
            <a:ext cx="24003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001B3A"/>
          </a:solidFill>
          <a:ln xmlns:a="http://schemas.openxmlformats.org/drawingml/2006/main" w="14288">
            <a:solidFill>
              <a:srgbClr val="001B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7B7953-96BF-4D34-A55D-8955B3DF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5260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A227"/>
          </a:solidFill>
          <a:ln xmlns:a="http://schemas.openxmlformats.org/drawingml/2006/main" w="14288">
            <a:solidFill>
              <a:srgbClr val="C9A2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1B3A"/>
                </a:solidFill>
              </a:defRPr>
            </a:pPr>
            <a:r>
              <a:rPr sz="1050" b="1">
                <a:solidFill>
                  <a:srgbClr val="001B3A"/>
                </a:solidFill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F0B7F6-365B-4941-8AEB-9194AEA1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907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Aircraft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8BFA17-8D8A-4F6A-A63C-69A185DD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47900"/>
            <a:ext cx="201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6E7EC"/>
                </a:solidFill>
              </a:defRPr>
            </a:pPr>
            <a:r>
              <a:rPr sz="1050">
                <a:solidFill>
                  <a:srgbClr val="D6E7EC"/>
                </a:solidFill>
              </a:rPr>
              <a:t>The body moves through the room.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806E06-B1C0-43C3-B75C-09FB2BFF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0000"/>
            <a:ext cx="9715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DF2F1"/>
          </a:solidFill>
          <a:ln xmlns:a="http://schemas.openxmlformats.org/drawingml/2006/main" w="14288">
            <a:solidFill>
              <a:srgbClr val="9FD4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861886-751B-4944-A2F0-998CCD63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81450"/>
            <a:ext cx="21526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14288">
            <a:solidFill>
              <a:srgbClr val="008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ONBOARD SENSOR FUSION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FCC14E-FB89-4DE3-A2B9-E91358A0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55340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0459E0-FAFF-4D58-8C98-D6ACD094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55340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96" name=""/>
          <p:cNvCxnSpPr>
            <a:stCxn xmlns:a="http://schemas.openxmlformats.org/drawingml/2006/main" id="35" idx="1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H="1">
            <a:off x="5724525" y="5543550"/>
            <a:ext cx="5010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C95"/>
            </a:solidFill>
            <a:prstDash val="solid"/>
            <a:tailEnd type="triangle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2138DC-4EA0-47B3-BA75-FD390B19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5053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3C4462-5174-4E1A-9129-FAA58E68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3847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99" name=""/>
          <p:cNvCxnSpPr>
            <a:stCxn xmlns:a="http://schemas.openxmlformats.org/drawingml/2006/main" id="38" idx="0"/>
            <a:endCxn xmlns:a="http://schemas.openxmlformats.org/drawingml/2006/main" id="39" idx="2"/>
          </p:cNvCxnSpPr>
          <p:nvPr/>
        </p:nvCxnSpPr>
        <p:spPr>
          <a:xfrm xmlns:a="http://schemas.openxmlformats.org/drawingml/2006/main" flipV="1">
            <a:off x="4552950" y="3057525"/>
            <a:ext cx="76200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9A227"/>
            </a:solidFill>
            <a:prstDash val="solid"/>
            <a:tailEnd type="triangl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4DBB82-A6A1-4F35-922C-6A82D0D5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1485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01B3A"/>
          </a:solidFill>
          <a:ln xmlns:a="http://schemas.openxmlformats.org/drawingml/2006/main" w="14288">
            <a:solidFill>
              <a:srgbClr val="001B3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52C1FA-E1BE-4256-AC2F-D9D13DF0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7053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A227"/>
                </a:solidFill>
              </a:defRPr>
            </a:pPr>
            <a:r>
              <a:rPr sz="1500" b="1">
                <a:solidFill>
                  <a:srgbClr val="C9A227"/>
                </a:solidFill>
              </a:rPr>
              <a:t>STATE ESTIMATE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7CB3E0-5304-4B9B-A3B3-2F9DAE8F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67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Fused attitude, rates,</a:t>
            </a:r>
          </a:p>
          <a:p xmlns:a="http://schemas.openxmlformats.org/drawingml/2006/main">
            <a:pPr algn="ct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height trend, and motion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81EDC6-C44E-43E8-9FD2-DB6ED018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391150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230E2A-1D32-4F7D-85E7-70D7353F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053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8C9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FB9FB6-EF87-48CB-A59A-51E4DFC2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33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1B3A"/>
                </a:solidFill>
              </a:defRPr>
            </a:pPr>
            <a:r>
              <a:rPr sz="1050" b="1">
                <a:solidFill>
                  <a:srgbClr val="001B3A"/>
                </a:solidFill>
              </a:rPr>
              <a:t>IMU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D1CFC6-5D15-4BD8-AA51-2D7F1A1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5391150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677134-56B2-42F8-A084-8EF1C923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053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9A22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F5FAC6-EC87-4C1D-9E8A-BB772F2A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33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1B3A"/>
                </a:solidFill>
              </a:defRPr>
            </a:pPr>
            <a:r>
              <a:rPr sz="1050" b="1">
                <a:solidFill>
                  <a:srgbClr val="001B3A"/>
                </a:solidFill>
              </a:rPr>
              <a:t>FLOW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6F357D3-4AD3-428E-9F66-E3006CDB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391150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1FB5D5-3056-4905-9B9A-59788F51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053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8C9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A20509-8660-4C0F-ABB6-54D74270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33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1B3A"/>
                </a:solidFill>
              </a:defRPr>
            </a:pPr>
            <a:r>
              <a:rPr sz="1050" b="1">
                <a:solidFill>
                  <a:srgbClr val="001B3A"/>
                </a:solidFill>
              </a:rPr>
              <a:t>TOF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1876B59-6F46-452B-A2EE-45280000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391150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9CDABB1-5532-41F0-8B2C-6A2607F4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053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9A22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B292D1B-16DA-402C-8CED-6D405AB9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33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1B3A"/>
                </a:solidFill>
              </a:defRPr>
            </a:pPr>
            <a:r>
              <a:rPr sz="1050" b="1">
                <a:solidFill>
                  <a:srgbClr val="001B3A"/>
                </a:solidFill>
              </a:rPr>
              <a:t>BARO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1F185E3-F63D-4617-92B7-0A10CFAB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391150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E0EE87B-5435-4F7E-AD54-5A1A79C7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7053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8C9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9765924-B14E-44FF-ACC0-C6C8C127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933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1B3A"/>
                </a:solidFill>
              </a:defRPr>
            </a:pPr>
            <a:r>
              <a:rPr sz="1050" b="1">
                <a:solidFill>
                  <a:srgbClr val="001B3A"/>
                </a:solidFill>
              </a:rPr>
              <a:t>MAG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4610899-1914-4DC1-98A2-FF1BBEE2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15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B3A"/>
                </a:solidFill>
              </a:defRPr>
            </a:pPr>
            <a:r>
              <a:rPr sz="1275" b="1">
                <a:solidFill>
                  <a:srgbClr val="001B3A"/>
                </a:solidFill>
              </a:rPr>
              <a:t>The controller corrects motor commands from one fused state estimate—not from any single raw sensor.</a:t>
            </a:r>
          </a:p>
        </p:txBody>
      </p:sp>
    </p:spTree>
    <p:extLst>
      <p:ext uri="{BB962C8B-B14F-4D97-AF65-F5344CB8AC3E}">
        <p14:creationId xmlns:p14="http://schemas.microsoft.com/office/powerpoint/2010/main" val="18183924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ef3fccc3f49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69ADF-AA29-455B-AFF6-D50AAA07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717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8971D-9458-4404-821A-7A58B4F2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</a:defRPr>
            </a:pPr>
            <a:r>
              <a:rPr sz="750" b="1">
                <a:solidFill>
                  <a:srgbClr val="008C95"/>
                </a:solidFill>
              </a:rPr>
              <a:t>SENSOR SUITE /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C053B-7DC9-4926-B215-BFAA395E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96050"/>
            <a:ext cx="914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99D08-246D-4185-B8E0-D9531D0F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72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5 / 7</a:t>
            </a:r>
          </a:p>
        </p:txBody>
      </p:sp>
    </p:spTree>
    <p:extLst>
      <p:ext uri="{BB962C8B-B14F-4D97-AF65-F5344CB8AC3E}">
        <p14:creationId xmlns:p14="http://schemas.microsoft.com/office/powerpoint/2010/main" val="14494505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81C767F-25CD-4080-90C5-527D93CF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245B1-0452-403C-A695-677B16FB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01C17-3874-4B85-8CC8-2CA2FF5B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SENSOR SUITE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9C043-8015-4E8C-855D-EC73814B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9A227"/>
                </a:solidFill>
              </a:defRPr>
            </a:pPr>
            <a:r>
              <a:rPr sz="750" b="1">
                <a:solidFill>
                  <a:srgbClr val="C9A227"/>
                </a:solidFill>
              </a:rPr>
              <a:t>HOPPER STUDIO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98CC7-6E74-4724-BC43-EA7B43C6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04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1B3A"/>
                </a:solidFill>
              </a:defRPr>
            </a:pPr>
            <a:r>
              <a:rPr sz="2700" b="1">
                <a:solidFill>
                  <a:srgbClr val="001B3A"/>
                </a:solidFill>
              </a:rPr>
              <a:t>Camera and communication are separate paths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d0932dc8743c0"/>
          <a:stretch xmlns:a="http://schemas.openxmlformats.org/drawingml/2006/main"/>
        </p:blipFill>
        <p:spPr>
          <a:xfrm xmlns:a="http://schemas.openxmlformats.org/drawingml/2006/main">
            <a:off x="11258550" y="399746"/>
            <a:ext cx="457200" cy="2292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11EA5-1E36-4BA6-AF8D-1D4344E5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F"/>
          </a:solidFill>
          <a:ln xmlns:a="http://schemas.openxmlformats.org/drawingml/2006/main" w="0">
            <a:solidFill>
              <a:srgbClr val="B8C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F905A-2D47-4348-A868-F03567FE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WRC | HOPPER STUDIO | INFORMATION 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A1ED5-F9C7-413B-85B3-C0290BC8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23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6 / 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4B04F-0D23-4D1A-AE4D-9C418454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524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14288">
            <a:solidFill>
              <a:srgbClr val="008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FLIGHT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BCAB2-EE6C-4C35-B1CD-FC257178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33550"/>
            <a:ext cx="1924050" cy="15240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2F39C-51BB-4E9C-B40A-0D28E163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3550"/>
            <a:ext cx="1924050" cy="15240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06A70-8F75-4EE0-8AB2-780DF01F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33550"/>
            <a:ext cx="1924050" cy="15240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53CEA-8534-4E09-B12A-3B8C4577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33550"/>
            <a:ext cx="1924050" cy="15240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74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495800" y="24955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C95"/>
            </a:solidFill>
            <a:prstDash val="solid"/>
            <a:tailEnd type="triangle" w="med" len="med"/>
          </a:ln>
        </p:spPr>
      </p:cxnSp>
      <p:cxnSp>
        <p:nvCxnSpPr>
          <p:cNvPr id="75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762750" y="24955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C95"/>
            </a:solidFill>
            <a:prstDash val="solid"/>
            <a:tailEnd type="triangle" w="med" len="med"/>
          </a:ln>
        </p:spPr>
      </p:cxnSp>
      <p:cxnSp>
        <p:nvCxnSpPr>
          <p:cNvPr id="76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029700" y="24955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C95"/>
            </a:solidFill>
            <a:prstDash val="solid"/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1305AA-2F03-43EA-9850-70239ABB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33550"/>
            <a:ext cx="19240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D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9FFF5C-804D-491A-8D73-DE387260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66900"/>
            <a:ext cx="476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14288">
            <a:solidFill>
              <a:srgbClr val="008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5D7447-8752-46FA-804A-FA99D741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66950"/>
            <a:ext cx="1581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1B3A"/>
                </a:solidFill>
              </a:defRPr>
            </a:pPr>
            <a:r>
              <a:rPr sz="1350" b="1">
                <a:solidFill>
                  <a:srgbClr val="001B3A"/>
                </a:solidFill>
              </a:rPr>
              <a:t>Program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DE8130-4970-412C-9B85-AB8DC19B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62250"/>
            <a:ext cx="1581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A7B"/>
                </a:solidFill>
              </a:defRPr>
            </a:pPr>
            <a:r>
              <a:rPr sz="975">
                <a:solidFill>
                  <a:srgbClr val="536A7B"/>
                </a:solidFill>
              </a:rPr>
              <a:t>Flight command or state request.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2028B3-8DBD-4990-9484-09F6E625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3550"/>
            <a:ext cx="19240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DF2F1"/>
          </a:solidFill>
          <a:ln xmlns:a="http://schemas.openxmlformats.org/drawingml/2006/main" w="14288">
            <a:solidFill>
              <a:srgbClr val="B9CD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9915B7-ED85-4906-951A-730CE53B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66900"/>
            <a:ext cx="476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14288">
            <a:solidFill>
              <a:srgbClr val="008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B8436F-A9C8-4C43-A070-C1F2B5AB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66950"/>
            <a:ext cx="1581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1B3A"/>
                </a:solidFill>
              </a:defRPr>
            </a:pPr>
            <a:r>
              <a:rPr sz="1350" b="1">
                <a:solidFill>
                  <a:srgbClr val="001B3A"/>
                </a:solidFill>
              </a:rPr>
              <a:t>Bluetooth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962672-49B2-444D-AF88-E26D8315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62250"/>
            <a:ext cx="1581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A7B"/>
                </a:solidFill>
              </a:defRPr>
            </a:pPr>
            <a:r>
              <a:rPr sz="975">
                <a:solidFill>
                  <a:srgbClr val="536A7B"/>
                </a:solidFill>
              </a:rPr>
              <a:t>Low-rate command and telemetry link.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78E183-DFF9-4C0E-B547-F3B7B53D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33550"/>
            <a:ext cx="19240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D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C4E2DB-D5DD-4B84-8C20-26B1C129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66900"/>
            <a:ext cx="476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14288">
            <a:solidFill>
              <a:srgbClr val="008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245727-1D61-4337-A996-23AAC6F2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66950"/>
            <a:ext cx="1581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1B3A"/>
                </a:solidFill>
              </a:defRPr>
            </a:pPr>
            <a:r>
              <a:rPr sz="1350" b="1">
                <a:solidFill>
                  <a:srgbClr val="001B3A"/>
                </a:solidFill>
              </a:rPr>
              <a:t>Flight controller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4D65DB-760E-429B-B67E-36E4BBFE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62250"/>
            <a:ext cx="1581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A7B"/>
                </a:solidFill>
              </a:defRPr>
            </a:pPr>
            <a:r>
              <a:rPr sz="975">
                <a:solidFill>
                  <a:srgbClr val="536A7B"/>
                </a:solidFill>
              </a:rPr>
              <a:t>Closes the fast onboard control loops.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71F976-3E0A-4221-948F-6293C5B2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33550"/>
            <a:ext cx="19240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01B3A"/>
          </a:solidFill>
          <a:ln xmlns:a="http://schemas.openxmlformats.org/drawingml/2006/main" w="14288">
            <a:solidFill>
              <a:srgbClr val="001B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9212DE-FE94-4685-8587-3455D684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66900"/>
            <a:ext cx="476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A227"/>
          </a:solidFill>
          <a:ln xmlns:a="http://schemas.openxmlformats.org/drawingml/2006/main" w="14288">
            <a:solidFill>
              <a:srgbClr val="C9A2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ADAE2B-EC07-406F-BCEB-F7643890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66950"/>
            <a:ext cx="1581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Motors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58F386-59FE-46DB-AA2D-FE59A150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62250"/>
            <a:ext cx="1581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6E7EC"/>
                </a:solidFill>
              </a:defRPr>
            </a:pPr>
            <a:r>
              <a:rPr sz="975">
                <a:solidFill>
                  <a:srgbClr val="D6E7EC"/>
                </a:solidFill>
              </a:rPr>
              <a:t>Produce thrust and torque.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3F98BF-EA5C-42DB-9231-252ECB85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524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A227"/>
          </a:solidFill>
          <a:ln xmlns:a="http://schemas.openxmlformats.org/drawingml/2006/main" w="14288">
            <a:solidFill>
              <a:srgbClr val="C9A2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1B3A"/>
                </a:solidFill>
              </a:defRPr>
            </a:pPr>
            <a:r>
              <a:rPr sz="1050" b="1">
                <a:solidFill>
                  <a:srgbClr val="001B3A"/>
                </a:solidFill>
              </a:rPr>
              <a:t>CAMERA PATH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10BEAF-AB70-4AE5-82FB-BE8E4908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10050"/>
            <a:ext cx="1924050" cy="15240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530DC1-C6C1-4BAE-84BC-01F597A7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10050"/>
            <a:ext cx="1924050" cy="15240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1C3A1B-8198-4CA4-B163-C1B614FB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10050"/>
            <a:ext cx="1924050" cy="15240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CA439E-14A8-4293-9E60-B0E3E81E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10050"/>
            <a:ext cx="1924050" cy="15240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98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4495800" y="49720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9A227"/>
            </a:solidFill>
            <a:prstDash val="solid"/>
            <a:tailEnd type="triangle" w="med" len="med"/>
          </a:ln>
        </p:spPr>
      </p:cxnSp>
      <p:cxnSp>
        <p:nvCxnSpPr>
          <p:cNvPr id="99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6762750" y="49720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9A227"/>
            </a:solidFill>
            <a:prstDash val="solid"/>
            <a:tailEnd type="triangle" w="med" len="med"/>
          </a:ln>
        </p:spPr>
      </p:cxnSp>
      <p:cxnSp>
        <p:nvCxnSpPr>
          <p:cNvPr id="100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9029700" y="49720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9A227"/>
            </a:solidFill>
            <a:prstDash val="solid"/>
            <a:tailEnd type="triangle" w="med" len="me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09F121-5D17-435C-9F05-23DEF121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10050"/>
            <a:ext cx="19240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D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88017F-7866-467A-B5DE-2B7A176A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43400"/>
            <a:ext cx="476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A227"/>
          </a:solidFill>
          <a:ln xmlns:a="http://schemas.openxmlformats.org/drawingml/2006/main" w="14288">
            <a:solidFill>
              <a:srgbClr val="C9A2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1B3A"/>
                </a:solidFill>
              </a:defRPr>
            </a:pPr>
            <a:r>
              <a:rPr sz="1050" b="1">
                <a:solidFill>
                  <a:srgbClr val="001B3A"/>
                </a:solidFill>
              </a:rPr>
              <a:t>01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176D73-96EB-4762-926D-456954B3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43450"/>
            <a:ext cx="1581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1B3A"/>
                </a:solidFill>
              </a:defRPr>
            </a:pPr>
            <a:r>
              <a:rPr sz="1350" b="1">
                <a:solidFill>
                  <a:srgbClr val="001B3A"/>
                </a:solidFill>
              </a:rPr>
              <a:t>Camera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4F46E1-1FCD-435F-BB5E-AC046E44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238750"/>
            <a:ext cx="1581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A7B"/>
                </a:solidFill>
              </a:defRPr>
            </a:pPr>
            <a:r>
              <a:rPr sz="975">
                <a:solidFill>
                  <a:srgbClr val="536A7B"/>
                </a:solidFill>
              </a:rPr>
              <a:t>Video from 192.168.2.1.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691BD3-41AD-4084-9748-FD81698A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10050"/>
            <a:ext cx="19240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5EFCF"/>
          </a:solidFill>
          <a:ln xmlns:a="http://schemas.openxmlformats.org/drawingml/2006/main" w="14288">
            <a:solidFill>
              <a:srgbClr val="B9CD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D022BE-1C72-4371-ACA1-7519732D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343400"/>
            <a:ext cx="476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A227"/>
          </a:solidFill>
          <a:ln xmlns:a="http://schemas.openxmlformats.org/drawingml/2006/main" w="14288">
            <a:solidFill>
              <a:srgbClr val="C9A2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1B3A"/>
                </a:solidFill>
              </a:defRPr>
            </a:pPr>
            <a:r>
              <a:rPr sz="1050" b="1">
                <a:solidFill>
                  <a:srgbClr val="001B3A"/>
                </a:solidFill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2A561E-A5C0-4609-ABBE-7BF9CF07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743450"/>
            <a:ext cx="1581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1B3A"/>
                </a:solidFill>
              </a:defRPr>
            </a:pPr>
            <a:r>
              <a:rPr sz="1350" b="1">
                <a:solidFill>
                  <a:srgbClr val="001B3A"/>
                </a:solidFill>
              </a:rPr>
              <a:t>Wi-Fi / HTTP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27DC48-B796-4CBD-BB47-FD297E52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238750"/>
            <a:ext cx="1581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A7B"/>
                </a:solidFill>
              </a:defRPr>
            </a:pPr>
            <a:r>
              <a:rPr sz="975">
                <a:solidFill>
                  <a:srgbClr val="536A7B"/>
                </a:solidFill>
              </a:rPr>
              <a:t>Separate image-data path.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915AAF-B4D8-4D3F-9FAA-D9F9E98B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10050"/>
            <a:ext cx="19240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D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96A38A-D951-406B-8FFF-4C67FF5E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43400"/>
            <a:ext cx="476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A227"/>
          </a:solidFill>
          <a:ln xmlns:a="http://schemas.openxmlformats.org/drawingml/2006/main" w="14288">
            <a:solidFill>
              <a:srgbClr val="C9A2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1B3A"/>
                </a:solidFill>
              </a:defRPr>
            </a:pPr>
            <a:r>
              <a:rPr sz="1050" b="1">
                <a:solidFill>
                  <a:srgbClr val="001B3A"/>
                </a:solidFill>
              </a:rPr>
              <a:t>03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7A85BC-4750-4E0D-AED1-73D12D43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43450"/>
            <a:ext cx="1581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1B3A"/>
                </a:solidFill>
              </a:defRPr>
            </a:pPr>
            <a:r>
              <a:rPr sz="1350" b="1">
                <a:solidFill>
                  <a:srgbClr val="001B3A"/>
                </a:solidFill>
              </a:rPr>
              <a:t>Canvas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8886F7-1880-4055-AEF7-0378719E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238750"/>
            <a:ext cx="1581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A7B"/>
                </a:solidFill>
              </a:defRPr>
            </a:pPr>
            <a:r>
              <a:rPr sz="975">
                <a:solidFill>
                  <a:srgbClr val="536A7B"/>
                </a:solidFill>
              </a:rPr>
              <a:t>Hopper Studio reads fresh pixels.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1053197-2888-450E-9752-9107E02D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10050"/>
            <a:ext cx="19240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01B3A"/>
          </a:solidFill>
          <a:ln xmlns:a="http://schemas.openxmlformats.org/drawingml/2006/main" w="14288">
            <a:solidFill>
              <a:srgbClr val="001B3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467AFC9-146F-4DAE-B731-3529C23C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43400"/>
            <a:ext cx="476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A227"/>
          </a:solidFill>
          <a:ln xmlns:a="http://schemas.openxmlformats.org/drawingml/2006/main" w="14288">
            <a:solidFill>
              <a:srgbClr val="C9A2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D6F246-C3F7-4F7D-A750-FA62982C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743450"/>
            <a:ext cx="1581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Vision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1570134-800D-457E-912C-BC0427B1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238750"/>
            <a:ext cx="1581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6E7EC"/>
                </a:solidFill>
              </a:defRPr>
            </a:pPr>
            <a:r>
              <a:rPr sz="975">
                <a:solidFill>
                  <a:srgbClr val="D6E7EC"/>
                </a:solidFill>
              </a:rPr>
              <a:t>Threshold, COCO, custom model, or AprilTag.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8652F81-3ABC-4FE3-92DF-64650D4E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76625"/>
            <a:ext cx="72390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4E7"/>
          </a:solidFill>
          <a:ln xmlns:a="http://schemas.openxmlformats.org/drawingml/2006/main" w="14288">
            <a:solidFill>
              <a:srgbClr val="D94F5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5B7C7B8-0592-412C-838C-0DB07786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09975"/>
            <a:ext cx="674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4F5C"/>
                </a:solidFill>
              </a:defRPr>
            </a:pPr>
            <a:r>
              <a:rPr sz="1275" b="1">
                <a:solidFill>
                  <a:srgbClr val="D94F5C"/>
                </a:solidFill>
              </a:rPr>
              <a:t>Independent links: Bluetooth may be connected while camera pixels are unavailable.</a:t>
            </a:r>
          </a:p>
        </p:txBody>
      </p:sp>
    </p:spTree>
    <p:extLst>
      <p:ext uri="{BB962C8B-B14F-4D97-AF65-F5344CB8AC3E}">
        <p14:creationId xmlns:p14="http://schemas.microsoft.com/office/powerpoint/2010/main" val="8605017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3aa75bd5a42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F8AA0-28BA-49B6-B5B5-CBCFC714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717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E6A57-9D95-43C9-8C6F-ABD768DD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</a:defRPr>
            </a:pPr>
            <a:r>
              <a:rPr sz="750" b="1">
                <a:solidFill>
                  <a:srgbClr val="008C95"/>
                </a:solidFill>
              </a:rPr>
              <a:t>SENSOR SUITE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2B60A-C9FD-4E63-9E75-4806CAD5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96050"/>
            <a:ext cx="914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4B4A0-5B79-4A75-888D-E29D5689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72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7 / 7</a:t>
            </a:r>
          </a:p>
        </p:txBody>
      </p:sp>
    </p:spTree>
    <p:extLst>
      <p:ext uri="{BB962C8B-B14F-4D97-AF65-F5344CB8AC3E}">
        <p14:creationId xmlns:p14="http://schemas.microsoft.com/office/powerpoint/2010/main" val="16363760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2026-07-26T15:57:46.9930000Z</dcterms:created>
  <dcterms:modified xsi:type="dcterms:W3CDTF">2026-07-26T15:57:46.9930000Z</dcterms:modified>
</coreProperties>
</file>